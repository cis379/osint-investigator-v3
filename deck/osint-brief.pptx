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force-multiplier for an OSINT analyst. It does the tedious collection and first-pass link analysis at machine speed, and shows its work so you can trust or challenge every line. I'll finish with a real case where it mapped a ticket-fraud network from one URL.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for an analyst is the pivoting and confidence tiering. The headline for IT is the three properties on the right — local, auditable, external-only.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Each box is a distinct agent running a named skill file. Three separate collectors — structured (typed tools; paid CTI like Shodan/DNSlytics/Flare plugs in here), web-search, and active. They only collect; the supervisor is the only brain that analyzes and tiers. The red team is its own agent — it challenges the analysis (Mode 1) and grounds the report (Mode 2) before anything ships.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reasons in categories. Identity and Infrastructure are where the live tool coverage is deepest — exactly what most investigations need. The rest is a roadmap, and a bare selector always has the web-search line as a fallback. A regression test keeps the self-description honest.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tool names in the registry today, grouped by what they run against. Best-in-class on the core selectors — domain, IP, username, email, name. Each is a readable spec, so IT can see exactly what every tool touches.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mainstream open-source packages, everything pinned, one command to build and self-verify. No black box — the whole dependency list is on one slide, and the exact install list is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at one URL. The system expanded the hosting neighborhood, fingerprinted the sites, and clustered them — automatically. This is the ACTUAL graph it produced: 119 entities from one seed. Note the two big green nodes — shared hosting IPs — and the amber company nodes where attribution lands.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attribution cluster — real companies, a shared federal EIN, Spanish CIFs, names, contact emails and phones the system recovered. Right: HOW it knows — a single shared analytics ID tying eight domains together. That shared ID is the independent corroborator our doctrine requires before claiming common ownership.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tool only ever confirms its first guess, you can't trust it. This one argued with itself on the record, upgraded its conclusion when the evidence justified it, and protected the innocent business. That discipline is what makes machine-assisted attribution safe to brief.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internal goes in. What goes out is the same public lookups an analyst runs manually. Results and keys never leave the box and are never committed to git.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a supply-chain reviewer wants: short pinned dependency list, every tool is a readable spec, no hidden network calls, opt-in extras, permissive license, and an automated gate that proves the system still works after any change.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ready, it's open, and it's built to be trusted. I'm asking for the green light to use it as a local analyst tool — and I'm happy to walk IT through the code and the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software footprint for IT. Required is just Python plus seven packages. Everything else is optional and degrades gracefully. bootstrap.sh installs it all and runs the health check. Paid CTI keys (Shodan/DNSlytics/Flare) are opt-in and plug into the structured collector.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164592"/>
          </a:xfrm>
          <a:prstGeom prst="round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0" y="6693408"/>
            <a:ext cx="12191695" cy="164592"/>
          </a:xfrm>
          <a:prstGeom prst="round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74519"/>
            <a:ext cx="10515600" cy="1097280"/>
          </a:xfrm>
          <a:prstGeom prst="rect">
            <a:avLst/>
          </a:prstGeom>
          <a:noFill/>
        </p:spPr>
        <p:txBody>
          <a:bodyPr wrap="square" anchor="t">
            <a:spAutoFit/>
          </a:bodyPr>
          <a:lstStyle/>
          <a:p>
            <a:pPr algn="l">
              <a:spcBef>
                <a:spcPts val="0"/>
              </a:spcBef>
              <a:spcAft>
                <a:spcPts val="400"/>
              </a:spcAft>
            </a:pPr>
            <a:r>
              <a:rPr sz="5400" b="1">
                <a:solidFill>
                  <a:srgbClr val="FFFFFF"/>
                </a:solidFill>
                <a:latin typeface="Calibri"/>
              </a:rPr>
              <a:t>OSINT Investigator</a:t>
            </a:r>
          </a:p>
        </p:txBody>
      </p:sp>
      <p:sp>
        <p:nvSpPr>
          <p:cNvPr id="6" name="TextBox 5"/>
          <p:cNvSpPr txBox="1"/>
          <p:nvPr/>
        </p:nvSpPr>
        <p:spPr>
          <a:xfrm>
            <a:off x="822960" y="2880360"/>
            <a:ext cx="10515600" cy="731520"/>
          </a:xfrm>
          <a:prstGeom prst="rect">
            <a:avLst/>
          </a:prstGeom>
          <a:noFill/>
        </p:spPr>
        <p:txBody>
          <a:bodyPr wrap="square" anchor="t">
            <a:spAutoFit/>
          </a:bodyPr>
          <a:lstStyle/>
          <a:p>
            <a:pPr algn="l">
              <a:spcBef>
                <a:spcPts val="0"/>
              </a:spcBef>
              <a:spcAft>
                <a:spcPts val="400"/>
              </a:spcAft>
            </a:pPr>
            <a:r>
              <a:rPr sz="2200" b="1">
                <a:solidFill>
                  <a:srgbClr val="58A6FF"/>
                </a:solidFill>
                <a:latin typeface="Calibri"/>
              </a:rPr>
              <a:t>Automated external-OSINT investigation — from one seed to a cited intelligence graph</a:t>
            </a:r>
          </a:p>
        </p:txBody>
      </p:sp>
      <p:sp>
        <p:nvSpPr>
          <p:cNvPr id="7" name="TextBox 6"/>
          <p:cNvSpPr txBox="1"/>
          <p:nvPr/>
        </p:nvSpPr>
        <p:spPr>
          <a:xfrm>
            <a:off x="822960" y="3931920"/>
            <a:ext cx="10515600" cy="1463040"/>
          </a:xfrm>
          <a:prstGeom prst="rect">
            <a:avLst/>
          </a:prstGeom>
          <a:noFill/>
        </p:spPr>
        <p:txBody>
          <a:bodyPr wrap="square" anchor="t">
            <a:spAutoFit/>
          </a:bodyPr>
          <a:lstStyle/>
          <a:p>
            <a:pPr algn="l">
              <a:spcBef>
                <a:spcPts val="0"/>
              </a:spcBef>
              <a:spcAft>
                <a:spcPts val="800"/>
              </a:spcAft>
            </a:pPr>
            <a:r>
              <a:rPr sz="1700" b="0">
                <a:solidFill>
                  <a:srgbClr val="E6EDF3"/>
                </a:solidFill>
                <a:latin typeface="Calibri"/>
              </a:rPr>
              <a:t>Give it a seed (domain, email, username, name, IP…) → it pivots through open sources, builds a confidence-tiered entity graph, and produces a cited CTI report.</a:t>
            </a:r>
          </a:p>
          <a:p>
            <a:pPr algn="l">
              <a:spcBef>
                <a:spcPts val="0"/>
              </a:spcBef>
              <a:spcAft>
                <a:spcPts val="800"/>
              </a:spcAft>
            </a:pPr>
            <a:r>
              <a:rPr sz="1600" b="1">
                <a:solidFill>
                  <a:srgbClr val="3FB950"/>
                </a:solidFill>
                <a:latin typeface="Calibri"/>
              </a:rPr>
              <a:t>External OSINT only · Runs locally · Never fabricates a finding.</a:t>
            </a:r>
          </a:p>
          <a:p>
            <a:pPr algn="l">
              <a:spcBef>
                <a:spcPts val="0"/>
              </a:spcBef>
              <a:spcAft>
                <a:spcPts val="800"/>
              </a:spcAft>
            </a:pPr>
            <a:r>
              <a:rPr sz="1400" b="0">
                <a:solidFill>
                  <a:srgbClr val="9FB0C3"/>
                </a:solidFill>
                <a:latin typeface="Calibri"/>
              </a:rPr>
              <a:t>Open source (MIT) · agent-vendor-agnostic (Claude Code or OpenAI Codex)</a:t>
            </a:r>
          </a:p>
        </p:txBody>
      </p:sp>
      <p:sp>
        <p:nvSpPr>
          <p:cNvPr id="8" name="TextBox 7"/>
          <p:cNvSpPr txBox="1"/>
          <p:nvPr/>
        </p:nvSpPr>
        <p:spPr>
          <a:xfrm>
            <a:off x="822960" y="5943600"/>
            <a:ext cx="10515600" cy="457200"/>
          </a:xfrm>
          <a:prstGeom prst="rect">
            <a:avLst/>
          </a:prstGeom>
          <a:noFill/>
        </p:spPr>
        <p:txBody>
          <a:bodyPr wrap="square" anchor="t">
            <a:spAutoFit/>
          </a:bodyPr>
          <a:lstStyle/>
          <a:p>
            <a:pPr algn="l">
              <a:spcBef>
                <a:spcPts val="0"/>
              </a:spcBef>
              <a:spcAft>
                <a:spcPts val="400"/>
              </a:spcAft>
            </a:pPr>
            <a:r>
              <a:rPr sz="1300" b="0">
                <a:solidFill>
                  <a:srgbClr val="9FB0C3"/>
                </a:solidFill>
                <a:latin typeface="Calibri"/>
              </a:rPr>
              <a:t>Analyst briefing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109728"/>
          </a:xfrm>
          <a:prstGeom prst="round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365760"/>
          </a:xfrm>
          <a:prstGeom prst="rect">
            <a:avLst/>
          </a:prstGeom>
          <a:noFill/>
        </p:spPr>
        <p:txBody>
          <a:bodyPr wrap="square" anchor="t">
            <a:spAutoFit/>
          </a:bodyPr>
          <a:lstStyle/>
          <a:p>
            <a:pPr algn="l">
              <a:spcBef>
                <a:spcPts val="0"/>
              </a:spcBef>
              <a:spcAft>
                <a:spcPts val="400"/>
              </a:spcAft>
            </a:pPr>
            <a:r>
              <a:rPr sz="1300" b="1">
                <a:solidFill>
                  <a:srgbClr val="58A6FF"/>
                </a:solidFill>
                <a:latin typeface="Calibri"/>
              </a:rPr>
              <a:t>WHAT IT IS</a:t>
            </a:r>
          </a:p>
        </p:txBody>
      </p:sp>
      <p:sp>
        <p:nvSpPr>
          <p:cNvPr id="5" name="TextBox 4"/>
          <p:cNvSpPr txBox="1"/>
          <p:nvPr/>
        </p:nvSpPr>
        <p:spPr>
          <a:xfrm>
            <a:off x="502920" y="603504"/>
            <a:ext cx="11155680" cy="822960"/>
          </a:xfrm>
          <a:prstGeom prst="rect">
            <a:avLst/>
          </a:prstGeom>
          <a:noFill/>
        </p:spPr>
        <p:txBody>
          <a:bodyPr wrap="square" anchor="t">
            <a:spAutoFit/>
          </a:bodyPr>
          <a:lstStyle/>
          <a:p>
            <a:pPr algn="l">
              <a:spcBef>
                <a:spcPts val="0"/>
              </a:spcBef>
              <a:spcAft>
                <a:spcPts val="400"/>
              </a:spcAft>
            </a:pPr>
            <a:r>
              <a:rPr sz="2700" b="1">
                <a:solidFill>
                  <a:srgbClr val="FFFFFF"/>
                </a:solidFill>
                <a:latin typeface="Calibri"/>
              </a:rPr>
              <a:t>One seed in → a cited intelligence graph out</a:t>
            </a:r>
          </a:p>
        </p:txBody>
      </p:sp>
      <p:sp>
        <p:nvSpPr>
          <p:cNvPr id="6" name="TextBox 5"/>
          <p:cNvSpPr txBox="1"/>
          <p:nvPr/>
        </p:nvSpPr>
        <p:spPr>
          <a:xfrm>
            <a:off x="502920" y="1600200"/>
            <a:ext cx="5486400" cy="457200"/>
          </a:xfrm>
          <a:prstGeom prst="rect">
            <a:avLst/>
          </a:prstGeom>
          <a:noFill/>
        </p:spPr>
        <p:txBody>
          <a:bodyPr wrap="square" anchor="t">
            <a:spAutoFit/>
          </a:bodyPr>
          <a:lstStyle/>
          <a:p>
            <a:pPr algn="l">
              <a:spcBef>
                <a:spcPts val="0"/>
              </a:spcBef>
              <a:spcAft>
                <a:spcPts val="400"/>
              </a:spcAft>
            </a:pPr>
            <a:r>
              <a:rPr sz="1300" b="1">
                <a:solidFill>
                  <a:srgbClr val="D29922"/>
                </a:solidFill>
                <a:latin typeface="Calibri"/>
              </a:rPr>
              <a:t>THE PROBLEM</a:t>
            </a:r>
          </a:p>
        </p:txBody>
      </p:sp>
      <p:sp>
        <p:nvSpPr>
          <p:cNvPr id="7" name="TextBox 6"/>
          <p:cNvSpPr txBox="1"/>
          <p:nvPr/>
        </p:nvSpPr>
        <p:spPr>
          <a:xfrm>
            <a:off x="502920" y="1920240"/>
            <a:ext cx="5486400" cy="1097280"/>
          </a:xfrm>
          <a:prstGeom prst="rect">
            <a:avLst/>
          </a:prstGeom>
          <a:noFill/>
        </p:spPr>
        <p:txBody>
          <a:bodyPr wrap="square" anchor="t">
            <a:spAutoFit/>
          </a:bodyPr>
          <a:lstStyle/>
          <a:p>
            <a:pPr algn="l">
              <a:spcBef>
                <a:spcPts val="0"/>
              </a:spcBef>
              <a:spcAft>
                <a:spcPts val="400"/>
              </a:spcAft>
            </a:pPr>
            <a:r>
              <a:rPr sz="1650" b="0">
                <a:solidFill>
                  <a:srgbClr val="E6EDF3"/>
                </a:solidFill>
                <a:latin typeface="Calibri"/>
              </a:rPr>
              <a:t>An analyst handed one selector faces hours of manual lookups across dozens of tools — then has to keep every link straight by hand.</a:t>
            </a:r>
          </a:p>
        </p:txBody>
      </p:sp>
      <p:sp>
        <p:nvSpPr>
          <p:cNvPr id="8" name="TextBox 7"/>
          <p:cNvSpPr txBox="1"/>
          <p:nvPr/>
        </p:nvSpPr>
        <p:spPr>
          <a:xfrm>
            <a:off x="502920" y="3063240"/>
            <a:ext cx="5486400" cy="457200"/>
          </a:xfrm>
          <a:prstGeom prst="rect">
            <a:avLst/>
          </a:prstGeom>
          <a:noFill/>
        </p:spPr>
        <p:txBody>
          <a:bodyPr wrap="square" anchor="t">
            <a:spAutoFit/>
          </a:bodyPr>
          <a:lstStyle/>
          <a:p>
            <a:pPr algn="l">
              <a:spcBef>
                <a:spcPts val="0"/>
              </a:spcBef>
              <a:spcAft>
                <a:spcPts val="400"/>
              </a:spcAft>
            </a:pPr>
            <a:r>
              <a:rPr sz="1300" b="1">
                <a:solidFill>
                  <a:srgbClr val="3FB950"/>
                </a:solidFill>
                <a:latin typeface="Calibri"/>
              </a:rPr>
              <a:t>WHAT THIS DOES</a:t>
            </a:r>
          </a:p>
        </p:txBody>
      </p:sp>
      <p:sp>
        <p:nvSpPr>
          <p:cNvPr id="9" name="TextBox 8"/>
          <p:cNvSpPr txBox="1"/>
          <p:nvPr/>
        </p:nvSpPr>
        <p:spPr>
          <a:xfrm>
            <a:off x="502920" y="3401568"/>
            <a:ext cx="5669280" cy="2743200"/>
          </a:xfrm>
          <a:prstGeom prst="rect">
            <a:avLst/>
          </a:prstGeom>
          <a:noFill/>
        </p:spPr>
        <p:txBody>
          <a:bodyPr wrap="square">
            <a:spAutoFit/>
          </a:bodyPr>
          <a:lstStyle/>
          <a:p>
            <a:pPr>
              <a:spcBef>
                <a:spcPts val="0"/>
              </a:spcBef>
              <a:spcAft>
                <a:spcPts val="700"/>
              </a:spcAft>
            </a:pPr>
            <a:r>
              <a:rPr sz="1500" b="0">
                <a:solidFill>
                  <a:srgbClr val="E6EDF3"/>
                </a:solidFill>
                <a:latin typeface="Calibri"/>
              </a:rPr>
              <a:t>•  Runs the right tools automatically (ontology-driven, not hardcoded)</a:t>
            </a:r>
          </a:p>
          <a:p>
            <a:pPr>
              <a:spcBef>
                <a:spcPts val="0"/>
              </a:spcBef>
              <a:spcAft>
                <a:spcPts val="700"/>
              </a:spcAft>
            </a:pPr>
            <a:r>
              <a:rPr sz="1500" b="0">
                <a:solidFill>
                  <a:srgbClr val="E6EDF3"/>
                </a:solidFill>
                <a:latin typeface="Calibri"/>
              </a:rPr>
              <a:t>•  Analyzes raw output and grades every finding by confidence</a:t>
            </a:r>
          </a:p>
          <a:p>
            <a:pPr>
              <a:spcBef>
                <a:spcPts val="0"/>
              </a:spcBef>
              <a:spcAft>
                <a:spcPts val="700"/>
              </a:spcAft>
            </a:pPr>
            <a:r>
              <a:rPr sz="1500" b="0">
                <a:solidFill>
                  <a:srgbClr val="E6EDF3"/>
                </a:solidFill>
                <a:latin typeface="Calibri"/>
              </a:rPr>
              <a:t>•  Pivots on its own findings — loops until the leads run dry</a:t>
            </a:r>
          </a:p>
          <a:p>
            <a:pPr>
              <a:spcBef>
                <a:spcPts val="0"/>
              </a:spcBef>
              <a:spcAft>
                <a:spcPts val="700"/>
              </a:spcAft>
            </a:pPr>
            <a:r>
              <a:rPr sz="1500" b="0">
                <a:solidFill>
                  <a:srgbClr val="E6EDF3"/>
                </a:solidFill>
                <a:latin typeface="Calibri"/>
              </a:rPr>
              <a:t>•  Red-teams itself before writing a report</a:t>
            </a:r>
          </a:p>
          <a:p>
            <a:pPr>
              <a:spcBef>
                <a:spcPts val="0"/>
              </a:spcBef>
              <a:spcAft>
                <a:spcPts val="700"/>
              </a:spcAft>
            </a:pPr>
            <a:r>
              <a:rPr sz="1500" b="0">
                <a:solidFill>
                  <a:srgbClr val="E6EDF3"/>
                </a:solidFill>
                <a:latin typeface="Calibri"/>
              </a:rPr>
              <a:t>•  Ships a narrative report — every finding cited to tool output</a:t>
            </a:r>
          </a:p>
        </p:txBody>
      </p:sp>
      <p:sp>
        <p:nvSpPr>
          <p:cNvPr id="10" name="Rounded Rectangle 9"/>
          <p:cNvSpPr/>
          <p:nvPr/>
        </p:nvSpPr>
        <p:spPr>
          <a:xfrm>
            <a:off x="6400800" y="1645920"/>
            <a:ext cx="5257800" cy="4572000"/>
          </a:xfrm>
          <a:prstGeom prst="roundRect">
            <a:avLst/>
          </a:prstGeom>
          <a:solidFill>
            <a:srgbClr val="16324F"/>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828800"/>
            <a:ext cx="4709160" cy="457200"/>
          </a:xfrm>
          <a:prstGeom prst="rect">
            <a:avLst/>
          </a:prstGeom>
          <a:noFill/>
        </p:spPr>
        <p:txBody>
          <a:bodyPr wrap="square" anchor="t">
            <a:spAutoFit/>
          </a:bodyPr>
          <a:lstStyle/>
          <a:p>
            <a:pPr algn="l">
              <a:spcBef>
                <a:spcPts val="0"/>
              </a:spcBef>
              <a:spcAft>
                <a:spcPts val="400"/>
              </a:spcAft>
            </a:pPr>
            <a:r>
              <a:rPr sz="1300" b="1">
                <a:solidFill>
                  <a:srgbClr val="58A6FF"/>
                </a:solidFill>
                <a:latin typeface="Calibri"/>
              </a:rPr>
              <a:t>THREE PROPERTIES THAT MAKE IT TRUSTWORTHY</a:t>
            </a:r>
          </a:p>
        </p:txBody>
      </p:sp>
      <p:sp>
        <p:nvSpPr>
          <p:cNvPr id="12" name="TextBox 11"/>
          <p:cNvSpPr txBox="1"/>
          <p:nvPr/>
        </p:nvSpPr>
        <p:spPr>
          <a:xfrm>
            <a:off x="6675120" y="2423160"/>
            <a:ext cx="4709160" cy="3657600"/>
          </a:xfrm>
          <a:prstGeom prst="rect">
            <a:avLst/>
          </a:prstGeom>
          <a:noFill/>
        </p:spPr>
        <p:txBody>
          <a:bodyPr wrap="square" anchor="t">
            <a:spAutoFit/>
          </a:bodyPr>
          <a:lstStyle/>
          <a:p>
            <a:pPr algn="l">
              <a:spcBef>
                <a:spcPts val="0"/>
              </a:spcBef>
              <a:spcAft>
                <a:spcPts val="500"/>
              </a:spcAft>
            </a:pPr>
            <a:r>
              <a:rPr sz="1800" b="1">
                <a:solidFill>
                  <a:srgbClr val="FFFFFF"/>
                </a:solidFill>
                <a:latin typeface="Calibri"/>
              </a:rPr>
              <a:t>1. No hallucination</a:t>
            </a:r>
          </a:p>
          <a:p>
            <a:pPr algn="l">
              <a:spcBef>
                <a:spcPts val="0"/>
              </a:spcBef>
              <a:spcAft>
                <a:spcPts val="500"/>
              </a:spcAft>
            </a:pPr>
            <a:r>
              <a:rPr sz="1450" b="0">
                <a:solidFill>
                  <a:srgbClr val="9FB0C3"/>
                </a:solidFill>
                <a:latin typeface="Calibri"/>
              </a:rPr>
              <a:t>Every claim traces to a specific tool output or source URL.</a:t>
            </a:r>
          </a:p>
          <a:p>
            <a:pPr algn="l">
              <a:spcBef>
                <a:spcPts val="0"/>
              </a:spcBef>
              <a:spcAft>
                <a:spcPts val="500"/>
              </a:spcAft>
            </a:pPr>
            <a:r>
              <a:rPr sz="700" b="0">
                <a:solidFill>
                  <a:srgbClr val="9FB0C3"/>
                </a:solidFill>
                <a:latin typeface="Calibri"/>
              </a:rPr>
              <a:t> </a:t>
            </a:r>
          </a:p>
          <a:p>
            <a:pPr algn="l">
              <a:spcBef>
                <a:spcPts val="0"/>
              </a:spcBef>
              <a:spcAft>
                <a:spcPts val="500"/>
              </a:spcAft>
            </a:pPr>
            <a:r>
              <a:rPr sz="1800" b="1">
                <a:solidFill>
                  <a:srgbClr val="FFFFFF"/>
                </a:solidFill>
                <a:latin typeface="Calibri"/>
              </a:rPr>
              <a:t>2. Full audit trail</a:t>
            </a:r>
          </a:p>
          <a:p>
            <a:pPr algn="l">
              <a:spcBef>
                <a:spcPts val="0"/>
              </a:spcBef>
              <a:spcAft>
                <a:spcPts val="500"/>
              </a:spcAft>
            </a:pPr>
            <a:r>
              <a:rPr sz="1450" b="0">
                <a:solidFill>
                  <a:srgbClr val="9FB0C3"/>
                </a:solidFill>
                <a:latin typeface="Calibri"/>
              </a:rPr>
              <a:t>Every tool run logged raw; the graph is reproducible.</a:t>
            </a:r>
          </a:p>
          <a:p>
            <a:pPr algn="l">
              <a:spcBef>
                <a:spcPts val="0"/>
              </a:spcBef>
              <a:spcAft>
                <a:spcPts val="500"/>
              </a:spcAft>
            </a:pPr>
            <a:r>
              <a:rPr sz="700" b="0">
                <a:solidFill>
                  <a:srgbClr val="9FB0C3"/>
                </a:solidFill>
                <a:latin typeface="Calibri"/>
              </a:rPr>
              <a:t> </a:t>
            </a:r>
          </a:p>
          <a:p>
            <a:pPr algn="l">
              <a:spcBef>
                <a:spcPts val="0"/>
              </a:spcBef>
              <a:spcAft>
                <a:spcPts val="500"/>
              </a:spcAft>
            </a:pPr>
            <a:r>
              <a:rPr sz="1800" b="1">
                <a:solidFill>
                  <a:srgbClr val="FFFFFF"/>
                </a:solidFill>
                <a:latin typeface="Calibri"/>
              </a:rPr>
              <a:t>3. Honest about limits</a:t>
            </a:r>
          </a:p>
          <a:p>
            <a:pPr algn="l">
              <a:spcBef>
                <a:spcPts val="0"/>
              </a:spcBef>
              <a:spcAft>
                <a:spcPts val="500"/>
              </a:spcAft>
            </a:pPr>
            <a:r>
              <a:rPr sz="1450" b="0">
                <a:solidFill>
                  <a:srgbClr val="9FB0C3"/>
                </a:solidFill>
                <a:latin typeface="Calibri"/>
              </a:rPr>
              <a:t>Gaps are documented, never faked.</a:t>
            </a:r>
          </a:p>
        </p:txBody>
      </p:sp>
      <p:sp>
        <p:nvSpPr>
          <p:cNvPr id="13" name="TextBox 12"/>
          <p:cNvSpPr txBox="1"/>
          <p:nvPr/>
        </p:nvSpPr>
        <p:spPr>
          <a:xfrm>
            <a:off x="502920" y="6473952"/>
            <a:ext cx="7315200" cy="292608"/>
          </a:xfrm>
          <a:prstGeom prst="rect">
            <a:avLst/>
          </a:prstGeom>
          <a:noFill/>
        </p:spPr>
        <p:txBody>
          <a:bodyPr wrap="square" anchor="t">
            <a:spAutoFit/>
          </a:bodyPr>
          <a:lstStyle/>
          <a:p>
            <a:pPr algn="l">
              <a:spcBef>
                <a:spcPts val="0"/>
              </a:spcBef>
              <a:spcAft>
                <a:spcPts val="400"/>
              </a:spcAft>
            </a:pPr>
            <a:r>
              <a:rPr sz="1000" b="0">
                <a:solidFill>
                  <a:srgbClr val="9FB0C3"/>
                </a:solidFill>
                <a:latin typeface="Calibri"/>
              </a:rPr>
              <a:t>OSINT Investigator  ·  external-OSINT only  ·  runs locally</a:t>
            </a:r>
          </a:p>
        </p:txBody>
      </p:sp>
      <p:sp>
        <p:nvSpPr>
          <p:cNvPr id="14" name="TextBox 13"/>
          <p:cNvSpPr txBox="1"/>
          <p:nvPr/>
        </p:nvSpPr>
        <p:spPr>
          <a:xfrm>
            <a:off x="8321040" y="6473952"/>
            <a:ext cx="3337560" cy="292608"/>
          </a:xfrm>
          <a:prstGeom prst="rect">
            <a:avLst/>
          </a:prstGeom>
          <a:noFill/>
        </p:spPr>
        <p:txBody>
          <a:bodyPr wrap="square" anchor="t">
            <a:spAutoFit/>
          </a:bodyPr>
          <a:lstStyle/>
          <a:p>
            <a:pPr algn="r">
              <a:spcBef>
                <a:spcPts val="0"/>
              </a:spcBef>
              <a:spcAft>
                <a:spcPts val="400"/>
              </a:spcAft>
            </a:pPr>
            <a:r>
              <a:rPr sz="1000" b="0">
                <a:solidFill>
                  <a:srgbClr val="9FB0C3"/>
                </a:solidFill>
                <a:latin typeface="Calibri"/>
              </a:rPr>
              <a:t>BLUF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109728"/>
          </a:xfrm>
          <a:prstGeom prst="round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365760"/>
          </a:xfrm>
          <a:prstGeom prst="rect">
            <a:avLst/>
          </a:prstGeom>
          <a:noFill/>
        </p:spPr>
        <p:txBody>
          <a:bodyPr wrap="square" anchor="t">
            <a:spAutoFit/>
          </a:bodyPr>
          <a:lstStyle/>
          <a:p>
            <a:pPr algn="l">
              <a:spcBef>
                <a:spcPts val="0"/>
              </a:spcBef>
              <a:spcAft>
                <a:spcPts val="400"/>
              </a:spcAft>
            </a:pPr>
            <a:r>
              <a:rPr sz="1300" b="1">
                <a:solidFill>
                  <a:srgbClr val="58A6FF"/>
                </a:solidFill>
                <a:latin typeface="Calibri"/>
              </a:rPr>
              <a:t>OPERATIONAL CONCEPT (OV-1)</a:t>
            </a:r>
          </a:p>
        </p:txBody>
      </p:sp>
      <p:sp>
        <p:nvSpPr>
          <p:cNvPr id="5" name="TextBox 4"/>
          <p:cNvSpPr txBox="1"/>
          <p:nvPr/>
        </p:nvSpPr>
        <p:spPr>
          <a:xfrm>
            <a:off x="502920" y="603504"/>
            <a:ext cx="11155680" cy="822960"/>
          </a:xfrm>
          <a:prstGeom prst="rect">
            <a:avLst/>
          </a:prstGeom>
          <a:noFill/>
        </p:spPr>
        <p:txBody>
          <a:bodyPr wrap="square" anchor="t">
            <a:spAutoFit/>
          </a:bodyPr>
          <a:lstStyle/>
          <a:p>
            <a:pPr algn="l">
              <a:spcBef>
                <a:spcPts val="0"/>
              </a:spcBef>
              <a:spcAft>
                <a:spcPts val="400"/>
              </a:spcAft>
            </a:pPr>
            <a:r>
              <a:rPr sz="2700" b="1">
                <a:solidFill>
                  <a:srgbClr val="FFFFFF"/>
                </a:solidFill>
                <a:latin typeface="Calibri"/>
              </a:rPr>
              <a:t>Distinct agents, each a labeled SKILL — with an adversarial red team as its own stage</a:t>
            </a:r>
          </a:p>
        </p:txBody>
      </p:sp>
      <p:sp>
        <p:nvSpPr>
          <p:cNvPr id="6" name="Rounded Rectangle 5"/>
          <p:cNvSpPr/>
          <p:nvPr/>
        </p:nvSpPr>
        <p:spPr>
          <a:xfrm>
            <a:off x="502920" y="1417320"/>
            <a:ext cx="1600200" cy="1051560"/>
          </a:xfrm>
          <a:prstGeom prst="roundRect">
            <a:avLst/>
          </a:prstGeom>
          <a:solidFill>
            <a:srgbClr val="16324F"/>
          </a:solidFill>
          <a:ln w="22225">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8" y="1490472"/>
            <a:ext cx="1380744" cy="292608"/>
          </a:xfrm>
          <a:prstGeom prst="rect">
            <a:avLst/>
          </a:prstGeom>
          <a:noFill/>
        </p:spPr>
        <p:txBody>
          <a:bodyPr wrap="square" anchor="t">
            <a:spAutoFit/>
          </a:bodyPr>
          <a:lstStyle/>
          <a:p>
            <a:pPr algn="l">
              <a:spcBef>
                <a:spcPts val="0"/>
              </a:spcBef>
              <a:spcAft>
                <a:spcPts val="400"/>
              </a:spcAft>
            </a:pPr>
            <a:r>
              <a:rPr sz="1250" b="1">
                <a:solidFill>
                  <a:srgbClr val="FFFFFF"/>
                </a:solidFill>
                <a:latin typeface="Calibri"/>
              </a:rPr>
              <a:t>LAUNCH</a:t>
            </a:r>
          </a:p>
        </p:txBody>
      </p:sp>
      <p:sp>
        <p:nvSpPr>
          <p:cNvPr id="8" name="TextBox 7"/>
          <p:cNvSpPr txBox="1"/>
          <p:nvPr/>
        </p:nvSpPr>
        <p:spPr>
          <a:xfrm>
            <a:off x="612648" y="1746504"/>
            <a:ext cx="1380744" cy="256032"/>
          </a:xfrm>
          <a:prstGeom prst="rect">
            <a:avLst/>
          </a:prstGeom>
          <a:noFill/>
        </p:spPr>
        <p:txBody>
          <a:bodyPr wrap="square" anchor="t">
            <a:spAutoFit/>
          </a:bodyPr>
          <a:lstStyle/>
          <a:p>
            <a:pPr algn="l">
              <a:spcBef>
                <a:spcPts val="0"/>
              </a:spcBef>
              <a:spcAft>
                <a:spcPts val="400"/>
              </a:spcAft>
            </a:pPr>
            <a:r>
              <a:rPr sz="950" b="1">
                <a:solidFill>
                  <a:srgbClr val="58A6FF"/>
                </a:solidFill>
                <a:latin typeface="Calibri"/>
              </a:rPr>
              <a:t>skill: investigate.md</a:t>
            </a:r>
          </a:p>
        </p:txBody>
      </p:sp>
      <p:sp>
        <p:nvSpPr>
          <p:cNvPr id="9" name="TextBox 8"/>
          <p:cNvSpPr txBox="1"/>
          <p:nvPr/>
        </p:nvSpPr>
        <p:spPr>
          <a:xfrm>
            <a:off x="612648" y="1993392"/>
            <a:ext cx="1380744" cy="448055"/>
          </a:xfrm>
          <a:prstGeom prst="rect">
            <a:avLst/>
          </a:prstGeom>
          <a:noFill/>
        </p:spPr>
        <p:txBody>
          <a:bodyPr wrap="square" anchor="t">
            <a:spAutoFit/>
          </a:bodyPr>
          <a:lstStyle/>
          <a:p>
            <a:pPr algn="l">
              <a:spcBef>
                <a:spcPts val="0"/>
              </a:spcBef>
              <a:spcAft>
                <a:spcPts val="400"/>
              </a:spcAft>
            </a:pPr>
            <a:r>
              <a:rPr sz="950" b="0">
                <a:solidFill>
                  <a:srgbClr val="9FB0C3"/>
                </a:solidFill>
                <a:latin typeface="Calibri"/>
              </a:rPr>
              <a:t>detect type · create case</a:t>
            </a:r>
          </a:p>
        </p:txBody>
      </p:sp>
      <p:sp>
        <p:nvSpPr>
          <p:cNvPr id="10" name="Right Arrow 9"/>
          <p:cNvSpPr/>
          <p:nvPr/>
        </p:nvSpPr>
        <p:spPr>
          <a:xfrm>
            <a:off x="2148840" y="1828800"/>
            <a:ext cx="320040" cy="237744"/>
          </a:xfrm>
          <a:prstGeom prst="rightArrow">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560320" y="1371600"/>
            <a:ext cx="2331720" cy="1188720"/>
          </a:xfrm>
          <a:prstGeom prst="roundRect">
            <a:avLst/>
          </a:prstGeom>
          <a:solidFill>
            <a:srgbClr val="16324F"/>
          </a:solidFill>
          <a:ln w="28575">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51760" y="1435608"/>
            <a:ext cx="2194560" cy="274320"/>
          </a:xfrm>
          <a:prstGeom prst="rect">
            <a:avLst/>
          </a:prstGeom>
          <a:noFill/>
        </p:spPr>
        <p:txBody>
          <a:bodyPr wrap="square" anchor="t">
            <a:spAutoFit/>
          </a:bodyPr>
          <a:lstStyle/>
          <a:p>
            <a:pPr algn="l">
              <a:spcBef>
                <a:spcPts val="0"/>
              </a:spcBef>
              <a:spcAft>
                <a:spcPts val="400"/>
              </a:spcAft>
            </a:pPr>
            <a:r>
              <a:rPr sz="1350" b="1">
                <a:solidFill>
                  <a:srgbClr val="FFFFFF"/>
                </a:solidFill>
                <a:latin typeface="Calibri"/>
              </a:rPr>
              <a:t>SUPERVISOR</a:t>
            </a:r>
          </a:p>
        </p:txBody>
      </p:sp>
      <p:sp>
        <p:nvSpPr>
          <p:cNvPr id="13" name="TextBox 12"/>
          <p:cNvSpPr txBox="1"/>
          <p:nvPr/>
        </p:nvSpPr>
        <p:spPr>
          <a:xfrm>
            <a:off x="2651760" y="1719072"/>
            <a:ext cx="2194560" cy="237744"/>
          </a:xfrm>
          <a:prstGeom prst="rect">
            <a:avLst/>
          </a:prstGeom>
          <a:noFill/>
        </p:spPr>
        <p:txBody>
          <a:bodyPr wrap="square" anchor="t">
            <a:spAutoFit/>
          </a:bodyPr>
          <a:lstStyle/>
          <a:p>
            <a:pPr algn="l">
              <a:spcBef>
                <a:spcPts val="0"/>
              </a:spcBef>
              <a:spcAft>
                <a:spcPts val="400"/>
              </a:spcAft>
            </a:pPr>
            <a:r>
              <a:rPr sz="950" b="1">
                <a:solidFill>
                  <a:srgbClr val="58A6FF"/>
                </a:solidFill>
                <a:latin typeface="Calibri"/>
              </a:rPr>
              <a:t>skill: supervisor.md</a:t>
            </a:r>
          </a:p>
        </p:txBody>
      </p:sp>
      <p:sp>
        <p:nvSpPr>
          <p:cNvPr id="14" name="TextBox 13"/>
          <p:cNvSpPr txBox="1"/>
          <p:nvPr/>
        </p:nvSpPr>
        <p:spPr>
          <a:xfrm>
            <a:off x="2651760" y="1956816"/>
            <a:ext cx="2194560" cy="548640"/>
          </a:xfrm>
          <a:prstGeom prst="rect">
            <a:avLst/>
          </a:prstGeom>
          <a:noFill/>
        </p:spPr>
        <p:txBody>
          <a:bodyPr wrap="square" anchor="t">
            <a:spAutoFit/>
          </a:bodyPr>
          <a:lstStyle/>
          <a:p>
            <a:pPr algn="l">
              <a:spcBef>
                <a:spcPts val="0"/>
              </a:spcBef>
              <a:spcAft>
                <a:spcPts val="400"/>
              </a:spcAft>
            </a:pPr>
            <a:r>
              <a:rPr sz="950" b="0">
                <a:solidFill>
                  <a:srgbClr val="9FB0C3"/>
                </a:solidFill>
                <a:latin typeface="Calibri"/>
              </a:rPr>
              <a:t>the analyst brain — routes via the ontology, analyzes, TIERS, commits the graph, pivots</a:t>
            </a:r>
          </a:p>
        </p:txBody>
      </p:sp>
      <p:sp>
        <p:nvSpPr>
          <p:cNvPr id="15" name="TextBox 14"/>
          <p:cNvSpPr txBox="1"/>
          <p:nvPr/>
        </p:nvSpPr>
        <p:spPr>
          <a:xfrm>
            <a:off x="2560320" y="2606040"/>
            <a:ext cx="2377440" cy="274320"/>
          </a:xfrm>
          <a:prstGeom prst="rect">
            <a:avLst/>
          </a:prstGeom>
          <a:noFill/>
        </p:spPr>
        <p:txBody>
          <a:bodyPr wrap="square" anchor="t">
            <a:spAutoFit/>
          </a:bodyPr>
          <a:lstStyle/>
          <a:p>
            <a:pPr algn="ctr">
              <a:spcBef>
                <a:spcPts val="0"/>
              </a:spcBef>
              <a:spcAft>
                <a:spcPts val="400"/>
              </a:spcAft>
            </a:pPr>
            <a:r>
              <a:rPr sz="1000" b="1">
                <a:solidFill>
                  <a:srgbClr val="58A6FF"/>
                </a:solidFill>
                <a:latin typeface="Calibri"/>
              </a:rPr>
              <a:t>dispatches 3 collector agents ↓</a:t>
            </a:r>
          </a:p>
        </p:txBody>
      </p:sp>
      <p:sp>
        <p:nvSpPr>
          <p:cNvPr id="16" name="Rounded Rectangle 15"/>
          <p:cNvSpPr/>
          <p:nvPr/>
        </p:nvSpPr>
        <p:spPr>
          <a:xfrm>
            <a:off x="502920" y="2971800"/>
            <a:ext cx="3383280" cy="1234440"/>
          </a:xfrm>
          <a:prstGeom prst="roundRect">
            <a:avLst/>
          </a:prstGeom>
          <a:solidFill>
            <a:srgbClr val="16324F"/>
          </a:solidFill>
          <a:ln w="22225">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3044952"/>
            <a:ext cx="3163824" cy="292608"/>
          </a:xfrm>
          <a:prstGeom prst="rect">
            <a:avLst/>
          </a:prstGeom>
          <a:noFill/>
        </p:spPr>
        <p:txBody>
          <a:bodyPr wrap="square" anchor="t">
            <a:spAutoFit/>
          </a:bodyPr>
          <a:lstStyle/>
          <a:p>
            <a:pPr algn="l">
              <a:spcBef>
                <a:spcPts val="0"/>
              </a:spcBef>
              <a:spcAft>
                <a:spcPts val="400"/>
              </a:spcAft>
            </a:pPr>
            <a:r>
              <a:rPr sz="1250" b="1">
                <a:solidFill>
                  <a:srgbClr val="FFFFFF"/>
                </a:solidFill>
                <a:latin typeface="Calibri"/>
              </a:rPr>
              <a:t>① STRUCTURED collector</a:t>
            </a:r>
          </a:p>
        </p:txBody>
      </p:sp>
      <p:sp>
        <p:nvSpPr>
          <p:cNvPr id="18" name="TextBox 17"/>
          <p:cNvSpPr txBox="1"/>
          <p:nvPr/>
        </p:nvSpPr>
        <p:spPr>
          <a:xfrm>
            <a:off x="612648" y="3300984"/>
            <a:ext cx="3163824" cy="256032"/>
          </a:xfrm>
          <a:prstGeom prst="rect">
            <a:avLst/>
          </a:prstGeom>
          <a:noFill/>
        </p:spPr>
        <p:txBody>
          <a:bodyPr wrap="square" anchor="t">
            <a:spAutoFit/>
          </a:bodyPr>
          <a:lstStyle/>
          <a:p>
            <a:pPr algn="l">
              <a:spcBef>
                <a:spcPts val="0"/>
              </a:spcBef>
              <a:spcAft>
                <a:spcPts val="400"/>
              </a:spcAft>
            </a:pPr>
            <a:r>
              <a:rPr sz="950" b="1">
                <a:solidFill>
                  <a:srgbClr val="3FB950"/>
                </a:solidFill>
                <a:latin typeface="Calibri"/>
              </a:rPr>
              <a:t>skill: gatherer.md</a:t>
            </a:r>
          </a:p>
        </p:txBody>
      </p:sp>
      <p:sp>
        <p:nvSpPr>
          <p:cNvPr id="19" name="TextBox 18"/>
          <p:cNvSpPr txBox="1"/>
          <p:nvPr/>
        </p:nvSpPr>
        <p:spPr>
          <a:xfrm>
            <a:off x="612648" y="3547872"/>
            <a:ext cx="3163824" cy="630936"/>
          </a:xfrm>
          <a:prstGeom prst="rect">
            <a:avLst/>
          </a:prstGeom>
          <a:noFill/>
        </p:spPr>
        <p:txBody>
          <a:bodyPr wrap="square" anchor="t">
            <a:spAutoFit/>
          </a:bodyPr>
          <a:lstStyle/>
          <a:p>
            <a:pPr algn="l">
              <a:spcBef>
                <a:spcPts val="0"/>
              </a:spcBef>
              <a:spcAft>
                <a:spcPts val="400"/>
              </a:spcAft>
            </a:pPr>
            <a:r>
              <a:rPr sz="950" b="0">
                <a:solidFill>
                  <a:srgbClr val="9FB0C3"/>
                </a:solidFill>
                <a:latin typeface="Calibri"/>
              </a:rPr>
              <a:t>58 typed tools — whois/rdap, dns, crt.sh, sherlock, shodan…</a:t>
            </a:r>
          </a:p>
        </p:txBody>
      </p:sp>
      <p:sp>
        <p:nvSpPr>
          <p:cNvPr id="20" name="Rounded Rectangle 19"/>
          <p:cNvSpPr/>
          <p:nvPr/>
        </p:nvSpPr>
        <p:spPr>
          <a:xfrm>
            <a:off x="640080" y="3840480"/>
            <a:ext cx="3108960" cy="292608"/>
          </a:xfrm>
          <a:prstGeom prst="roundRect">
            <a:avLst/>
          </a:prstGeom>
          <a:solidFill>
            <a:srgbClr val="10243A"/>
          </a:solidFill>
          <a:ln w="15875">
            <a:solidFill>
              <a:srgbClr val="D2992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3867912"/>
            <a:ext cx="3017520" cy="256032"/>
          </a:xfrm>
          <a:prstGeom prst="rect">
            <a:avLst/>
          </a:prstGeom>
          <a:noFill/>
        </p:spPr>
        <p:txBody>
          <a:bodyPr wrap="square" anchor="t">
            <a:spAutoFit/>
          </a:bodyPr>
          <a:lstStyle/>
          <a:p>
            <a:pPr algn="l">
              <a:spcBef>
                <a:spcPts val="0"/>
              </a:spcBef>
              <a:spcAft>
                <a:spcPts val="400"/>
              </a:spcAft>
            </a:pPr>
            <a:r>
              <a:rPr sz="950" b="1">
                <a:solidFill>
                  <a:srgbClr val="D29922"/>
                </a:solidFill>
                <a:latin typeface="Calibri"/>
              </a:rPr>
              <a:t>▸ PAID CTI (roadmap): Shodan · DNSlytics · Flare</a:t>
            </a:r>
          </a:p>
        </p:txBody>
      </p:sp>
      <p:sp>
        <p:nvSpPr>
          <p:cNvPr id="22" name="Rounded Rectangle 21"/>
          <p:cNvSpPr/>
          <p:nvPr/>
        </p:nvSpPr>
        <p:spPr>
          <a:xfrm>
            <a:off x="4069080" y="2971800"/>
            <a:ext cx="3383280" cy="1234440"/>
          </a:xfrm>
          <a:prstGeom prst="roundRect">
            <a:avLst/>
          </a:prstGeom>
          <a:solidFill>
            <a:srgbClr val="16324F"/>
          </a:solidFill>
          <a:ln w="22225">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78808" y="3044952"/>
            <a:ext cx="3163824" cy="292608"/>
          </a:xfrm>
          <a:prstGeom prst="rect">
            <a:avLst/>
          </a:prstGeom>
          <a:noFill/>
        </p:spPr>
        <p:txBody>
          <a:bodyPr wrap="square" anchor="t">
            <a:spAutoFit/>
          </a:bodyPr>
          <a:lstStyle/>
          <a:p>
            <a:pPr algn="l">
              <a:spcBef>
                <a:spcPts val="0"/>
              </a:spcBef>
              <a:spcAft>
                <a:spcPts val="400"/>
              </a:spcAft>
            </a:pPr>
            <a:r>
              <a:rPr sz="1250" b="1">
                <a:solidFill>
                  <a:srgbClr val="FFFFFF"/>
                </a:solidFill>
                <a:latin typeface="Calibri"/>
              </a:rPr>
              <a:t>② WEB-SEARCH collector</a:t>
            </a:r>
          </a:p>
        </p:txBody>
      </p:sp>
      <p:sp>
        <p:nvSpPr>
          <p:cNvPr id="24" name="TextBox 23"/>
          <p:cNvSpPr txBox="1"/>
          <p:nvPr/>
        </p:nvSpPr>
        <p:spPr>
          <a:xfrm>
            <a:off x="4178808" y="3300984"/>
            <a:ext cx="3163824" cy="256032"/>
          </a:xfrm>
          <a:prstGeom prst="rect">
            <a:avLst/>
          </a:prstGeom>
          <a:noFill/>
        </p:spPr>
        <p:txBody>
          <a:bodyPr wrap="square" anchor="t">
            <a:spAutoFit/>
          </a:bodyPr>
          <a:lstStyle/>
          <a:p>
            <a:pPr algn="l">
              <a:spcBef>
                <a:spcPts val="0"/>
              </a:spcBef>
              <a:spcAft>
                <a:spcPts val="400"/>
              </a:spcAft>
            </a:pPr>
            <a:r>
              <a:rPr sz="950" b="1">
                <a:solidFill>
                  <a:srgbClr val="3FB950"/>
                </a:solidFill>
                <a:latin typeface="Calibri"/>
              </a:rPr>
              <a:t>skill: web_searcher.md</a:t>
            </a:r>
          </a:p>
        </p:txBody>
      </p:sp>
      <p:sp>
        <p:nvSpPr>
          <p:cNvPr id="25" name="TextBox 24"/>
          <p:cNvSpPr txBox="1"/>
          <p:nvPr/>
        </p:nvSpPr>
        <p:spPr>
          <a:xfrm>
            <a:off x="4178808" y="3547872"/>
            <a:ext cx="3163824" cy="630936"/>
          </a:xfrm>
          <a:prstGeom prst="rect">
            <a:avLst/>
          </a:prstGeom>
          <a:noFill/>
        </p:spPr>
        <p:txBody>
          <a:bodyPr wrap="square" anchor="t">
            <a:spAutoFit/>
          </a:bodyPr>
          <a:lstStyle/>
          <a:p>
            <a:pPr algn="l">
              <a:spcBef>
                <a:spcPts val="0"/>
              </a:spcBef>
              <a:spcAft>
                <a:spcPts val="400"/>
              </a:spcAft>
            </a:pPr>
            <a:r>
              <a:rPr sz="950" b="0">
                <a:solidFill>
                  <a:srgbClr val="9FB0C3"/>
                </a:solidFill>
                <a:latin typeface="Calibri"/>
              </a:rPr>
              <a:t>real web searches + page fetches · snippet-as-evidence · cites everything</a:t>
            </a:r>
          </a:p>
        </p:txBody>
      </p:sp>
      <p:sp>
        <p:nvSpPr>
          <p:cNvPr id="26" name="Rounded Rectangle 25"/>
          <p:cNvSpPr/>
          <p:nvPr/>
        </p:nvSpPr>
        <p:spPr>
          <a:xfrm>
            <a:off x="7635240" y="2971800"/>
            <a:ext cx="3977639" cy="1234440"/>
          </a:xfrm>
          <a:prstGeom prst="roundRect">
            <a:avLst/>
          </a:prstGeom>
          <a:solidFill>
            <a:srgbClr val="16324F"/>
          </a:solidFill>
          <a:ln w="22225">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44967" y="3044952"/>
            <a:ext cx="3758183" cy="292608"/>
          </a:xfrm>
          <a:prstGeom prst="rect">
            <a:avLst/>
          </a:prstGeom>
          <a:noFill/>
        </p:spPr>
        <p:txBody>
          <a:bodyPr wrap="square" anchor="t">
            <a:spAutoFit/>
          </a:bodyPr>
          <a:lstStyle/>
          <a:p>
            <a:pPr algn="l">
              <a:spcBef>
                <a:spcPts val="0"/>
              </a:spcBef>
              <a:spcAft>
                <a:spcPts val="400"/>
              </a:spcAft>
            </a:pPr>
            <a:r>
              <a:rPr sz="1250" b="1">
                <a:solidFill>
                  <a:srgbClr val="FFFFFF"/>
                </a:solidFill>
                <a:latin typeface="Calibri"/>
              </a:rPr>
              <a:t>③ ACTIVE collector</a:t>
            </a:r>
          </a:p>
        </p:txBody>
      </p:sp>
      <p:sp>
        <p:nvSpPr>
          <p:cNvPr id="28" name="TextBox 27"/>
          <p:cNvSpPr txBox="1"/>
          <p:nvPr/>
        </p:nvSpPr>
        <p:spPr>
          <a:xfrm>
            <a:off x="7744967" y="3300984"/>
            <a:ext cx="3758183" cy="256032"/>
          </a:xfrm>
          <a:prstGeom prst="rect">
            <a:avLst/>
          </a:prstGeom>
          <a:noFill/>
        </p:spPr>
        <p:txBody>
          <a:bodyPr wrap="square" anchor="t">
            <a:spAutoFit/>
          </a:bodyPr>
          <a:lstStyle/>
          <a:p>
            <a:pPr algn="l">
              <a:spcBef>
                <a:spcPts val="0"/>
              </a:spcBef>
              <a:spcAft>
                <a:spcPts val="400"/>
              </a:spcAft>
            </a:pPr>
            <a:r>
              <a:rPr sz="950" b="1">
                <a:solidFill>
                  <a:srgbClr val="3FB950"/>
                </a:solidFill>
                <a:latin typeface="Calibri"/>
              </a:rPr>
              <a:t>skill: active_collector.md</a:t>
            </a:r>
          </a:p>
        </p:txBody>
      </p:sp>
      <p:sp>
        <p:nvSpPr>
          <p:cNvPr id="29" name="TextBox 28"/>
          <p:cNvSpPr txBox="1"/>
          <p:nvPr/>
        </p:nvSpPr>
        <p:spPr>
          <a:xfrm>
            <a:off x="7744967" y="3547872"/>
            <a:ext cx="3758183" cy="630936"/>
          </a:xfrm>
          <a:prstGeom prst="rect">
            <a:avLst/>
          </a:prstGeom>
          <a:noFill/>
        </p:spPr>
        <p:txBody>
          <a:bodyPr wrap="square" anchor="t">
            <a:spAutoFit/>
          </a:bodyPr>
          <a:lstStyle/>
          <a:p>
            <a:pPr algn="l">
              <a:spcBef>
                <a:spcPts val="0"/>
              </a:spcBef>
              <a:spcAft>
                <a:spcPts val="400"/>
              </a:spcAft>
            </a:pPr>
            <a:r>
              <a:rPr sz="950" b="0">
                <a:solidFill>
                  <a:srgbClr val="9FB0C3"/>
                </a:solidFill>
                <a:latin typeface="Calibri"/>
              </a:rPr>
              <a:t>touches the target's own site for tracker/analytics IDs (ownership corroborator) · passive-first OPSEC</a:t>
            </a:r>
          </a:p>
        </p:txBody>
      </p:sp>
      <p:sp>
        <p:nvSpPr>
          <p:cNvPr id="30" name="TextBox 29"/>
          <p:cNvSpPr txBox="1"/>
          <p:nvPr/>
        </p:nvSpPr>
        <p:spPr>
          <a:xfrm>
            <a:off x="502920" y="4270248"/>
            <a:ext cx="11064240" cy="274320"/>
          </a:xfrm>
          <a:prstGeom prst="rect">
            <a:avLst/>
          </a:prstGeom>
          <a:noFill/>
        </p:spPr>
        <p:txBody>
          <a:bodyPr wrap="square" anchor="t">
            <a:spAutoFit/>
          </a:bodyPr>
          <a:lstStyle/>
          <a:p>
            <a:pPr algn="ctr">
              <a:spcBef>
                <a:spcPts val="0"/>
              </a:spcBef>
              <a:spcAft>
                <a:spcPts val="400"/>
              </a:spcAft>
            </a:pPr>
            <a:r>
              <a:rPr sz="1050" b="1">
                <a:solidFill>
                  <a:srgbClr val="D29922"/>
                </a:solidFill>
                <a:latin typeface="Calibri"/>
              </a:rPr>
              <a:t>all three collect RAW · log everything · NEVER write the graph  (the raw / analysis split)</a:t>
            </a:r>
          </a:p>
        </p:txBody>
      </p:sp>
      <p:sp>
        <p:nvSpPr>
          <p:cNvPr id="31" name="Rounded Rectangle 30"/>
          <p:cNvSpPr/>
          <p:nvPr/>
        </p:nvSpPr>
        <p:spPr>
          <a:xfrm>
            <a:off x="502920" y="4892040"/>
            <a:ext cx="2514600" cy="1051560"/>
          </a:xfrm>
          <a:prstGeom prst="roundRect">
            <a:avLst/>
          </a:prstGeom>
          <a:solidFill>
            <a:srgbClr val="16324F"/>
          </a:solidFill>
          <a:ln w="22225">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02920" y="4892040"/>
            <a:ext cx="2514600" cy="105156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200" b="1">
                <a:solidFill>
                  <a:srgbClr val="FFFFFF"/>
                </a:solidFill>
                <a:latin typeface="Calibri"/>
              </a:rPr>
              <a:t>ANALYZE + TIER + COMMIT</a:t>
            </a:r>
          </a:p>
          <a:p>
            <a:pPr algn="ctr">
              <a:spcBef>
                <a:spcPts val="0"/>
              </a:spcBef>
              <a:spcAft>
                <a:spcPts val="0"/>
              </a:spcAft>
            </a:pPr>
            <a:r>
              <a:rPr sz="1050" b="1">
                <a:solidFill>
                  <a:srgbClr val="3FB950"/>
                </a:solidFill>
                <a:latin typeface="Calibri"/>
              </a:rPr>
              <a:t>highly likely / probable / possible</a:t>
            </a:r>
          </a:p>
          <a:p>
            <a:pPr algn="ctr">
              <a:spcBef>
                <a:spcPts val="0"/>
              </a:spcBef>
              <a:spcAft>
                <a:spcPts val="0"/>
              </a:spcAft>
            </a:pPr>
            <a:r>
              <a:rPr sz="1050" b="0">
                <a:solidFill>
                  <a:srgbClr val="E6EDF3"/>
                </a:solidFill>
                <a:latin typeface="Calibri"/>
              </a:rPr>
              <a:t>+ PIVOT each new entity (loop)</a:t>
            </a:r>
          </a:p>
        </p:txBody>
      </p:sp>
      <p:sp>
        <p:nvSpPr>
          <p:cNvPr id="33" name="Right Arrow 32"/>
          <p:cNvSpPr/>
          <p:nvPr/>
        </p:nvSpPr>
        <p:spPr>
          <a:xfrm>
            <a:off x="3063240" y="5303520"/>
            <a:ext cx="365760" cy="237744"/>
          </a:xfrm>
          <a:prstGeom prst="rightArrow">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520440" y="4892040"/>
            <a:ext cx="2788920" cy="1051560"/>
          </a:xfrm>
          <a:prstGeom prst="roundRect">
            <a:avLst/>
          </a:prstGeom>
          <a:solidFill>
            <a:srgbClr val="16324F"/>
          </a:solidFill>
          <a:ln w="28575">
            <a:solidFill>
              <a:srgbClr val="BC8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520440" y="4892040"/>
            <a:ext cx="2788920" cy="105156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200" b="1">
                <a:solidFill>
                  <a:srgbClr val="BC8CFF"/>
                </a:solidFill>
                <a:latin typeface="Calibri"/>
              </a:rPr>
              <a:t>RED TEAM  (separate agent)</a:t>
            </a:r>
          </a:p>
          <a:p>
            <a:pPr algn="ctr">
              <a:spcBef>
                <a:spcPts val="0"/>
              </a:spcBef>
              <a:spcAft>
                <a:spcPts val="0"/>
              </a:spcAft>
            </a:pPr>
            <a:r>
              <a:rPr sz="1000" b="1">
                <a:solidFill>
                  <a:srgbClr val="BC8CFF"/>
                </a:solidFill>
                <a:latin typeface="Calibri"/>
              </a:rPr>
              <a:t>skill: red_team.md</a:t>
            </a:r>
          </a:p>
          <a:p>
            <a:pPr algn="ctr">
              <a:spcBef>
                <a:spcPts val="0"/>
              </a:spcBef>
              <a:spcAft>
                <a:spcPts val="0"/>
              </a:spcAft>
            </a:pPr>
            <a:r>
              <a:rPr sz="1000" b="0">
                <a:solidFill>
                  <a:srgbClr val="E6EDF3"/>
                </a:solidFill>
                <a:latin typeface="Calibri"/>
              </a:rPr>
              <a:t>Mode 1: challenge the analysis</a:t>
            </a:r>
          </a:p>
          <a:p>
            <a:pPr algn="ctr">
              <a:spcBef>
                <a:spcPts val="0"/>
              </a:spcBef>
              <a:spcAft>
                <a:spcPts val="0"/>
              </a:spcAft>
            </a:pPr>
            <a:r>
              <a:rPr sz="1000" b="0">
                <a:solidFill>
                  <a:srgbClr val="E6EDF3"/>
                </a:solidFill>
                <a:latin typeface="Calibri"/>
              </a:rPr>
              <a:t>Mode 2: ground the report</a:t>
            </a:r>
          </a:p>
        </p:txBody>
      </p:sp>
      <p:sp>
        <p:nvSpPr>
          <p:cNvPr id="36" name="Right Arrow 35"/>
          <p:cNvSpPr/>
          <p:nvPr/>
        </p:nvSpPr>
        <p:spPr>
          <a:xfrm>
            <a:off x="6355080" y="5303520"/>
            <a:ext cx="365760" cy="237744"/>
          </a:xfrm>
          <a:prstGeom prst="rightArrow">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812280" y="4892040"/>
            <a:ext cx="2468880" cy="1051560"/>
          </a:xfrm>
          <a:prstGeom prst="roundRect">
            <a:avLst/>
          </a:prstGeom>
          <a:solidFill>
            <a:srgbClr val="16324F"/>
          </a:solidFill>
          <a:ln w="22225">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812280" y="4892040"/>
            <a:ext cx="2468880" cy="105156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250" b="1">
                <a:solidFill>
                  <a:srgbClr val="FFFFFF"/>
                </a:solidFill>
                <a:latin typeface="Calibri"/>
              </a:rPr>
              <a:t>REPORT WRITER</a:t>
            </a:r>
          </a:p>
          <a:p>
            <a:pPr algn="ctr">
              <a:spcBef>
                <a:spcPts val="0"/>
              </a:spcBef>
              <a:spcAft>
                <a:spcPts val="0"/>
              </a:spcAft>
            </a:pPr>
            <a:r>
              <a:rPr sz="1000" b="1">
                <a:solidFill>
                  <a:srgbClr val="58A6FF"/>
                </a:solidFill>
                <a:latin typeface="Calibri"/>
              </a:rPr>
              <a:t>skill: report-writer.md</a:t>
            </a:r>
          </a:p>
          <a:p>
            <a:pPr algn="ctr">
              <a:spcBef>
                <a:spcPts val="0"/>
              </a:spcBef>
              <a:spcAft>
                <a:spcPts val="0"/>
              </a:spcAft>
            </a:pPr>
            <a:r>
              <a:rPr sz="1050" b="0">
                <a:solidFill>
                  <a:srgbClr val="E6EDF3"/>
                </a:solidFill>
                <a:latin typeface="Calibri"/>
              </a:rPr>
              <a:t>narrative CTI report</a:t>
            </a:r>
          </a:p>
        </p:txBody>
      </p:sp>
      <p:sp>
        <p:nvSpPr>
          <p:cNvPr id="39" name="Right Arrow 38"/>
          <p:cNvSpPr/>
          <p:nvPr/>
        </p:nvSpPr>
        <p:spPr>
          <a:xfrm>
            <a:off x="9326880" y="5303520"/>
            <a:ext cx="320040" cy="237744"/>
          </a:xfrm>
          <a:prstGeom prst="rightArrow">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692640" y="4892040"/>
            <a:ext cx="1965960" cy="1051560"/>
          </a:xfrm>
          <a:prstGeom prst="roundRect">
            <a:avLst/>
          </a:prstGeom>
          <a:solidFill>
            <a:srgbClr val="10243A"/>
          </a:solidFill>
          <a:ln w="22225">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692640" y="4892040"/>
            <a:ext cx="1965960" cy="105156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250" b="1">
                <a:solidFill>
                  <a:srgbClr val="3FB950"/>
                </a:solidFill>
                <a:latin typeface="Calibri"/>
              </a:rPr>
              <a:t>OUTPUTS</a:t>
            </a:r>
          </a:p>
          <a:p>
            <a:pPr algn="ctr">
              <a:spcBef>
                <a:spcPts val="0"/>
              </a:spcBef>
              <a:spcAft>
                <a:spcPts val="0"/>
              </a:spcAft>
            </a:pPr>
            <a:r>
              <a:rPr sz="1050" b="0">
                <a:solidFill>
                  <a:srgbClr val="E6EDF3"/>
                </a:solidFill>
                <a:latin typeface="Calibri"/>
              </a:rPr>
              <a:t>graph · report</a:t>
            </a:r>
          </a:p>
          <a:p>
            <a:pPr algn="ctr">
              <a:spcBef>
                <a:spcPts val="0"/>
              </a:spcBef>
              <a:spcAft>
                <a:spcPts val="0"/>
              </a:spcAft>
            </a:pPr>
            <a:r>
              <a:rPr sz="1050" b="0">
                <a:solidFill>
                  <a:srgbClr val="E6EDF3"/>
                </a:solidFill>
                <a:latin typeface="Calibri"/>
              </a:rPr>
              <a:t>bibliography · log</a:t>
            </a:r>
          </a:p>
        </p:txBody>
      </p:sp>
      <p:sp>
        <p:nvSpPr>
          <p:cNvPr id="42" name="TextBox 41"/>
          <p:cNvSpPr txBox="1"/>
          <p:nvPr/>
        </p:nvSpPr>
        <p:spPr>
          <a:xfrm>
            <a:off x="502920" y="6053328"/>
            <a:ext cx="11064240" cy="365760"/>
          </a:xfrm>
          <a:prstGeom prst="rect">
            <a:avLst/>
          </a:prstGeom>
          <a:noFill/>
        </p:spPr>
        <p:txBody>
          <a:bodyPr wrap="square" anchor="t">
            <a:spAutoFit/>
          </a:bodyPr>
          <a:lstStyle/>
          <a:p>
            <a:pPr algn="ctr">
              <a:spcBef>
                <a:spcPts val="0"/>
              </a:spcBef>
              <a:spcAft>
                <a:spcPts val="400"/>
              </a:spcAft>
            </a:pPr>
            <a:r>
              <a:rPr sz="1150" b="0">
                <a:solidFill>
                  <a:srgbClr val="9FB0C3"/>
                </a:solidFill>
                <a:latin typeface="Calibri"/>
              </a:rPr>
              <a:t>Separation of powers: collectors fetch · the supervisor alone analyzes &amp; tiers · an INDEPENDENT red team tries to break the conclusions before they ship.</a:t>
            </a:r>
          </a:p>
        </p:txBody>
      </p:sp>
      <p:sp>
        <p:nvSpPr>
          <p:cNvPr id="43" name="TextBox 42"/>
          <p:cNvSpPr txBox="1"/>
          <p:nvPr/>
        </p:nvSpPr>
        <p:spPr>
          <a:xfrm>
            <a:off x="502920" y="6473952"/>
            <a:ext cx="7315200" cy="292608"/>
          </a:xfrm>
          <a:prstGeom prst="rect">
            <a:avLst/>
          </a:prstGeom>
          <a:noFill/>
        </p:spPr>
        <p:txBody>
          <a:bodyPr wrap="square" anchor="t">
            <a:spAutoFit/>
          </a:bodyPr>
          <a:lstStyle/>
          <a:p>
            <a:pPr algn="l">
              <a:spcBef>
                <a:spcPts val="0"/>
              </a:spcBef>
              <a:spcAft>
                <a:spcPts val="400"/>
              </a:spcAft>
            </a:pPr>
            <a:r>
              <a:rPr sz="1000" b="0">
                <a:solidFill>
                  <a:srgbClr val="9FB0C3"/>
                </a:solidFill>
                <a:latin typeface="Calibri"/>
              </a:rPr>
              <a:t>OSINT Investigator  ·  external-OSINT only  ·  runs locally</a:t>
            </a:r>
          </a:p>
        </p:txBody>
      </p:sp>
      <p:sp>
        <p:nvSpPr>
          <p:cNvPr id="44" name="TextBox 43"/>
          <p:cNvSpPr txBox="1"/>
          <p:nvPr/>
        </p:nvSpPr>
        <p:spPr>
          <a:xfrm>
            <a:off x="8321040" y="6473952"/>
            <a:ext cx="3337560" cy="292608"/>
          </a:xfrm>
          <a:prstGeom prst="rect">
            <a:avLst/>
          </a:prstGeom>
          <a:noFill/>
        </p:spPr>
        <p:txBody>
          <a:bodyPr wrap="square" anchor="t">
            <a:spAutoFit/>
          </a:bodyPr>
          <a:lstStyle/>
          <a:p>
            <a:pPr algn="r">
              <a:spcBef>
                <a:spcPts val="0"/>
              </a:spcBef>
              <a:spcAft>
                <a:spcPts val="400"/>
              </a:spcAft>
            </a:pPr>
            <a:r>
              <a:rPr sz="1000" b="0">
                <a:solidFill>
                  <a:srgbClr val="9FB0C3"/>
                </a:solidFill>
                <a:latin typeface="Calibri"/>
              </a:rPr>
              <a:t>OV-1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109728"/>
          </a:xfrm>
          <a:prstGeom prst="round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365760"/>
          </a:xfrm>
          <a:prstGeom prst="rect">
            <a:avLst/>
          </a:prstGeom>
          <a:noFill/>
        </p:spPr>
        <p:txBody>
          <a:bodyPr wrap="square" anchor="t">
            <a:spAutoFit/>
          </a:bodyPr>
          <a:lstStyle/>
          <a:p>
            <a:pPr algn="l">
              <a:spcBef>
                <a:spcPts val="0"/>
              </a:spcBef>
              <a:spcAft>
                <a:spcPts val="400"/>
              </a:spcAft>
            </a:pPr>
            <a:r>
              <a:rPr sz="1300" b="1">
                <a:solidFill>
                  <a:srgbClr val="58A6FF"/>
                </a:solidFill>
                <a:latin typeface="Calibri"/>
              </a:rPr>
              <a:t>THE ROUTING BRAIN</a:t>
            </a:r>
          </a:p>
        </p:txBody>
      </p:sp>
      <p:sp>
        <p:nvSpPr>
          <p:cNvPr id="5" name="TextBox 4"/>
          <p:cNvSpPr txBox="1"/>
          <p:nvPr/>
        </p:nvSpPr>
        <p:spPr>
          <a:xfrm>
            <a:off x="502920" y="603504"/>
            <a:ext cx="11155680" cy="822960"/>
          </a:xfrm>
          <a:prstGeom prst="rect">
            <a:avLst/>
          </a:prstGeom>
          <a:noFill/>
        </p:spPr>
        <p:txBody>
          <a:bodyPr wrap="square" anchor="t">
            <a:spAutoFit/>
          </a:bodyPr>
          <a:lstStyle/>
          <a:p>
            <a:pPr algn="l">
              <a:spcBef>
                <a:spcPts val="0"/>
              </a:spcBef>
              <a:spcAft>
                <a:spcPts val="400"/>
              </a:spcAft>
            </a:pPr>
            <a:r>
              <a:rPr sz="2700" b="1">
                <a:solidFill>
                  <a:srgbClr val="FFFFFF"/>
                </a:solidFill>
                <a:latin typeface="Calibri"/>
              </a:rPr>
              <a:t>A knowledge base of selector CATEGORIES decides what runs — nothing hardcoded</a:t>
            </a:r>
          </a:p>
        </p:txBody>
      </p:sp>
      <p:sp>
        <p:nvSpPr>
          <p:cNvPr id="6" name="Rounded Rectangle 5"/>
          <p:cNvSpPr/>
          <p:nvPr/>
        </p:nvSpPr>
        <p:spPr>
          <a:xfrm>
            <a:off x="502920" y="1691640"/>
            <a:ext cx="7955279" cy="54864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40080" y="1865376"/>
            <a:ext cx="201168" cy="201168"/>
          </a:xfrm>
          <a:prstGeom prst="ellipse">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46504"/>
            <a:ext cx="4572000" cy="457200"/>
          </a:xfrm>
          <a:prstGeom prst="rect">
            <a:avLst/>
          </a:prstGeom>
          <a:noFill/>
        </p:spPr>
        <p:txBody>
          <a:bodyPr wrap="square" anchor="t">
            <a:spAutoFit/>
          </a:bodyPr>
          <a:lstStyle/>
          <a:p>
            <a:pPr algn="l">
              <a:spcBef>
                <a:spcPts val="0"/>
              </a:spcBef>
              <a:spcAft>
                <a:spcPts val="400"/>
              </a:spcAft>
            </a:pPr>
            <a:r>
              <a:rPr sz="1450" b="1">
                <a:solidFill>
                  <a:srgbClr val="FFFFFF"/>
                </a:solidFill>
                <a:latin typeface="Calibri"/>
              </a:rPr>
              <a:t>Identity</a:t>
            </a:r>
          </a:p>
        </p:txBody>
      </p:sp>
      <p:sp>
        <p:nvSpPr>
          <p:cNvPr id="9" name="TextBox 8"/>
          <p:cNvSpPr txBox="1"/>
          <p:nvPr/>
        </p:nvSpPr>
        <p:spPr>
          <a:xfrm>
            <a:off x="960120" y="1984248"/>
            <a:ext cx="5760720" cy="256032"/>
          </a:xfrm>
          <a:prstGeom prst="rect">
            <a:avLst/>
          </a:prstGeom>
          <a:noFill/>
        </p:spPr>
        <p:txBody>
          <a:bodyPr wrap="square" anchor="t">
            <a:spAutoFit/>
          </a:bodyPr>
          <a:lstStyle/>
          <a:p>
            <a:pPr algn="l">
              <a:spcBef>
                <a:spcPts val="0"/>
              </a:spcBef>
              <a:spcAft>
                <a:spcPts val="400"/>
              </a:spcAft>
            </a:pPr>
            <a:r>
              <a:rPr sz="1050" b="0">
                <a:solidFill>
                  <a:srgbClr val="9FB0C3"/>
                </a:solidFill>
                <a:latin typeface="Calibri"/>
              </a:rPr>
              <a:t>username · email · name · phone · handles</a:t>
            </a:r>
          </a:p>
        </p:txBody>
      </p:sp>
      <p:sp>
        <p:nvSpPr>
          <p:cNvPr id="10" name="TextBox 9"/>
          <p:cNvSpPr txBox="1"/>
          <p:nvPr/>
        </p:nvSpPr>
        <p:spPr>
          <a:xfrm>
            <a:off x="6858000" y="1746504"/>
            <a:ext cx="1463040" cy="457200"/>
          </a:xfrm>
          <a:prstGeom prst="rect">
            <a:avLst/>
          </a:prstGeom>
          <a:noFill/>
        </p:spPr>
        <p:txBody>
          <a:bodyPr wrap="square" anchor="t">
            <a:spAutoFit/>
          </a:bodyPr>
          <a:lstStyle/>
          <a:p>
            <a:pPr algn="r">
              <a:spcBef>
                <a:spcPts val="0"/>
              </a:spcBef>
              <a:spcAft>
                <a:spcPts val="400"/>
              </a:spcAft>
            </a:pPr>
            <a:r>
              <a:rPr sz="1300" b="1">
                <a:solidFill>
                  <a:srgbClr val="3FB950"/>
                </a:solidFill>
                <a:latin typeface="Calibri"/>
              </a:rPr>
              <a:t>28 types</a:t>
            </a:r>
          </a:p>
        </p:txBody>
      </p:sp>
      <p:sp>
        <p:nvSpPr>
          <p:cNvPr id="11" name="Rounded Rectangle 10"/>
          <p:cNvSpPr/>
          <p:nvPr/>
        </p:nvSpPr>
        <p:spPr>
          <a:xfrm>
            <a:off x="502920" y="2276856"/>
            <a:ext cx="7955279" cy="548640"/>
          </a:xfrm>
          <a:prstGeom prst="roundRect">
            <a:avLst/>
          </a:prstGeom>
          <a:solidFill>
            <a:srgbClr val="10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0080" y="2450592"/>
            <a:ext cx="201168" cy="201168"/>
          </a:xfrm>
          <a:prstGeom prst="ellipse">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331720"/>
            <a:ext cx="4572000" cy="457200"/>
          </a:xfrm>
          <a:prstGeom prst="rect">
            <a:avLst/>
          </a:prstGeom>
          <a:noFill/>
        </p:spPr>
        <p:txBody>
          <a:bodyPr wrap="square" anchor="t">
            <a:spAutoFit/>
          </a:bodyPr>
          <a:lstStyle/>
          <a:p>
            <a:pPr algn="l">
              <a:spcBef>
                <a:spcPts val="0"/>
              </a:spcBef>
              <a:spcAft>
                <a:spcPts val="400"/>
              </a:spcAft>
            </a:pPr>
            <a:r>
              <a:rPr sz="1450" b="1">
                <a:solidFill>
                  <a:srgbClr val="FFFFFF"/>
                </a:solidFill>
                <a:latin typeface="Calibri"/>
              </a:rPr>
              <a:t>Infrastructure</a:t>
            </a:r>
          </a:p>
        </p:txBody>
      </p:sp>
      <p:sp>
        <p:nvSpPr>
          <p:cNvPr id="14" name="TextBox 13"/>
          <p:cNvSpPr txBox="1"/>
          <p:nvPr/>
        </p:nvSpPr>
        <p:spPr>
          <a:xfrm>
            <a:off x="960120" y="2569464"/>
            <a:ext cx="5760720" cy="256032"/>
          </a:xfrm>
          <a:prstGeom prst="rect">
            <a:avLst/>
          </a:prstGeom>
          <a:noFill/>
        </p:spPr>
        <p:txBody>
          <a:bodyPr wrap="square" anchor="t">
            <a:spAutoFit/>
          </a:bodyPr>
          <a:lstStyle/>
          <a:p>
            <a:pPr algn="l">
              <a:spcBef>
                <a:spcPts val="0"/>
              </a:spcBef>
              <a:spcAft>
                <a:spcPts val="400"/>
              </a:spcAft>
            </a:pPr>
            <a:r>
              <a:rPr sz="1050" b="0">
                <a:solidFill>
                  <a:srgbClr val="9FB0C3"/>
                </a:solidFill>
                <a:latin typeface="Calibri"/>
              </a:rPr>
              <a:t>domain · IP · URL · ASN · certificates</a:t>
            </a:r>
          </a:p>
        </p:txBody>
      </p:sp>
      <p:sp>
        <p:nvSpPr>
          <p:cNvPr id="15" name="TextBox 14"/>
          <p:cNvSpPr txBox="1"/>
          <p:nvPr/>
        </p:nvSpPr>
        <p:spPr>
          <a:xfrm>
            <a:off x="6858000" y="2331720"/>
            <a:ext cx="1463040" cy="457200"/>
          </a:xfrm>
          <a:prstGeom prst="rect">
            <a:avLst/>
          </a:prstGeom>
          <a:noFill/>
        </p:spPr>
        <p:txBody>
          <a:bodyPr wrap="square" anchor="t">
            <a:spAutoFit/>
          </a:bodyPr>
          <a:lstStyle/>
          <a:p>
            <a:pPr algn="r">
              <a:spcBef>
                <a:spcPts val="0"/>
              </a:spcBef>
              <a:spcAft>
                <a:spcPts val="400"/>
              </a:spcAft>
            </a:pPr>
            <a:r>
              <a:rPr sz="1300" b="1">
                <a:solidFill>
                  <a:srgbClr val="3FB950"/>
                </a:solidFill>
                <a:latin typeface="Calibri"/>
              </a:rPr>
              <a:t>11 types</a:t>
            </a:r>
          </a:p>
        </p:txBody>
      </p:sp>
      <p:sp>
        <p:nvSpPr>
          <p:cNvPr id="16" name="Rounded Rectangle 15"/>
          <p:cNvSpPr/>
          <p:nvPr/>
        </p:nvSpPr>
        <p:spPr>
          <a:xfrm>
            <a:off x="502920" y="2862072"/>
            <a:ext cx="7955279" cy="54864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3035808"/>
            <a:ext cx="201168" cy="201168"/>
          </a:xfrm>
          <a:prstGeom prst="ellipse">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2916936"/>
            <a:ext cx="4572000" cy="457200"/>
          </a:xfrm>
          <a:prstGeom prst="rect">
            <a:avLst/>
          </a:prstGeom>
          <a:noFill/>
        </p:spPr>
        <p:txBody>
          <a:bodyPr wrap="square" anchor="t">
            <a:spAutoFit/>
          </a:bodyPr>
          <a:lstStyle/>
          <a:p>
            <a:pPr algn="l">
              <a:spcBef>
                <a:spcPts val="0"/>
              </a:spcBef>
              <a:spcAft>
                <a:spcPts val="400"/>
              </a:spcAft>
            </a:pPr>
            <a:r>
              <a:rPr sz="1450" b="1">
                <a:solidFill>
                  <a:srgbClr val="FFFFFF"/>
                </a:solidFill>
                <a:latin typeface="Calibri"/>
              </a:rPr>
              <a:t>Financial</a:t>
            </a:r>
          </a:p>
        </p:txBody>
      </p:sp>
      <p:sp>
        <p:nvSpPr>
          <p:cNvPr id="19" name="TextBox 18"/>
          <p:cNvSpPr txBox="1"/>
          <p:nvPr/>
        </p:nvSpPr>
        <p:spPr>
          <a:xfrm>
            <a:off x="960120" y="3154680"/>
            <a:ext cx="5760720" cy="256032"/>
          </a:xfrm>
          <a:prstGeom prst="rect">
            <a:avLst/>
          </a:prstGeom>
          <a:noFill/>
        </p:spPr>
        <p:txBody>
          <a:bodyPr wrap="square" anchor="t">
            <a:spAutoFit/>
          </a:bodyPr>
          <a:lstStyle/>
          <a:p>
            <a:pPr algn="l">
              <a:spcBef>
                <a:spcPts val="0"/>
              </a:spcBef>
              <a:spcAft>
                <a:spcPts val="400"/>
              </a:spcAft>
            </a:pPr>
            <a:r>
              <a:rPr sz="1050" b="0">
                <a:solidFill>
                  <a:srgbClr val="9FB0C3"/>
                </a:solidFill>
                <a:latin typeface="Calibri"/>
              </a:rPr>
              <a:t>crypto wallets (BTC / ETH)</a:t>
            </a:r>
          </a:p>
        </p:txBody>
      </p:sp>
      <p:sp>
        <p:nvSpPr>
          <p:cNvPr id="20" name="TextBox 19"/>
          <p:cNvSpPr txBox="1"/>
          <p:nvPr/>
        </p:nvSpPr>
        <p:spPr>
          <a:xfrm>
            <a:off x="6858000" y="2916936"/>
            <a:ext cx="1463040" cy="457200"/>
          </a:xfrm>
          <a:prstGeom prst="rect">
            <a:avLst/>
          </a:prstGeom>
          <a:noFill/>
        </p:spPr>
        <p:txBody>
          <a:bodyPr wrap="square" anchor="t">
            <a:spAutoFit/>
          </a:bodyPr>
          <a:lstStyle/>
          <a:p>
            <a:pPr algn="r">
              <a:spcBef>
                <a:spcPts val="0"/>
              </a:spcBef>
              <a:spcAft>
                <a:spcPts val="400"/>
              </a:spcAft>
            </a:pPr>
            <a:r>
              <a:rPr sz="1300" b="1">
                <a:solidFill>
                  <a:srgbClr val="3FB950"/>
                </a:solidFill>
                <a:latin typeface="Calibri"/>
              </a:rPr>
              <a:t>5 types</a:t>
            </a:r>
          </a:p>
        </p:txBody>
      </p:sp>
      <p:sp>
        <p:nvSpPr>
          <p:cNvPr id="21" name="Rounded Rectangle 20"/>
          <p:cNvSpPr/>
          <p:nvPr/>
        </p:nvSpPr>
        <p:spPr>
          <a:xfrm>
            <a:off x="502920" y="3447288"/>
            <a:ext cx="7955279" cy="548640"/>
          </a:xfrm>
          <a:prstGeom prst="roundRect">
            <a:avLst/>
          </a:prstGeom>
          <a:solidFill>
            <a:srgbClr val="10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080" y="3621024"/>
            <a:ext cx="201168" cy="201168"/>
          </a:xfrm>
          <a:prstGeom prst="ellipse">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3502152"/>
            <a:ext cx="4572000" cy="457200"/>
          </a:xfrm>
          <a:prstGeom prst="rect">
            <a:avLst/>
          </a:prstGeom>
          <a:noFill/>
        </p:spPr>
        <p:txBody>
          <a:bodyPr wrap="square" anchor="t">
            <a:spAutoFit/>
          </a:bodyPr>
          <a:lstStyle/>
          <a:p>
            <a:pPr algn="l">
              <a:spcBef>
                <a:spcPts val="0"/>
              </a:spcBef>
              <a:spcAft>
                <a:spcPts val="400"/>
              </a:spcAft>
            </a:pPr>
            <a:r>
              <a:rPr sz="1450" b="1">
                <a:solidFill>
                  <a:srgbClr val="FFFFFF"/>
                </a:solidFill>
                <a:latin typeface="Calibri"/>
              </a:rPr>
              <a:t>Malware</a:t>
            </a:r>
          </a:p>
        </p:txBody>
      </p:sp>
      <p:sp>
        <p:nvSpPr>
          <p:cNvPr id="24" name="TextBox 23"/>
          <p:cNvSpPr txBox="1"/>
          <p:nvPr/>
        </p:nvSpPr>
        <p:spPr>
          <a:xfrm>
            <a:off x="960120" y="3739896"/>
            <a:ext cx="5760720" cy="256032"/>
          </a:xfrm>
          <a:prstGeom prst="rect">
            <a:avLst/>
          </a:prstGeom>
          <a:noFill/>
        </p:spPr>
        <p:txBody>
          <a:bodyPr wrap="square" anchor="t">
            <a:spAutoFit/>
          </a:bodyPr>
          <a:lstStyle/>
          <a:p>
            <a:pPr algn="l">
              <a:spcBef>
                <a:spcPts val="0"/>
              </a:spcBef>
              <a:spcAft>
                <a:spcPts val="400"/>
              </a:spcAft>
            </a:pPr>
            <a:r>
              <a:rPr sz="1050" b="0">
                <a:solidFill>
                  <a:srgbClr val="9FB0C3"/>
                </a:solidFill>
                <a:latin typeface="Calibri"/>
              </a:rPr>
              <a:t>file hashes · IOCs</a:t>
            </a:r>
          </a:p>
        </p:txBody>
      </p:sp>
      <p:sp>
        <p:nvSpPr>
          <p:cNvPr id="25" name="TextBox 24"/>
          <p:cNvSpPr txBox="1"/>
          <p:nvPr/>
        </p:nvSpPr>
        <p:spPr>
          <a:xfrm>
            <a:off x="6858000" y="3502152"/>
            <a:ext cx="1463040" cy="457200"/>
          </a:xfrm>
          <a:prstGeom prst="rect">
            <a:avLst/>
          </a:prstGeom>
          <a:noFill/>
        </p:spPr>
        <p:txBody>
          <a:bodyPr wrap="square" anchor="t">
            <a:spAutoFit/>
          </a:bodyPr>
          <a:lstStyle/>
          <a:p>
            <a:pPr algn="r">
              <a:spcBef>
                <a:spcPts val="0"/>
              </a:spcBef>
              <a:spcAft>
                <a:spcPts val="400"/>
              </a:spcAft>
            </a:pPr>
            <a:r>
              <a:rPr sz="1300" b="1">
                <a:solidFill>
                  <a:srgbClr val="3FB950"/>
                </a:solidFill>
                <a:latin typeface="Calibri"/>
              </a:rPr>
              <a:t>3 types</a:t>
            </a:r>
          </a:p>
        </p:txBody>
      </p:sp>
      <p:sp>
        <p:nvSpPr>
          <p:cNvPr id="26" name="Rounded Rectangle 25"/>
          <p:cNvSpPr/>
          <p:nvPr/>
        </p:nvSpPr>
        <p:spPr>
          <a:xfrm>
            <a:off x="502920" y="4032504"/>
            <a:ext cx="7955279" cy="54864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4206240"/>
            <a:ext cx="201168" cy="201168"/>
          </a:xfrm>
          <a:prstGeom prst="ellipse">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4087368"/>
            <a:ext cx="4572000" cy="457200"/>
          </a:xfrm>
          <a:prstGeom prst="rect">
            <a:avLst/>
          </a:prstGeom>
          <a:noFill/>
        </p:spPr>
        <p:txBody>
          <a:bodyPr wrap="square" anchor="t">
            <a:spAutoFit/>
          </a:bodyPr>
          <a:lstStyle/>
          <a:p>
            <a:pPr algn="l">
              <a:spcBef>
                <a:spcPts val="0"/>
              </a:spcBef>
              <a:spcAft>
                <a:spcPts val="400"/>
              </a:spcAft>
            </a:pPr>
            <a:r>
              <a:rPr sz="1450" b="1">
                <a:solidFill>
                  <a:srgbClr val="FFFFFF"/>
                </a:solidFill>
                <a:latin typeface="Calibri"/>
              </a:rPr>
              <a:t>Media</a:t>
            </a:r>
          </a:p>
        </p:txBody>
      </p:sp>
      <p:sp>
        <p:nvSpPr>
          <p:cNvPr id="29" name="TextBox 28"/>
          <p:cNvSpPr txBox="1"/>
          <p:nvPr/>
        </p:nvSpPr>
        <p:spPr>
          <a:xfrm>
            <a:off x="960120" y="4325112"/>
            <a:ext cx="5760720" cy="256032"/>
          </a:xfrm>
          <a:prstGeom prst="rect">
            <a:avLst/>
          </a:prstGeom>
          <a:noFill/>
        </p:spPr>
        <p:txBody>
          <a:bodyPr wrap="square" anchor="t">
            <a:spAutoFit/>
          </a:bodyPr>
          <a:lstStyle/>
          <a:p>
            <a:pPr algn="l">
              <a:spcBef>
                <a:spcPts val="0"/>
              </a:spcBef>
              <a:spcAft>
                <a:spcPts val="400"/>
              </a:spcAft>
            </a:pPr>
            <a:r>
              <a:rPr sz="1050" b="0">
                <a:solidFill>
                  <a:srgbClr val="9FB0C3"/>
                </a:solidFill>
                <a:latin typeface="Calibri"/>
              </a:rPr>
              <a:t>images · EXIF / geolocation</a:t>
            </a:r>
          </a:p>
        </p:txBody>
      </p:sp>
      <p:sp>
        <p:nvSpPr>
          <p:cNvPr id="30" name="TextBox 29"/>
          <p:cNvSpPr txBox="1"/>
          <p:nvPr/>
        </p:nvSpPr>
        <p:spPr>
          <a:xfrm>
            <a:off x="6858000" y="4087368"/>
            <a:ext cx="1463040" cy="457200"/>
          </a:xfrm>
          <a:prstGeom prst="rect">
            <a:avLst/>
          </a:prstGeom>
          <a:noFill/>
        </p:spPr>
        <p:txBody>
          <a:bodyPr wrap="square" anchor="t">
            <a:spAutoFit/>
          </a:bodyPr>
          <a:lstStyle/>
          <a:p>
            <a:pPr algn="r">
              <a:spcBef>
                <a:spcPts val="0"/>
              </a:spcBef>
              <a:spcAft>
                <a:spcPts val="400"/>
              </a:spcAft>
            </a:pPr>
            <a:r>
              <a:rPr sz="1300" b="1">
                <a:solidFill>
                  <a:srgbClr val="3FB950"/>
                </a:solidFill>
                <a:latin typeface="Calibri"/>
              </a:rPr>
              <a:t>5 types</a:t>
            </a:r>
          </a:p>
        </p:txBody>
      </p:sp>
      <p:sp>
        <p:nvSpPr>
          <p:cNvPr id="31" name="Rounded Rectangle 30"/>
          <p:cNvSpPr/>
          <p:nvPr/>
        </p:nvSpPr>
        <p:spPr>
          <a:xfrm>
            <a:off x="502920" y="4617720"/>
            <a:ext cx="7955279" cy="548640"/>
          </a:xfrm>
          <a:prstGeom prst="roundRect">
            <a:avLst/>
          </a:prstGeom>
          <a:solidFill>
            <a:srgbClr val="10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0080" y="4791456"/>
            <a:ext cx="201168" cy="201168"/>
          </a:xfrm>
          <a:prstGeom prst="ellipse">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0120" y="4672583"/>
            <a:ext cx="4572000" cy="457200"/>
          </a:xfrm>
          <a:prstGeom prst="rect">
            <a:avLst/>
          </a:prstGeom>
          <a:noFill/>
        </p:spPr>
        <p:txBody>
          <a:bodyPr wrap="square" anchor="t">
            <a:spAutoFit/>
          </a:bodyPr>
          <a:lstStyle/>
          <a:p>
            <a:pPr algn="l">
              <a:spcBef>
                <a:spcPts val="0"/>
              </a:spcBef>
              <a:spcAft>
                <a:spcPts val="400"/>
              </a:spcAft>
            </a:pPr>
            <a:r>
              <a:rPr sz="1450" b="1">
                <a:solidFill>
                  <a:srgbClr val="FFFFFF"/>
                </a:solidFill>
                <a:latin typeface="Calibri"/>
              </a:rPr>
              <a:t>Geospatial</a:t>
            </a:r>
          </a:p>
        </p:txBody>
      </p:sp>
      <p:sp>
        <p:nvSpPr>
          <p:cNvPr id="34" name="TextBox 33"/>
          <p:cNvSpPr txBox="1"/>
          <p:nvPr/>
        </p:nvSpPr>
        <p:spPr>
          <a:xfrm>
            <a:off x="960120" y="4910328"/>
            <a:ext cx="5760720" cy="256032"/>
          </a:xfrm>
          <a:prstGeom prst="rect">
            <a:avLst/>
          </a:prstGeom>
          <a:noFill/>
        </p:spPr>
        <p:txBody>
          <a:bodyPr wrap="square" anchor="t">
            <a:spAutoFit/>
          </a:bodyPr>
          <a:lstStyle/>
          <a:p>
            <a:pPr algn="l">
              <a:spcBef>
                <a:spcPts val="0"/>
              </a:spcBef>
              <a:spcAft>
                <a:spcPts val="400"/>
              </a:spcAft>
            </a:pPr>
            <a:r>
              <a:rPr sz="1050" b="0">
                <a:solidFill>
                  <a:srgbClr val="9FB0C3"/>
                </a:solidFill>
                <a:latin typeface="Calibri"/>
              </a:rPr>
              <a:t>coordinates · addresses</a:t>
            </a:r>
          </a:p>
        </p:txBody>
      </p:sp>
      <p:sp>
        <p:nvSpPr>
          <p:cNvPr id="35" name="TextBox 34"/>
          <p:cNvSpPr txBox="1"/>
          <p:nvPr/>
        </p:nvSpPr>
        <p:spPr>
          <a:xfrm>
            <a:off x="6858000" y="4672583"/>
            <a:ext cx="1463040" cy="457200"/>
          </a:xfrm>
          <a:prstGeom prst="rect">
            <a:avLst/>
          </a:prstGeom>
          <a:noFill/>
        </p:spPr>
        <p:txBody>
          <a:bodyPr wrap="square" anchor="t">
            <a:spAutoFit/>
          </a:bodyPr>
          <a:lstStyle/>
          <a:p>
            <a:pPr algn="r">
              <a:spcBef>
                <a:spcPts val="0"/>
              </a:spcBef>
              <a:spcAft>
                <a:spcPts val="400"/>
              </a:spcAft>
            </a:pPr>
            <a:r>
              <a:rPr sz="1300" b="1">
                <a:solidFill>
                  <a:srgbClr val="3FB950"/>
                </a:solidFill>
                <a:latin typeface="Calibri"/>
              </a:rPr>
              <a:t>3 types</a:t>
            </a:r>
          </a:p>
        </p:txBody>
      </p:sp>
      <p:sp>
        <p:nvSpPr>
          <p:cNvPr id="36" name="Rounded Rectangle 35"/>
          <p:cNvSpPr/>
          <p:nvPr/>
        </p:nvSpPr>
        <p:spPr>
          <a:xfrm>
            <a:off x="502920" y="5202936"/>
            <a:ext cx="7955279" cy="54864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0080" y="5376672"/>
            <a:ext cx="201168" cy="201168"/>
          </a:xfrm>
          <a:prstGeom prst="ellipse">
            <a:avLst/>
          </a:prstGeom>
          <a:solidFill>
            <a:srgbClr val="9FB0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0120" y="5257799"/>
            <a:ext cx="4572000" cy="457200"/>
          </a:xfrm>
          <a:prstGeom prst="rect">
            <a:avLst/>
          </a:prstGeom>
          <a:noFill/>
        </p:spPr>
        <p:txBody>
          <a:bodyPr wrap="square" anchor="t">
            <a:spAutoFit/>
          </a:bodyPr>
          <a:lstStyle/>
          <a:p>
            <a:pPr algn="l">
              <a:spcBef>
                <a:spcPts val="0"/>
              </a:spcBef>
              <a:spcAft>
                <a:spcPts val="400"/>
              </a:spcAft>
            </a:pPr>
            <a:r>
              <a:rPr sz="1450" b="1">
                <a:solidFill>
                  <a:srgbClr val="FFFFFF"/>
                </a:solidFill>
                <a:latin typeface="Calibri"/>
              </a:rPr>
              <a:t>Transport · Security · Social · Device</a:t>
            </a:r>
          </a:p>
        </p:txBody>
      </p:sp>
      <p:sp>
        <p:nvSpPr>
          <p:cNvPr id="39" name="TextBox 38"/>
          <p:cNvSpPr txBox="1"/>
          <p:nvPr/>
        </p:nvSpPr>
        <p:spPr>
          <a:xfrm>
            <a:off x="960120" y="5495544"/>
            <a:ext cx="5760720" cy="256032"/>
          </a:xfrm>
          <a:prstGeom prst="rect">
            <a:avLst/>
          </a:prstGeom>
          <a:noFill/>
        </p:spPr>
        <p:txBody>
          <a:bodyPr wrap="square" anchor="t">
            <a:spAutoFit/>
          </a:bodyPr>
          <a:lstStyle/>
          <a:p>
            <a:pPr algn="l">
              <a:spcBef>
                <a:spcPts val="0"/>
              </a:spcBef>
              <a:spcAft>
                <a:spcPts val="400"/>
              </a:spcAft>
            </a:pPr>
            <a:r>
              <a:rPr sz="1050" b="0">
                <a:solidFill>
                  <a:srgbClr val="9FB0C3"/>
                </a:solidFill>
                <a:latin typeface="Calibri"/>
              </a:rPr>
              <a:t>plates · VIN · creds · devices</a:t>
            </a:r>
          </a:p>
        </p:txBody>
      </p:sp>
      <p:sp>
        <p:nvSpPr>
          <p:cNvPr id="40" name="TextBox 39"/>
          <p:cNvSpPr txBox="1"/>
          <p:nvPr/>
        </p:nvSpPr>
        <p:spPr>
          <a:xfrm>
            <a:off x="6858000" y="5257799"/>
            <a:ext cx="1463040" cy="457200"/>
          </a:xfrm>
          <a:prstGeom prst="rect">
            <a:avLst/>
          </a:prstGeom>
          <a:noFill/>
        </p:spPr>
        <p:txBody>
          <a:bodyPr wrap="square" anchor="t">
            <a:spAutoFit/>
          </a:bodyPr>
          <a:lstStyle/>
          <a:p>
            <a:pPr algn="r">
              <a:spcBef>
                <a:spcPts val="0"/>
              </a:spcBef>
              <a:spcAft>
                <a:spcPts val="400"/>
              </a:spcAft>
            </a:pPr>
            <a:r>
              <a:rPr sz="1300" b="1">
                <a:solidFill>
                  <a:srgbClr val="9FB0C3"/>
                </a:solidFill>
                <a:latin typeface="Calibri"/>
              </a:rPr>
              <a:t>10 types</a:t>
            </a:r>
          </a:p>
        </p:txBody>
      </p:sp>
      <p:sp>
        <p:nvSpPr>
          <p:cNvPr id="41" name="Rounded Rectangle 40"/>
          <p:cNvSpPr/>
          <p:nvPr/>
        </p:nvSpPr>
        <p:spPr>
          <a:xfrm>
            <a:off x="502920" y="5788151"/>
            <a:ext cx="7955279" cy="548640"/>
          </a:xfrm>
          <a:prstGeom prst="roundRect">
            <a:avLst/>
          </a:prstGeom>
          <a:solidFill>
            <a:srgbClr val="10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0080" y="5961888"/>
            <a:ext cx="201168" cy="201168"/>
          </a:xfrm>
          <a:prstGeom prst="ellipse">
            <a:avLst/>
          </a:prstGeom>
          <a:solidFill>
            <a:srgbClr val="9FB0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 y="5843015"/>
            <a:ext cx="4572000" cy="457200"/>
          </a:xfrm>
          <a:prstGeom prst="rect">
            <a:avLst/>
          </a:prstGeom>
          <a:noFill/>
        </p:spPr>
        <p:txBody>
          <a:bodyPr wrap="square" anchor="t">
            <a:spAutoFit/>
          </a:bodyPr>
          <a:lstStyle/>
          <a:p>
            <a:pPr algn="l">
              <a:spcBef>
                <a:spcPts val="0"/>
              </a:spcBef>
              <a:spcAft>
                <a:spcPts val="400"/>
              </a:spcAft>
            </a:pPr>
            <a:r>
              <a:rPr sz="1450" b="1">
                <a:solidFill>
                  <a:srgbClr val="FFFFFF"/>
                </a:solidFill>
                <a:latin typeface="Calibri"/>
              </a:rPr>
              <a:t>+ uncatalogued roadmap types</a:t>
            </a:r>
          </a:p>
        </p:txBody>
      </p:sp>
      <p:sp>
        <p:nvSpPr>
          <p:cNvPr id="44" name="TextBox 43"/>
          <p:cNvSpPr txBox="1"/>
          <p:nvPr/>
        </p:nvSpPr>
        <p:spPr>
          <a:xfrm>
            <a:off x="960120" y="6080759"/>
            <a:ext cx="5760720" cy="256032"/>
          </a:xfrm>
          <a:prstGeom prst="rect">
            <a:avLst/>
          </a:prstGeom>
          <a:noFill/>
        </p:spPr>
        <p:txBody>
          <a:bodyPr wrap="square" anchor="t">
            <a:spAutoFit/>
          </a:bodyPr>
          <a:lstStyle/>
          <a:p>
            <a:pPr algn="l">
              <a:spcBef>
                <a:spcPts val="0"/>
              </a:spcBef>
              <a:spcAft>
                <a:spcPts val="400"/>
              </a:spcAft>
            </a:pPr>
            <a:r>
              <a:rPr sz="1050" b="0">
                <a:solidFill>
                  <a:srgbClr val="9FB0C3"/>
                </a:solidFill>
                <a:latin typeface="Calibri"/>
              </a:rPr>
              <a:t>reachable via web-search fallback</a:t>
            </a:r>
          </a:p>
        </p:txBody>
      </p:sp>
      <p:sp>
        <p:nvSpPr>
          <p:cNvPr id="45" name="TextBox 44"/>
          <p:cNvSpPr txBox="1"/>
          <p:nvPr/>
        </p:nvSpPr>
        <p:spPr>
          <a:xfrm>
            <a:off x="6858000" y="5843015"/>
            <a:ext cx="1463040" cy="457200"/>
          </a:xfrm>
          <a:prstGeom prst="rect">
            <a:avLst/>
          </a:prstGeom>
          <a:noFill/>
        </p:spPr>
        <p:txBody>
          <a:bodyPr wrap="square" anchor="t">
            <a:spAutoFit/>
          </a:bodyPr>
          <a:lstStyle/>
          <a:p>
            <a:pPr algn="r">
              <a:spcBef>
                <a:spcPts val="0"/>
              </a:spcBef>
              <a:spcAft>
                <a:spcPts val="400"/>
              </a:spcAft>
            </a:pPr>
            <a:r>
              <a:rPr sz="1300" b="1">
                <a:solidFill>
                  <a:srgbClr val="9FB0C3"/>
                </a:solidFill>
                <a:latin typeface="Calibri"/>
              </a:rPr>
              <a:t>49 types</a:t>
            </a:r>
          </a:p>
        </p:txBody>
      </p:sp>
      <p:sp>
        <p:nvSpPr>
          <p:cNvPr id="46" name="Rounded Rectangle 45"/>
          <p:cNvSpPr/>
          <p:nvPr/>
        </p:nvSpPr>
        <p:spPr>
          <a:xfrm>
            <a:off x="8732520" y="1691640"/>
            <a:ext cx="2926080" cy="4572000"/>
          </a:xfrm>
          <a:prstGeom prst="roundRect">
            <a:avLst/>
          </a:prstGeom>
          <a:solidFill>
            <a:srgbClr val="16324F"/>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42832" y="1874519"/>
            <a:ext cx="2514600" cy="4297680"/>
          </a:xfrm>
          <a:prstGeom prst="rect">
            <a:avLst/>
          </a:prstGeom>
          <a:noFill/>
        </p:spPr>
        <p:txBody>
          <a:bodyPr wrap="square" anchor="t">
            <a:spAutoFit/>
          </a:bodyPr>
          <a:lstStyle/>
          <a:p>
            <a:pPr algn="l">
              <a:spcBef>
                <a:spcPts val="0"/>
              </a:spcBef>
              <a:spcAft>
                <a:spcPts val="300"/>
              </a:spcAft>
            </a:pPr>
            <a:r>
              <a:rPr sz="3400" b="1">
                <a:solidFill>
                  <a:srgbClr val="58A6FF"/>
                </a:solidFill>
                <a:latin typeface="Calibri"/>
              </a:rPr>
              <a:t>92</a:t>
            </a:r>
          </a:p>
          <a:p>
            <a:pPr algn="l">
              <a:spcBef>
                <a:spcPts val="0"/>
              </a:spcBef>
              <a:spcAft>
                <a:spcPts val="300"/>
              </a:spcAft>
            </a:pPr>
            <a:r>
              <a:rPr sz="1250" b="0">
                <a:solidFill>
                  <a:srgbClr val="E6EDF3"/>
                </a:solidFill>
                <a:latin typeface="Calibri"/>
              </a:rPr>
              <a:t>selector types the ontology can reason about</a:t>
            </a:r>
          </a:p>
          <a:p>
            <a:pPr algn="l">
              <a:spcBef>
                <a:spcPts val="0"/>
              </a:spcBef>
              <a:spcAft>
                <a:spcPts val="300"/>
              </a:spcAft>
            </a:pPr>
            <a:r>
              <a:rPr sz="800" b="0">
                <a:solidFill>
                  <a:srgbClr val="9FB0C3"/>
                </a:solidFill>
                <a:latin typeface="Calibri"/>
              </a:rPr>
              <a:t> </a:t>
            </a:r>
          </a:p>
          <a:p>
            <a:pPr algn="l">
              <a:spcBef>
                <a:spcPts val="0"/>
              </a:spcBef>
              <a:spcAft>
                <a:spcPts val="300"/>
              </a:spcAft>
            </a:pPr>
            <a:r>
              <a:rPr sz="3400" b="1">
                <a:solidFill>
                  <a:srgbClr val="3FB950"/>
                </a:solidFill>
                <a:latin typeface="Calibri"/>
              </a:rPr>
              <a:t>58</a:t>
            </a:r>
          </a:p>
          <a:p>
            <a:pPr algn="l">
              <a:spcBef>
                <a:spcPts val="0"/>
              </a:spcBef>
              <a:spcAft>
                <a:spcPts val="300"/>
              </a:spcAft>
            </a:pPr>
            <a:r>
              <a:rPr sz="1250" b="0">
                <a:solidFill>
                  <a:srgbClr val="E6EDF3"/>
                </a:solidFill>
                <a:latin typeface="Calibri"/>
              </a:rPr>
              <a:t>runnable tools wired in</a:t>
            </a:r>
          </a:p>
          <a:p>
            <a:pPr algn="l">
              <a:spcBef>
                <a:spcPts val="0"/>
              </a:spcBef>
              <a:spcAft>
                <a:spcPts val="300"/>
              </a:spcAft>
            </a:pPr>
            <a:r>
              <a:rPr sz="800" b="0">
                <a:solidFill>
                  <a:srgbClr val="9FB0C3"/>
                </a:solidFill>
                <a:latin typeface="Calibri"/>
              </a:rPr>
              <a:t> </a:t>
            </a:r>
          </a:p>
          <a:p>
            <a:pPr algn="l">
              <a:spcBef>
                <a:spcPts val="0"/>
              </a:spcBef>
              <a:spcAft>
                <a:spcPts val="300"/>
              </a:spcAft>
            </a:pPr>
            <a:r>
              <a:rPr sz="1150" b="1">
                <a:solidFill>
                  <a:srgbClr val="3FB950"/>
                </a:solidFill>
                <a:latin typeface="Calibri"/>
              </a:rPr>
              <a:t>● live coverage</a:t>
            </a:r>
          </a:p>
          <a:p>
            <a:pPr algn="l">
              <a:spcBef>
                <a:spcPts val="0"/>
              </a:spcBef>
              <a:spcAft>
                <a:spcPts val="300"/>
              </a:spcAft>
            </a:pPr>
            <a:r>
              <a:rPr sz="1150" b="1">
                <a:solidFill>
                  <a:srgbClr val="9FB0C3"/>
                </a:solidFill>
                <a:latin typeface="Calibri"/>
              </a:rPr>
              <a:t>● roadmap</a:t>
            </a:r>
          </a:p>
          <a:p>
            <a:pPr algn="l">
              <a:spcBef>
                <a:spcPts val="0"/>
              </a:spcBef>
              <a:spcAft>
                <a:spcPts val="300"/>
              </a:spcAft>
            </a:pPr>
            <a:r>
              <a:rPr sz="800" b="0">
                <a:solidFill>
                  <a:srgbClr val="9FB0C3"/>
                </a:solidFill>
                <a:latin typeface="Calibri"/>
              </a:rPr>
              <a:t> </a:t>
            </a:r>
          </a:p>
          <a:p>
            <a:pPr algn="l">
              <a:spcBef>
                <a:spcPts val="0"/>
              </a:spcBef>
              <a:spcAft>
                <a:spcPts val="300"/>
              </a:spcAft>
            </a:pPr>
            <a:r>
              <a:rPr sz="1150" b="0">
                <a:solidFill>
                  <a:srgbClr val="9FB0C3"/>
                </a:solidFill>
                <a:latin typeface="Calibri"/>
              </a:rPr>
              <a:t>Routing: plan_collection(). Pivoting: each type declares what it YIELDS. A test enforces the ontology can't lie about what runs.</a:t>
            </a:r>
          </a:p>
        </p:txBody>
      </p:sp>
      <p:sp>
        <p:nvSpPr>
          <p:cNvPr id="48" name="TextBox 47"/>
          <p:cNvSpPr txBox="1"/>
          <p:nvPr/>
        </p:nvSpPr>
        <p:spPr>
          <a:xfrm>
            <a:off x="502920" y="6473952"/>
            <a:ext cx="7315200" cy="292608"/>
          </a:xfrm>
          <a:prstGeom prst="rect">
            <a:avLst/>
          </a:prstGeom>
          <a:noFill/>
        </p:spPr>
        <p:txBody>
          <a:bodyPr wrap="square" anchor="t">
            <a:spAutoFit/>
          </a:bodyPr>
          <a:lstStyle/>
          <a:p>
            <a:pPr algn="l">
              <a:spcBef>
                <a:spcPts val="0"/>
              </a:spcBef>
              <a:spcAft>
                <a:spcPts val="400"/>
              </a:spcAft>
            </a:pPr>
            <a:r>
              <a:rPr sz="1000" b="0">
                <a:solidFill>
                  <a:srgbClr val="9FB0C3"/>
                </a:solidFill>
                <a:latin typeface="Calibri"/>
              </a:rPr>
              <a:t>OSINT Investigator  ·  external-OSINT only  ·  runs locally</a:t>
            </a:r>
          </a:p>
        </p:txBody>
      </p:sp>
      <p:sp>
        <p:nvSpPr>
          <p:cNvPr id="49" name="TextBox 48"/>
          <p:cNvSpPr txBox="1"/>
          <p:nvPr/>
        </p:nvSpPr>
        <p:spPr>
          <a:xfrm>
            <a:off x="8321040" y="6473952"/>
            <a:ext cx="3337560" cy="292608"/>
          </a:xfrm>
          <a:prstGeom prst="rect">
            <a:avLst/>
          </a:prstGeom>
          <a:noFill/>
        </p:spPr>
        <p:txBody>
          <a:bodyPr wrap="square" anchor="t">
            <a:spAutoFit/>
          </a:bodyPr>
          <a:lstStyle/>
          <a:p>
            <a:pPr algn="r">
              <a:spcBef>
                <a:spcPts val="0"/>
              </a:spcBef>
              <a:spcAft>
                <a:spcPts val="400"/>
              </a:spcAft>
            </a:pPr>
            <a:r>
              <a:rPr sz="1000" b="0">
                <a:solidFill>
                  <a:srgbClr val="9FB0C3"/>
                </a:solidFill>
                <a:latin typeface="Calibri"/>
              </a:rPr>
              <a:t>Ontology → categories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109728"/>
          </a:xfrm>
          <a:prstGeom prst="round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365760"/>
          </a:xfrm>
          <a:prstGeom prst="rect">
            <a:avLst/>
          </a:prstGeom>
          <a:noFill/>
        </p:spPr>
        <p:txBody>
          <a:bodyPr wrap="square" anchor="t">
            <a:spAutoFit/>
          </a:bodyPr>
          <a:lstStyle/>
          <a:p>
            <a:pPr algn="l">
              <a:spcBef>
                <a:spcPts val="0"/>
              </a:spcBef>
              <a:spcAft>
                <a:spcPts val="400"/>
              </a:spcAft>
            </a:pPr>
            <a:r>
              <a:rPr sz="1300" b="1">
                <a:solidFill>
                  <a:srgbClr val="58A6FF"/>
                </a:solidFill>
                <a:latin typeface="Calibri"/>
              </a:rPr>
              <a:t>THE TOOLS</a:t>
            </a:r>
          </a:p>
        </p:txBody>
      </p:sp>
      <p:sp>
        <p:nvSpPr>
          <p:cNvPr id="5" name="TextBox 4"/>
          <p:cNvSpPr txBox="1"/>
          <p:nvPr/>
        </p:nvSpPr>
        <p:spPr>
          <a:xfrm>
            <a:off x="502920" y="603504"/>
            <a:ext cx="11155680" cy="822960"/>
          </a:xfrm>
          <a:prstGeom prst="rect">
            <a:avLst/>
          </a:prstGeom>
          <a:noFill/>
        </p:spPr>
        <p:txBody>
          <a:bodyPr wrap="square" anchor="t">
            <a:spAutoFit/>
          </a:bodyPr>
          <a:lstStyle/>
          <a:p>
            <a:pPr algn="l">
              <a:spcBef>
                <a:spcPts val="0"/>
              </a:spcBef>
              <a:spcAft>
                <a:spcPts val="400"/>
              </a:spcAft>
            </a:pPr>
            <a:r>
              <a:rPr sz="2700" b="1">
                <a:solidFill>
                  <a:srgbClr val="FFFFFF"/>
                </a:solidFill>
                <a:latin typeface="Calibri"/>
              </a:rPr>
              <a:t>A sample of the 58 tools running now — real names, grouped by selector</a:t>
            </a:r>
          </a:p>
        </p:txBody>
      </p:sp>
      <p:sp>
        <p:nvSpPr>
          <p:cNvPr id="6" name="Rounded Rectangle 5"/>
          <p:cNvSpPr/>
          <p:nvPr/>
        </p:nvSpPr>
        <p:spPr>
          <a:xfrm>
            <a:off x="502920" y="1645920"/>
            <a:ext cx="11155680" cy="73152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28216"/>
            <a:ext cx="2834640" cy="548640"/>
          </a:xfrm>
          <a:prstGeom prst="rect">
            <a:avLst/>
          </a:prstGeom>
          <a:noFill/>
        </p:spPr>
        <p:txBody>
          <a:bodyPr wrap="square" anchor="t">
            <a:spAutoFit/>
          </a:bodyPr>
          <a:lstStyle/>
          <a:p>
            <a:pPr algn="l">
              <a:spcBef>
                <a:spcPts val="0"/>
              </a:spcBef>
              <a:spcAft>
                <a:spcPts val="400"/>
              </a:spcAft>
            </a:pPr>
            <a:r>
              <a:rPr sz="1300" b="1">
                <a:solidFill>
                  <a:srgbClr val="3FB950"/>
                </a:solidFill>
                <a:latin typeface="Calibri"/>
              </a:rPr>
              <a:t>DOMAIN (16)</a:t>
            </a:r>
          </a:p>
        </p:txBody>
      </p:sp>
      <p:sp>
        <p:nvSpPr>
          <p:cNvPr id="8" name="TextBox 7"/>
          <p:cNvSpPr txBox="1"/>
          <p:nvPr/>
        </p:nvSpPr>
        <p:spPr>
          <a:xfrm>
            <a:off x="3383280" y="1719072"/>
            <a:ext cx="8138160" cy="594360"/>
          </a:xfrm>
          <a:prstGeom prst="rect">
            <a:avLst/>
          </a:prstGeom>
          <a:noFill/>
        </p:spPr>
        <p:txBody>
          <a:bodyPr wrap="square" anchor="t">
            <a:spAutoFit/>
          </a:bodyPr>
          <a:lstStyle/>
          <a:p>
            <a:pPr algn="l">
              <a:spcBef>
                <a:spcPts val="0"/>
              </a:spcBef>
              <a:spcAft>
                <a:spcPts val="400"/>
              </a:spcAft>
            </a:pPr>
            <a:r>
              <a:rPr sz="1150" b="0">
                <a:solidFill>
                  <a:srgbClr val="E6EDF3"/>
                </a:solidFill>
                <a:latin typeface="Calibri"/>
              </a:rPr>
              <a:t>whois_lookup · rdap · dns_lookup · dnsrecon · crtsh · certspotter · tls_cert · http_title · urlscan · wayback · theharvester · cloud_buckets · web_tech_fingerprint</a:t>
            </a:r>
          </a:p>
        </p:txBody>
      </p:sp>
      <p:sp>
        <p:nvSpPr>
          <p:cNvPr id="9" name="Rounded Rectangle 8"/>
          <p:cNvSpPr/>
          <p:nvPr/>
        </p:nvSpPr>
        <p:spPr>
          <a:xfrm>
            <a:off x="502920" y="2414016"/>
            <a:ext cx="11155680" cy="731520"/>
          </a:xfrm>
          <a:prstGeom prst="roundRect">
            <a:avLst/>
          </a:prstGeom>
          <a:solidFill>
            <a:srgbClr val="10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496312"/>
            <a:ext cx="2834640" cy="548640"/>
          </a:xfrm>
          <a:prstGeom prst="rect">
            <a:avLst/>
          </a:prstGeom>
          <a:noFill/>
        </p:spPr>
        <p:txBody>
          <a:bodyPr wrap="square" anchor="t">
            <a:spAutoFit/>
          </a:bodyPr>
          <a:lstStyle/>
          <a:p>
            <a:pPr algn="l">
              <a:spcBef>
                <a:spcPts val="0"/>
              </a:spcBef>
              <a:spcAft>
                <a:spcPts val="400"/>
              </a:spcAft>
            </a:pPr>
            <a:r>
              <a:rPr sz="1300" b="1">
                <a:solidFill>
                  <a:srgbClr val="58A6FF"/>
                </a:solidFill>
                <a:latin typeface="Calibri"/>
              </a:rPr>
              <a:t>IP (11)</a:t>
            </a:r>
          </a:p>
        </p:txBody>
      </p:sp>
      <p:sp>
        <p:nvSpPr>
          <p:cNvPr id="11" name="TextBox 10"/>
          <p:cNvSpPr txBox="1"/>
          <p:nvPr/>
        </p:nvSpPr>
        <p:spPr>
          <a:xfrm>
            <a:off x="3383280" y="2487168"/>
            <a:ext cx="8138160" cy="594360"/>
          </a:xfrm>
          <a:prstGeom prst="rect">
            <a:avLst/>
          </a:prstGeom>
          <a:noFill/>
        </p:spPr>
        <p:txBody>
          <a:bodyPr wrap="square" anchor="t">
            <a:spAutoFit/>
          </a:bodyPr>
          <a:lstStyle/>
          <a:p>
            <a:pPr algn="l">
              <a:spcBef>
                <a:spcPts val="0"/>
              </a:spcBef>
              <a:spcAft>
                <a:spcPts val="400"/>
              </a:spcAft>
            </a:pPr>
            <a:r>
              <a:rPr sz="1150" b="0">
                <a:solidFill>
                  <a:srgbClr val="E6EDF3"/>
                </a:solidFill>
                <a:latin typeface="Calibri"/>
              </a:rPr>
              <a:t>ip_geolocation · ipinfo · shodan_internetdb · reverse_dns · ripestat_network · bgpview_ip · greynoise_community · reverse_ip · robtex_ip · urlscan</a:t>
            </a:r>
          </a:p>
        </p:txBody>
      </p:sp>
      <p:sp>
        <p:nvSpPr>
          <p:cNvPr id="12" name="Rounded Rectangle 11"/>
          <p:cNvSpPr/>
          <p:nvPr/>
        </p:nvSpPr>
        <p:spPr>
          <a:xfrm>
            <a:off x="502920" y="3182112"/>
            <a:ext cx="11155680" cy="73152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264408"/>
            <a:ext cx="2834640" cy="548640"/>
          </a:xfrm>
          <a:prstGeom prst="rect">
            <a:avLst/>
          </a:prstGeom>
          <a:noFill/>
        </p:spPr>
        <p:txBody>
          <a:bodyPr wrap="square" anchor="t">
            <a:spAutoFit/>
          </a:bodyPr>
          <a:lstStyle/>
          <a:p>
            <a:pPr algn="l">
              <a:spcBef>
                <a:spcPts val="0"/>
              </a:spcBef>
              <a:spcAft>
                <a:spcPts val="400"/>
              </a:spcAft>
            </a:pPr>
            <a:r>
              <a:rPr sz="1300" b="1">
                <a:solidFill>
                  <a:srgbClr val="BC8CFF"/>
                </a:solidFill>
                <a:latin typeface="Calibri"/>
              </a:rPr>
              <a:t>USERNAME (8)</a:t>
            </a:r>
          </a:p>
        </p:txBody>
      </p:sp>
      <p:sp>
        <p:nvSpPr>
          <p:cNvPr id="14" name="TextBox 13"/>
          <p:cNvSpPr txBox="1"/>
          <p:nvPr/>
        </p:nvSpPr>
        <p:spPr>
          <a:xfrm>
            <a:off x="3383280" y="3255264"/>
            <a:ext cx="8138160" cy="594360"/>
          </a:xfrm>
          <a:prstGeom prst="rect">
            <a:avLst/>
          </a:prstGeom>
          <a:noFill/>
        </p:spPr>
        <p:txBody>
          <a:bodyPr wrap="square" anchor="t">
            <a:spAutoFit/>
          </a:bodyPr>
          <a:lstStyle/>
          <a:p>
            <a:pPr algn="l">
              <a:spcBef>
                <a:spcPts val="0"/>
              </a:spcBef>
              <a:spcAft>
                <a:spcPts val="400"/>
              </a:spcAft>
            </a:pPr>
            <a:r>
              <a:rPr sz="1150" b="0">
                <a:solidFill>
                  <a:srgbClr val="E6EDF3"/>
                </a:solidFill>
                <a:latin typeface="Calibri"/>
              </a:rPr>
              <a:t>sherlock · maigret · naminter · linkook · socialscan · github_user · reddit_about · google_dork_generator</a:t>
            </a:r>
          </a:p>
        </p:txBody>
      </p:sp>
      <p:sp>
        <p:nvSpPr>
          <p:cNvPr id="15" name="Rounded Rectangle 14"/>
          <p:cNvSpPr/>
          <p:nvPr/>
        </p:nvSpPr>
        <p:spPr>
          <a:xfrm>
            <a:off x="502920" y="3950208"/>
            <a:ext cx="11155680" cy="731520"/>
          </a:xfrm>
          <a:prstGeom prst="roundRect">
            <a:avLst/>
          </a:prstGeom>
          <a:solidFill>
            <a:srgbClr val="10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032504"/>
            <a:ext cx="2834640" cy="548640"/>
          </a:xfrm>
          <a:prstGeom prst="rect">
            <a:avLst/>
          </a:prstGeom>
          <a:noFill/>
        </p:spPr>
        <p:txBody>
          <a:bodyPr wrap="square" anchor="t">
            <a:spAutoFit/>
          </a:bodyPr>
          <a:lstStyle/>
          <a:p>
            <a:pPr algn="l">
              <a:spcBef>
                <a:spcPts val="0"/>
              </a:spcBef>
              <a:spcAft>
                <a:spcPts val="400"/>
              </a:spcAft>
            </a:pPr>
            <a:r>
              <a:rPr sz="1300" b="1">
                <a:solidFill>
                  <a:srgbClr val="F778BA"/>
                </a:solidFill>
                <a:latin typeface="Calibri"/>
              </a:rPr>
              <a:t>EMAIL (8)</a:t>
            </a:r>
          </a:p>
        </p:txBody>
      </p:sp>
      <p:sp>
        <p:nvSpPr>
          <p:cNvPr id="17" name="TextBox 16"/>
          <p:cNvSpPr txBox="1"/>
          <p:nvPr/>
        </p:nvSpPr>
        <p:spPr>
          <a:xfrm>
            <a:off x="3383280" y="4023360"/>
            <a:ext cx="8138160" cy="594360"/>
          </a:xfrm>
          <a:prstGeom prst="rect">
            <a:avLst/>
          </a:prstGeom>
          <a:noFill/>
        </p:spPr>
        <p:txBody>
          <a:bodyPr wrap="square" anchor="t">
            <a:spAutoFit/>
          </a:bodyPr>
          <a:lstStyle/>
          <a:p>
            <a:pPr algn="l">
              <a:spcBef>
                <a:spcPts val="0"/>
              </a:spcBef>
              <a:spcAft>
                <a:spcPts val="400"/>
              </a:spcAft>
            </a:pPr>
            <a:r>
              <a:rPr sz="1150" b="0">
                <a:solidFill>
                  <a:srgbClr val="E6EDF3"/>
                </a:solidFill>
                <a:latin typeface="Calibri"/>
              </a:rPr>
              <a:t>holehe · user_scanner · hudsonrock_email · xposedornot_email · disify · socialscan · gravatar_check · pgp_keyserver</a:t>
            </a:r>
          </a:p>
        </p:txBody>
      </p:sp>
      <p:sp>
        <p:nvSpPr>
          <p:cNvPr id="18" name="Rounded Rectangle 17"/>
          <p:cNvSpPr/>
          <p:nvPr/>
        </p:nvSpPr>
        <p:spPr>
          <a:xfrm>
            <a:off x="502920" y="4718304"/>
            <a:ext cx="11155680" cy="73152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800600"/>
            <a:ext cx="2834640" cy="548640"/>
          </a:xfrm>
          <a:prstGeom prst="rect">
            <a:avLst/>
          </a:prstGeom>
          <a:noFill/>
        </p:spPr>
        <p:txBody>
          <a:bodyPr wrap="square" anchor="t">
            <a:spAutoFit/>
          </a:bodyPr>
          <a:lstStyle/>
          <a:p>
            <a:pPr algn="l">
              <a:spcBef>
                <a:spcPts val="0"/>
              </a:spcBef>
              <a:spcAft>
                <a:spcPts val="400"/>
              </a:spcAft>
            </a:pPr>
            <a:r>
              <a:rPr sz="1300" b="1">
                <a:solidFill>
                  <a:srgbClr val="D29922"/>
                </a:solidFill>
                <a:latin typeface="Calibri"/>
              </a:rPr>
              <a:t>NAME / COMPANY (11)</a:t>
            </a:r>
          </a:p>
        </p:txBody>
      </p:sp>
      <p:sp>
        <p:nvSpPr>
          <p:cNvPr id="20" name="TextBox 19"/>
          <p:cNvSpPr txBox="1"/>
          <p:nvPr/>
        </p:nvSpPr>
        <p:spPr>
          <a:xfrm>
            <a:off x="3383280" y="4791456"/>
            <a:ext cx="8138160" cy="594360"/>
          </a:xfrm>
          <a:prstGeom prst="rect">
            <a:avLst/>
          </a:prstGeom>
          <a:noFill/>
        </p:spPr>
        <p:txBody>
          <a:bodyPr wrap="square" anchor="t">
            <a:spAutoFit/>
          </a:bodyPr>
          <a:lstStyle/>
          <a:p>
            <a:pPr algn="l">
              <a:spcBef>
                <a:spcPts val="0"/>
              </a:spcBef>
              <a:spcAft>
                <a:spcPts val="400"/>
              </a:spcAft>
            </a:pPr>
            <a:r>
              <a:rPr sz="1150" b="0">
                <a:solidFill>
                  <a:srgbClr val="E6EDF3"/>
                </a:solidFill>
                <a:latin typeface="Calibri"/>
              </a:rPr>
              <a:t>wikipedia_search · wikidata_search · gleif_lei · sec_edgar_fts · aleph_occrp · courtlistener_search · hibp_name_search · name_to_username</a:t>
            </a:r>
          </a:p>
        </p:txBody>
      </p:sp>
      <p:sp>
        <p:nvSpPr>
          <p:cNvPr id="21" name="Rounded Rectangle 20"/>
          <p:cNvSpPr/>
          <p:nvPr/>
        </p:nvSpPr>
        <p:spPr>
          <a:xfrm>
            <a:off x="502920" y="5486400"/>
            <a:ext cx="11155680" cy="731520"/>
          </a:xfrm>
          <a:prstGeom prst="roundRect">
            <a:avLst/>
          </a:prstGeom>
          <a:solidFill>
            <a:srgbClr val="10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568696"/>
            <a:ext cx="2834640" cy="548640"/>
          </a:xfrm>
          <a:prstGeom prst="rect">
            <a:avLst/>
          </a:prstGeom>
          <a:noFill/>
        </p:spPr>
        <p:txBody>
          <a:bodyPr wrap="square" anchor="t">
            <a:spAutoFit/>
          </a:bodyPr>
          <a:lstStyle/>
          <a:p>
            <a:pPr algn="l">
              <a:spcBef>
                <a:spcPts val="0"/>
              </a:spcBef>
              <a:spcAft>
                <a:spcPts val="400"/>
              </a:spcAft>
            </a:pPr>
            <a:r>
              <a:rPr sz="1300" b="1">
                <a:solidFill>
                  <a:srgbClr val="E6EDF3"/>
                </a:solidFill>
                <a:latin typeface="Calibri"/>
              </a:rPr>
              <a:t>PHONE · CRYPTO · IMAGE · TRACKER</a:t>
            </a:r>
          </a:p>
        </p:txBody>
      </p:sp>
      <p:sp>
        <p:nvSpPr>
          <p:cNvPr id="23" name="TextBox 22"/>
          <p:cNvSpPr txBox="1"/>
          <p:nvPr/>
        </p:nvSpPr>
        <p:spPr>
          <a:xfrm>
            <a:off x="3383280" y="5559552"/>
            <a:ext cx="8138160" cy="594360"/>
          </a:xfrm>
          <a:prstGeom prst="rect">
            <a:avLst/>
          </a:prstGeom>
          <a:noFill/>
        </p:spPr>
        <p:txBody>
          <a:bodyPr wrap="square" anchor="t">
            <a:spAutoFit/>
          </a:bodyPr>
          <a:lstStyle/>
          <a:p>
            <a:pPr algn="l">
              <a:spcBef>
                <a:spcPts val="0"/>
              </a:spcBef>
              <a:spcAft>
                <a:spcPts val="400"/>
              </a:spcAft>
            </a:pPr>
            <a:r>
              <a:rPr sz="1150" b="0">
                <a:solidFill>
                  <a:srgbClr val="E6EDF3"/>
                </a:solidFill>
                <a:latin typeface="Calibri"/>
              </a:rPr>
              <a:t>phonenumbers · ignorant · phoneinfoga · blockstream_btc · blockchain_btc · exiftool · web_tech_fingerprint · tracker_reverse</a:t>
            </a:r>
          </a:p>
        </p:txBody>
      </p:sp>
      <p:sp>
        <p:nvSpPr>
          <p:cNvPr id="24" name="TextBox 23"/>
          <p:cNvSpPr txBox="1"/>
          <p:nvPr/>
        </p:nvSpPr>
        <p:spPr>
          <a:xfrm>
            <a:off x="502920" y="6172200"/>
            <a:ext cx="11155680" cy="365760"/>
          </a:xfrm>
          <a:prstGeom prst="rect">
            <a:avLst/>
          </a:prstGeom>
          <a:noFill/>
        </p:spPr>
        <p:txBody>
          <a:bodyPr wrap="square" anchor="t">
            <a:spAutoFit/>
          </a:bodyPr>
          <a:lstStyle/>
          <a:p>
            <a:pPr algn="l">
              <a:spcBef>
                <a:spcPts val="0"/>
              </a:spcBef>
              <a:spcAft>
                <a:spcPts val="400"/>
              </a:spcAft>
            </a:pPr>
            <a:r>
              <a:rPr sz="1100" b="0">
                <a:solidFill>
                  <a:srgbClr val="9FB0C3"/>
                </a:solidFill>
                <a:latin typeface="Calibri"/>
              </a:rPr>
              <a:t>Each tool is a small declarative spec (endpoint + parser). Optional CLIs and keyed APIs degrade gracefully — the system runs with zero keys.</a:t>
            </a:r>
          </a:p>
        </p:txBody>
      </p:sp>
      <p:sp>
        <p:nvSpPr>
          <p:cNvPr id="25" name="TextBox 24"/>
          <p:cNvSpPr txBox="1"/>
          <p:nvPr/>
        </p:nvSpPr>
        <p:spPr>
          <a:xfrm>
            <a:off x="502920" y="6473952"/>
            <a:ext cx="7315200" cy="292608"/>
          </a:xfrm>
          <a:prstGeom prst="rect">
            <a:avLst/>
          </a:prstGeom>
          <a:noFill/>
        </p:spPr>
        <p:txBody>
          <a:bodyPr wrap="square" anchor="t">
            <a:spAutoFit/>
          </a:bodyPr>
          <a:lstStyle/>
          <a:p>
            <a:pPr algn="l">
              <a:spcBef>
                <a:spcPts val="0"/>
              </a:spcBef>
              <a:spcAft>
                <a:spcPts val="400"/>
              </a:spcAft>
            </a:pPr>
            <a:r>
              <a:rPr sz="1000" b="0">
                <a:solidFill>
                  <a:srgbClr val="9FB0C3"/>
                </a:solidFill>
                <a:latin typeface="Calibri"/>
              </a:rPr>
              <a:t>OSINT Investigator  ·  external-OSINT only  ·  runs locally</a:t>
            </a:r>
          </a:p>
        </p:txBody>
      </p:sp>
      <p:sp>
        <p:nvSpPr>
          <p:cNvPr id="26" name="TextBox 25"/>
          <p:cNvSpPr txBox="1"/>
          <p:nvPr/>
        </p:nvSpPr>
        <p:spPr>
          <a:xfrm>
            <a:off x="8321040" y="6473952"/>
            <a:ext cx="3337560" cy="292608"/>
          </a:xfrm>
          <a:prstGeom prst="rect">
            <a:avLst/>
          </a:prstGeom>
          <a:noFill/>
        </p:spPr>
        <p:txBody>
          <a:bodyPr wrap="square" anchor="t">
            <a:spAutoFit/>
          </a:bodyPr>
          <a:lstStyle/>
          <a:p>
            <a:pPr algn="r">
              <a:spcBef>
                <a:spcPts val="0"/>
              </a:spcBef>
              <a:spcAft>
                <a:spcPts val="400"/>
              </a:spcAft>
            </a:pPr>
            <a:r>
              <a:rPr sz="1000" b="0">
                <a:solidFill>
                  <a:srgbClr val="9FB0C3"/>
                </a:solidFill>
                <a:latin typeface="Calibri"/>
              </a:rPr>
              <a:t>Tools in use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109728"/>
          </a:xfrm>
          <a:prstGeom prst="round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365760"/>
          </a:xfrm>
          <a:prstGeom prst="rect">
            <a:avLst/>
          </a:prstGeom>
          <a:noFill/>
        </p:spPr>
        <p:txBody>
          <a:bodyPr wrap="square" anchor="t">
            <a:spAutoFit/>
          </a:bodyPr>
          <a:lstStyle/>
          <a:p>
            <a:pPr algn="l">
              <a:spcBef>
                <a:spcPts val="0"/>
              </a:spcBef>
              <a:spcAft>
                <a:spcPts val="400"/>
              </a:spcAft>
            </a:pPr>
            <a:r>
              <a:rPr sz="1300" b="1">
                <a:solidFill>
                  <a:srgbClr val="58A6FF"/>
                </a:solidFill>
                <a:latin typeface="Calibri"/>
              </a:rPr>
              <a:t>SOFTWARE LAYDOWN</a:t>
            </a:r>
          </a:p>
        </p:txBody>
      </p:sp>
      <p:sp>
        <p:nvSpPr>
          <p:cNvPr id="5" name="TextBox 4"/>
          <p:cNvSpPr txBox="1"/>
          <p:nvPr/>
        </p:nvSpPr>
        <p:spPr>
          <a:xfrm>
            <a:off x="502920" y="603504"/>
            <a:ext cx="11155680" cy="822960"/>
          </a:xfrm>
          <a:prstGeom prst="rect">
            <a:avLst/>
          </a:prstGeom>
          <a:noFill/>
        </p:spPr>
        <p:txBody>
          <a:bodyPr wrap="square" anchor="t">
            <a:spAutoFit/>
          </a:bodyPr>
          <a:lstStyle/>
          <a:p>
            <a:pPr algn="l">
              <a:spcBef>
                <a:spcPts val="0"/>
              </a:spcBef>
              <a:spcAft>
                <a:spcPts val="400"/>
              </a:spcAft>
            </a:pPr>
            <a:r>
              <a:rPr sz="2700" b="1">
                <a:solidFill>
                  <a:srgbClr val="FFFFFF"/>
                </a:solidFill>
                <a:latin typeface="Calibri"/>
              </a:rPr>
              <a:t>Small, auditable, standard — pure-Python engine</a:t>
            </a:r>
          </a:p>
        </p:txBody>
      </p:sp>
      <p:sp>
        <p:nvSpPr>
          <p:cNvPr id="6" name="TextBox 5"/>
          <p:cNvSpPr txBox="1"/>
          <p:nvPr/>
        </p:nvSpPr>
        <p:spPr>
          <a:xfrm>
            <a:off x="502920" y="1645920"/>
            <a:ext cx="5486400" cy="365760"/>
          </a:xfrm>
          <a:prstGeom prst="rect">
            <a:avLst/>
          </a:prstGeom>
          <a:noFill/>
        </p:spPr>
        <p:txBody>
          <a:bodyPr wrap="square" anchor="t">
            <a:spAutoFit/>
          </a:bodyPr>
          <a:lstStyle/>
          <a:p>
            <a:pPr algn="l">
              <a:spcBef>
                <a:spcPts val="0"/>
              </a:spcBef>
              <a:spcAft>
                <a:spcPts val="400"/>
              </a:spcAft>
            </a:pPr>
            <a:r>
              <a:rPr sz="1300" b="1">
                <a:solidFill>
                  <a:srgbClr val="3FB950"/>
                </a:solidFill>
                <a:latin typeface="Calibri"/>
              </a:rPr>
              <a:t>CORE DEPENDENCIES (7, pinned in requirements.txt)</a:t>
            </a:r>
          </a:p>
        </p:txBody>
      </p:sp>
      <p:sp>
        <p:nvSpPr>
          <p:cNvPr id="7" name="Rounded Rectangle 6"/>
          <p:cNvSpPr/>
          <p:nvPr/>
        </p:nvSpPr>
        <p:spPr>
          <a:xfrm>
            <a:off x="502920" y="2057400"/>
            <a:ext cx="5486400" cy="45720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30552"/>
            <a:ext cx="2103120" cy="365760"/>
          </a:xfrm>
          <a:prstGeom prst="rect">
            <a:avLst/>
          </a:prstGeom>
          <a:noFill/>
        </p:spPr>
        <p:txBody>
          <a:bodyPr wrap="square" anchor="t">
            <a:spAutoFit/>
          </a:bodyPr>
          <a:lstStyle/>
          <a:p>
            <a:pPr algn="l">
              <a:spcBef>
                <a:spcPts val="0"/>
              </a:spcBef>
              <a:spcAft>
                <a:spcPts val="400"/>
              </a:spcAft>
            </a:pPr>
            <a:r>
              <a:rPr sz="1350" b="1">
                <a:solidFill>
                  <a:srgbClr val="58A6FF"/>
                </a:solidFill>
                <a:latin typeface="Calibri"/>
              </a:rPr>
              <a:t>requests</a:t>
            </a:r>
          </a:p>
        </p:txBody>
      </p:sp>
      <p:sp>
        <p:nvSpPr>
          <p:cNvPr id="9" name="TextBox 8"/>
          <p:cNvSpPr txBox="1"/>
          <p:nvPr/>
        </p:nvSpPr>
        <p:spPr>
          <a:xfrm>
            <a:off x="2743200" y="2139696"/>
            <a:ext cx="3108960" cy="365760"/>
          </a:xfrm>
          <a:prstGeom prst="rect">
            <a:avLst/>
          </a:prstGeom>
          <a:noFill/>
        </p:spPr>
        <p:txBody>
          <a:bodyPr wrap="square" anchor="t">
            <a:spAutoFit/>
          </a:bodyPr>
          <a:lstStyle/>
          <a:p>
            <a:pPr algn="l">
              <a:spcBef>
                <a:spcPts val="0"/>
              </a:spcBef>
              <a:spcAft>
                <a:spcPts val="400"/>
              </a:spcAft>
            </a:pPr>
            <a:r>
              <a:rPr sz="1200" b="0">
                <a:solidFill>
                  <a:srgbClr val="9FB0C3"/>
                </a:solidFill>
                <a:latin typeface="Calibri"/>
              </a:rPr>
              <a:t>HTTP client for all API tools</a:t>
            </a:r>
          </a:p>
        </p:txBody>
      </p:sp>
      <p:sp>
        <p:nvSpPr>
          <p:cNvPr id="10" name="Rounded Rectangle 9"/>
          <p:cNvSpPr/>
          <p:nvPr/>
        </p:nvSpPr>
        <p:spPr>
          <a:xfrm>
            <a:off x="502920" y="2551176"/>
            <a:ext cx="5486400" cy="457200"/>
          </a:xfrm>
          <a:prstGeom prst="roundRect">
            <a:avLst/>
          </a:prstGeom>
          <a:solidFill>
            <a:srgbClr val="10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624328"/>
            <a:ext cx="2103120" cy="365760"/>
          </a:xfrm>
          <a:prstGeom prst="rect">
            <a:avLst/>
          </a:prstGeom>
          <a:noFill/>
        </p:spPr>
        <p:txBody>
          <a:bodyPr wrap="square" anchor="t">
            <a:spAutoFit/>
          </a:bodyPr>
          <a:lstStyle/>
          <a:p>
            <a:pPr algn="l">
              <a:spcBef>
                <a:spcPts val="0"/>
              </a:spcBef>
              <a:spcAft>
                <a:spcPts val="400"/>
              </a:spcAft>
            </a:pPr>
            <a:r>
              <a:rPr sz="1350" b="1">
                <a:solidFill>
                  <a:srgbClr val="58A6FF"/>
                </a:solidFill>
                <a:latin typeface="Calibri"/>
              </a:rPr>
              <a:t>networkx</a:t>
            </a:r>
          </a:p>
        </p:txBody>
      </p:sp>
      <p:sp>
        <p:nvSpPr>
          <p:cNvPr id="12" name="TextBox 11"/>
          <p:cNvSpPr txBox="1"/>
          <p:nvPr/>
        </p:nvSpPr>
        <p:spPr>
          <a:xfrm>
            <a:off x="2743200" y="2633472"/>
            <a:ext cx="3108960" cy="365760"/>
          </a:xfrm>
          <a:prstGeom prst="rect">
            <a:avLst/>
          </a:prstGeom>
          <a:noFill/>
        </p:spPr>
        <p:txBody>
          <a:bodyPr wrap="square" anchor="t">
            <a:spAutoFit/>
          </a:bodyPr>
          <a:lstStyle/>
          <a:p>
            <a:pPr algn="l">
              <a:spcBef>
                <a:spcPts val="0"/>
              </a:spcBef>
              <a:spcAft>
                <a:spcPts val="400"/>
              </a:spcAft>
            </a:pPr>
            <a:r>
              <a:rPr sz="1200" b="0">
                <a:solidFill>
                  <a:srgbClr val="9FB0C3"/>
                </a:solidFill>
                <a:latin typeface="Calibri"/>
              </a:rPr>
              <a:t>the investigation graph</a:t>
            </a:r>
          </a:p>
        </p:txBody>
      </p:sp>
      <p:sp>
        <p:nvSpPr>
          <p:cNvPr id="13" name="Rounded Rectangle 12"/>
          <p:cNvSpPr/>
          <p:nvPr/>
        </p:nvSpPr>
        <p:spPr>
          <a:xfrm>
            <a:off x="502920" y="3044952"/>
            <a:ext cx="5486400" cy="45720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118104"/>
            <a:ext cx="2103120" cy="365760"/>
          </a:xfrm>
          <a:prstGeom prst="rect">
            <a:avLst/>
          </a:prstGeom>
          <a:noFill/>
        </p:spPr>
        <p:txBody>
          <a:bodyPr wrap="square" anchor="t">
            <a:spAutoFit/>
          </a:bodyPr>
          <a:lstStyle/>
          <a:p>
            <a:pPr algn="l">
              <a:spcBef>
                <a:spcPts val="0"/>
              </a:spcBef>
              <a:spcAft>
                <a:spcPts val="400"/>
              </a:spcAft>
            </a:pPr>
            <a:r>
              <a:rPr sz="1350" b="1">
                <a:solidFill>
                  <a:srgbClr val="58A6FF"/>
                </a:solidFill>
                <a:latin typeface="Calibri"/>
              </a:rPr>
              <a:t>python-whois</a:t>
            </a:r>
          </a:p>
        </p:txBody>
      </p:sp>
      <p:sp>
        <p:nvSpPr>
          <p:cNvPr id="15" name="TextBox 14"/>
          <p:cNvSpPr txBox="1"/>
          <p:nvPr/>
        </p:nvSpPr>
        <p:spPr>
          <a:xfrm>
            <a:off x="2743200" y="3127248"/>
            <a:ext cx="3108960" cy="365760"/>
          </a:xfrm>
          <a:prstGeom prst="rect">
            <a:avLst/>
          </a:prstGeom>
          <a:noFill/>
        </p:spPr>
        <p:txBody>
          <a:bodyPr wrap="square" anchor="t">
            <a:spAutoFit/>
          </a:bodyPr>
          <a:lstStyle/>
          <a:p>
            <a:pPr algn="l">
              <a:spcBef>
                <a:spcPts val="0"/>
              </a:spcBef>
              <a:spcAft>
                <a:spcPts val="400"/>
              </a:spcAft>
            </a:pPr>
            <a:r>
              <a:rPr sz="1200" b="0">
                <a:solidFill>
                  <a:srgbClr val="9FB0C3"/>
                </a:solidFill>
                <a:latin typeface="Calibri"/>
              </a:rPr>
              <a:t>WHOIS lookups</a:t>
            </a:r>
          </a:p>
        </p:txBody>
      </p:sp>
      <p:sp>
        <p:nvSpPr>
          <p:cNvPr id="16" name="Rounded Rectangle 15"/>
          <p:cNvSpPr/>
          <p:nvPr/>
        </p:nvSpPr>
        <p:spPr>
          <a:xfrm>
            <a:off x="502920" y="3538728"/>
            <a:ext cx="5486400" cy="457200"/>
          </a:xfrm>
          <a:prstGeom prst="roundRect">
            <a:avLst/>
          </a:prstGeom>
          <a:solidFill>
            <a:srgbClr val="10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611880"/>
            <a:ext cx="2103120" cy="365760"/>
          </a:xfrm>
          <a:prstGeom prst="rect">
            <a:avLst/>
          </a:prstGeom>
          <a:noFill/>
        </p:spPr>
        <p:txBody>
          <a:bodyPr wrap="square" anchor="t">
            <a:spAutoFit/>
          </a:bodyPr>
          <a:lstStyle/>
          <a:p>
            <a:pPr algn="l">
              <a:spcBef>
                <a:spcPts val="0"/>
              </a:spcBef>
              <a:spcAft>
                <a:spcPts val="400"/>
              </a:spcAft>
            </a:pPr>
            <a:r>
              <a:rPr sz="1350" b="1">
                <a:solidFill>
                  <a:srgbClr val="58A6FF"/>
                </a:solidFill>
                <a:latin typeface="Calibri"/>
              </a:rPr>
              <a:t>dnspython</a:t>
            </a:r>
          </a:p>
        </p:txBody>
      </p:sp>
      <p:sp>
        <p:nvSpPr>
          <p:cNvPr id="18" name="TextBox 17"/>
          <p:cNvSpPr txBox="1"/>
          <p:nvPr/>
        </p:nvSpPr>
        <p:spPr>
          <a:xfrm>
            <a:off x="2743200" y="3621024"/>
            <a:ext cx="3108960" cy="365760"/>
          </a:xfrm>
          <a:prstGeom prst="rect">
            <a:avLst/>
          </a:prstGeom>
          <a:noFill/>
        </p:spPr>
        <p:txBody>
          <a:bodyPr wrap="square" anchor="t">
            <a:spAutoFit/>
          </a:bodyPr>
          <a:lstStyle/>
          <a:p>
            <a:pPr algn="l">
              <a:spcBef>
                <a:spcPts val="0"/>
              </a:spcBef>
              <a:spcAft>
                <a:spcPts val="400"/>
              </a:spcAft>
            </a:pPr>
            <a:r>
              <a:rPr sz="1200" b="0">
                <a:solidFill>
                  <a:srgbClr val="9FB0C3"/>
                </a:solidFill>
                <a:latin typeface="Calibri"/>
              </a:rPr>
              <a:t>DNS records</a:t>
            </a:r>
          </a:p>
        </p:txBody>
      </p:sp>
      <p:sp>
        <p:nvSpPr>
          <p:cNvPr id="19" name="Rounded Rectangle 18"/>
          <p:cNvSpPr/>
          <p:nvPr/>
        </p:nvSpPr>
        <p:spPr>
          <a:xfrm>
            <a:off x="502920" y="4032504"/>
            <a:ext cx="5486400" cy="45720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105656"/>
            <a:ext cx="2103120" cy="365760"/>
          </a:xfrm>
          <a:prstGeom prst="rect">
            <a:avLst/>
          </a:prstGeom>
          <a:noFill/>
        </p:spPr>
        <p:txBody>
          <a:bodyPr wrap="square" anchor="t">
            <a:spAutoFit/>
          </a:bodyPr>
          <a:lstStyle/>
          <a:p>
            <a:pPr algn="l">
              <a:spcBef>
                <a:spcPts val="0"/>
              </a:spcBef>
              <a:spcAft>
                <a:spcPts val="400"/>
              </a:spcAft>
            </a:pPr>
            <a:r>
              <a:rPr sz="1350" b="1">
                <a:solidFill>
                  <a:srgbClr val="58A6FF"/>
                </a:solidFill>
                <a:latin typeface="Calibri"/>
              </a:rPr>
              <a:t>beautifulsoup4</a:t>
            </a:r>
          </a:p>
        </p:txBody>
      </p:sp>
      <p:sp>
        <p:nvSpPr>
          <p:cNvPr id="21" name="TextBox 20"/>
          <p:cNvSpPr txBox="1"/>
          <p:nvPr/>
        </p:nvSpPr>
        <p:spPr>
          <a:xfrm>
            <a:off x="2743200" y="4114800"/>
            <a:ext cx="3108960" cy="365760"/>
          </a:xfrm>
          <a:prstGeom prst="rect">
            <a:avLst/>
          </a:prstGeom>
          <a:noFill/>
        </p:spPr>
        <p:txBody>
          <a:bodyPr wrap="square" anchor="t">
            <a:spAutoFit/>
          </a:bodyPr>
          <a:lstStyle/>
          <a:p>
            <a:pPr algn="l">
              <a:spcBef>
                <a:spcPts val="0"/>
              </a:spcBef>
              <a:spcAft>
                <a:spcPts val="400"/>
              </a:spcAft>
            </a:pPr>
            <a:r>
              <a:rPr sz="1200" b="0">
                <a:solidFill>
                  <a:srgbClr val="9FB0C3"/>
                </a:solidFill>
                <a:latin typeface="Calibri"/>
              </a:rPr>
              <a:t>HTML parsing</a:t>
            </a:r>
          </a:p>
        </p:txBody>
      </p:sp>
      <p:sp>
        <p:nvSpPr>
          <p:cNvPr id="22" name="Rounded Rectangle 21"/>
          <p:cNvSpPr/>
          <p:nvPr/>
        </p:nvSpPr>
        <p:spPr>
          <a:xfrm>
            <a:off x="502920" y="4526280"/>
            <a:ext cx="5486400" cy="457200"/>
          </a:xfrm>
          <a:prstGeom prst="roundRect">
            <a:avLst/>
          </a:prstGeom>
          <a:solidFill>
            <a:srgbClr val="10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599432"/>
            <a:ext cx="2103120" cy="365760"/>
          </a:xfrm>
          <a:prstGeom prst="rect">
            <a:avLst/>
          </a:prstGeom>
          <a:noFill/>
        </p:spPr>
        <p:txBody>
          <a:bodyPr wrap="square" anchor="t">
            <a:spAutoFit/>
          </a:bodyPr>
          <a:lstStyle/>
          <a:p>
            <a:pPr algn="l">
              <a:spcBef>
                <a:spcPts val="0"/>
              </a:spcBef>
              <a:spcAft>
                <a:spcPts val="400"/>
              </a:spcAft>
            </a:pPr>
            <a:r>
              <a:rPr sz="1350" b="1">
                <a:solidFill>
                  <a:srgbClr val="58A6FF"/>
                </a:solidFill>
                <a:latin typeface="Calibri"/>
              </a:rPr>
              <a:t>mmh3</a:t>
            </a:r>
          </a:p>
        </p:txBody>
      </p:sp>
      <p:sp>
        <p:nvSpPr>
          <p:cNvPr id="24" name="TextBox 23"/>
          <p:cNvSpPr txBox="1"/>
          <p:nvPr/>
        </p:nvSpPr>
        <p:spPr>
          <a:xfrm>
            <a:off x="2743200" y="4608576"/>
            <a:ext cx="3108960" cy="365760"/>
          </a:xfrm>
          <a:prstGeom prst="rect">
            <a:avLst/>
          </a:prstGeom>
          <a:noFill/>
        </p:spPr>
        <p:txBody>
          <a:bodyPr wrap="square" anchor="t">
            <a:spAutoFit/>
          </a:bodyPr>
          <a:lstStyle/>
          <a:p>
            <a:pPr algn="l">
              <a:spcBef>
                <a:spcPts val="0"/>
              </a:spcBef>
              <a:spcAft>
                <a:spcPts val="400"/>
              </a:spcAft>
            </a:pPr>
            <a:r>
              <a:rPr sz="1200" b="0">
                <a:solidFill>
                  <a:srgbClr val="9FB0C3"/>
                </a:solidFill>
                <a:latin typeface="Calibri"/>
              </a:rPr>
              <a:t>favicon hashing (ownership corroborator)</a:t>
            </a:r>
          </a:p>
        </p:txBody>
      </p:sp>
      <p:sp>
        <p:nvSpPr>
          <p:cNvPr id="25" name="Rounded Rectangle 24"/>
          <p:cNvSpPr/>
          <p:nvPr/>
        </p:nvSpPr>
        <p:spPr>
          <a:xfrm>
            <a:off x="502920" y="5020056"/>
            <a:ext cx="5486400" cy="457200"/>
          </a:xfrm>
          <a:prstGeom prst="round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093208"/>
            <a:ext cx="2103120" cy="365760"/>
          </a:xfrm>
          <a:prstGeom prst="rect">
            <a:avLst/>
          </a:prstGeom>
          <a:noFill/>
        </p:spPr>
        <p:txBody>
          <a:bodyPr wrap="square" anchor="t">
            <a:spAutoFit/>
          </a:bodyPr>
          <a:lstStyle/>
          <a:p>
            <a:pPr algn="l">
              <a:spcBef>
                <a:spcPts val="0"/>
              </a:spcBef>
              <a:spcAft>
                <a:spcPts val="400"/>
              </a:spcAft>
            </a:pPr>
            <a:r>
              <a:rPr sz="1350" b="1">
                <a:solidFill>
                  <a:srgbClr val="58A6FF"/>
                </a:solidFill>
                <a:latin typeface="Calibri"/>
              </a:rPr>
              <a:t>phonenumbers</a:t>
            </a:r>
          </a:p>
        </p:txBody>
      </p:sp>
      <p:sp>
        <p:nvSpPr>
          <p:cNvPr id="27" name="TextBox 26"/>
          <p:cNvSpPr txBox="1"/>
          <p:nvPr/>
        </p:nvSpPr>
        <p:spPr>
          <a:xfrm>
            <a:off x="2743200" y="5102352"/>
            <a:ext cx="3108960" cy="365760"/>
          </a:xfrm>
          <a:prstGeom prst="rect">
            <a:avLst/>
          </a:prstGeom>
          <a:noFill/>
        </p:spPr>
        <p:txBody>
          <a:bodyPr wrap="square" anchor="t">
            <a:spAutoFit/>
          </a:bodyPr>
          <a:lstStyle/>
          <a:p>
            <a:pPr algn="l">
              <a:spcBef>
                <a:spcPts val="0"/>
              </a:spcBef>
              <a:spcAft>
                <a:spcPts val="400"/>
              </a:spcAft>
            </a:pPr>
            <a:r>
              <a:rPr sz="1200" b="0">
                <a:solidFill>
                  <a:srgbClr val="9FB0C3"/>
                </a:solidFill>
                <a:latin typeface="Calibri"/>
              </a:rPr>
              <a:t>phone parsing/validation</a:t>
            </a:r>
          </a:p>
        </p:txBody>
      </p:sp>
      <p:sp>
        <p:nvSpPr>
          <p:cNvPr id="28" name="Rounded Rectangle 27"/>
          <p:cNvSpPr/>
          <p:nvPr/>
        </p:nvSpPr>
        <p:spPr>
          <a:xfrm>
            <a:off x="6355080" y="1645920"/>
            <a:ext cx="5303520" cy="4572000"/>
          </a:xfrm>
          <a:prstGeom prst="roundRect">
            <a:avLst/>
          </a:prstGeom>
          <a:solidFill>
            <a:srgbClr val="16324F"/>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1783080"/>
            <a:ext cx="4846320" cy="365760"/>
          </a:xfrm>
          <a:prstGeom prst="rect">
            <a:avLst/>
          </a:prstGeom>
          <a:noFill/>
        </p:spPr>
        <p:txBody>
          <a:bodyPr wrap="square" anchor="t">
            <a:spAutoFit/>
          </a:bodyPr>
          <a:lstStyle/>
          <a:p>
            <a:pPr algn="l">
              <a:spcBef>
                <a:spcPts val="0"/>
              </a:spcBef>
              <a:spcAft>
                <a:spcPts val="400"/>
              </a:spcAft>
            </a:pPr>
            <a:r>
              <a:rPr sz="1300" b="1">
                <a:solidFill>
                  <a:srgbClr val="3FB950"/>
                </a:solidFill>
                <a:latin typeface="Calibri"/>
              </a:rPr>
              <a:t>WHAT WE BUILT  (~48 Python modules under src/)</a:t>
            </a:r>
          </a:p>
        </p:txBody>
      </p:sp>
      <p:sp>
        <p:nvSpPr>
          <p:cNvPr id="30" name="TextBox 29"/>
          <p:cNvSpPr txBox="1"/>
          <p:nvPr/>
        </p:nvSpPr>
        <p:spPr>
          <a:xfrm>
            <a:off x="6583680" y="2240280"/>
            <a:ext cx="4892040" cy="3931920"/>
          </a:xfrm>
          <a:prstGeom prst="rect">
            <a:avLst/>
          </a:prstGeom>
          <a:noFill/>
        </p:spPr>
        <p:txBody>
          <a:bodyPr wrap="square" anchor="t">
            <a:spAutoFit/>
          </a:bodyPr>
          <a:lstStyle/>
          <a:p>
            <a:pPr algn="l">
              <a:spcBef>
                <a:spcPts val="0"/>
              </a:spcBef>
              <a:spcAft>
                <a:spcPts val="600"/>
              </a:spcAft>
            </a:pPr>
            <a:r>
              <a:rPr sz="1400" b="1">
                <a:solidFill>
                  <a:srgbClr val="FFFFFF"/>
                </a:solidFill>
                <a:latin typeface="Calibri"/>
              </a:rPr>
              <a:t>core/</a:t>
            </a:r>
            <a:r>
              <a:rPr sz="1300" b="0">
                <a:solidFill>
                  <a:srgbClr val="9FB0C3"/>
                </a:solidFill>
                <a:latin typeface="Calibri"/>
              </a:rPr>
              <a:t>  selector detection + investigation state</a:t>
            </a:r>
          </a:p>
          <a:p>
            <a:pPr algn="l">
              <a:spcBef>
                <a:spcPts val="0"/>
              </a:spcBef>
              <a:spcAft>
                <a:spcPts val="600"/>
              </a:spcAft>
            </a:pPr>
            <a:r>
              <a:rPr sz="1400" b="1">
                <a:solidFill>
                  <a:srgbClr val="FFFFFF"/>
                </a:solidFill>
                <a:latin typeface="Calibri"/>
              </a:rPr>
              <a:t>ontology/</a:t>
            </a:r>
            <a:r>
              <a:rPr sz="1300" b="0">
                <a:solidFill>
                  <a:srgbClr val="9FB0C3"/>
                </a:solidFill>
                <a:latin typeface="Calibri"/>
              </a:rPr>
              <a:t>  the routing brain + honesty annotator</a:t>
            </a:r>
          </a:p>
          <a:p>
            <a:pPr algn="l">
              <a:spcBef>
                <a:spcPts val="0"/>
              </a:spcBef>
              <a:spcAft>
                <a:spcPts val="600"/>
              </a:spcAft>
            </a:pPr>
            <a:r>
              <a:rPr sz="1400" b="1">
                <a:solidFill>
                  <a:srgbClr val="FFFFFF"/>
                </a:solidFill>
                <a:latin typeface="Calibri"/>
              </a:rPr>
              <a:t>tools/</a:t>
            </a:r>
            <a:r>
              <a:rPr sz="1300" b="0">
                <a:solidFill>
                  <a:srgbClr val="9FB0C3"/>
                </a:solidFill>
                <a:latin typeface="Calibri"/>
              </a:rPr>
              <a:t>  58 tools via HttpTool/CliTool specs + registry</a:t>
            </a:r>
          </a:p>
          <a:p>
            <a:pPr algn="l">
              <a:spcBef>
                <a:spcPts val="0"/>
              </a:spcBef>
              <a:spcAft>
                <a:spcPts val="600"/>
              </a:spcAft>
            </a:pPr>
            <a:r>
              <a:rPr sz="1400" b="1">
                <a:solidFill>
                  <a:srgbClr val="FFFFFF"/>
                </a:solidFill>
                <a:latin typeface="Calibri"/>
              </a:rPr>
              <a:t>graph/</a:t>
            </a:r>
            <a:r>
              <a:rPr sz="1300" b="0">
                <a:solidFill>
                  <a:srgbClr val="9FB0C3"/>
                </a:solidFill>
                <a:latin typeface="Calibri"/>
              </a:rPr>
              <a:t>  NetworkX graph + vis.js visualizer</a:t>
            </a:r>
          </a:p>
          <a:p>
            <a:pPr algn="l">
              <a:spcBef>
                <a:spcPts val="0"/>
              </a:spcBef>
              <a:spcAft>
                <a:spcPts val="600"/>
              </a:spcAft>
            </a:pPr>
            <a:r>
              <a:rPr sz="1400" b="1">
                <a:solidFill>
                  <a:srgbClr val="FFFFFF"/>
                </a:solidFill>
                <a:latin typeface="Calibri"/>
              </a:rPr>
              <a:t>report/</a:t>
            </a:r>
            <a:r>
              <a:rPr sz="1300" b="0">
                <a:solidFill>
                  <a:srgbClr val="9FB0C3"/>
                </a:solidFill>
                <a:latin typeface="Calibri"/>
              </a:rPr>
              <a:t>  narrative report (MD + HTML + Mermaid)</a:t>
            </a:r>
          </a:p>
          <a:p>
            <a:pPr algn="l">
              <a:spcBef>
                <a:spcPts val="0"/>
              </a:spcBef>
              <a:spcAft>
                <a:spcPts val="600"/>
              </a:spcAft>
            </a:pPr>
            <a:r>
              <a:rPr sz="1400" b="1">
                <a:solidFill>
                  <a:srgbClr val="FFFFFF"/>
                </a:solidFill>
                <a:latin typeface="Calibri"/>
              </a:rPr>
              <a:t>logger/</a:t>
            </a:r>
            <a:r>
              <a:rPr sz="1300" b="0">
                <a:solidFill>
                  <a:srgbClr val="9FB0C3"/>
                </a:solidFill>
                <a:latin typeface="Calibri"/>
              </a:rPr>
              <a:t>  the raw audit trail</a:t>
            </a:r>
          </a:p>
          <a:p>
            <a:pPr algn="l">
              <a:spcBef>
                <a:spcPts val="0"/>
              </a:spcBef>
              <a:spcAft>
                <a:spcPts val="600"/>
              </a:spcAft>
            </a:pPr>
            <a:r>
              <a:rPr sz="1400" b="1">
                <a:solidFill>
                  <a:srgbClr val="3FB950"/>
                </a:solidFill>
                <a:latin typeface="Calibri"/>
              </a:rPr>
              <a:t>scripts/health_check.py</a:t>
            </a:r>
            <a:r>
              <a:rPr sz="1300" b="0">
                <a:solidFill>
                  <a:srgbClr val="9FB0C3"/>
                </a:solidFill>
                <a:latin typeface="Calibri"/>
              </a:rPr>
              <a:t>  the safety gate (registry + floor + 3 suites)</a:t>
            </a:r>
          </a:p>
          <a:p>
            <a:pPr algn="l">
              <a:spcBef>
                <a:spcPts val="0"/>
              </a:spcBef>
              <a:spcAft>
                <a:spcPts val="600"/>
              </a:spcAft>
            </a:pPr>
            <a:r>
              <a:rPr sz="800" b="0">
                <a:solidFill>
                  <a:srgbClr val="9FB0C3"/>
                </a:solidFill>
                <a:latin typeface="Calibri"/>
              </a:rPr>
              <a:t> </a:t>
            </a:r>
          </a:p>
          <a:p>
            <a:pPr algn="l">
              <a:spcBef>
                <a:spcPts val="0"/>
              </a:spcBef>
              <a:spcAft>
                <a:spcPts val="600"/>
              </a:spcAft>
            </a:pPr>
            <a:r>
              <a:rPr sz="1250" b="0">
                <a:solidFill>
                  <a:srgbClr val="D29922"/>
                </a:solidFill>
                <a:latin typeface="Calibri"/>
              </a:rPr>
              <a:t>One command — ./bootstrap.sh — builds and self-verifies. Full install list in the appendix.</a:t>
            </a:r>
          </a:p>
        </p:txBody>
      </p:sp>
      <p:sp>
        <p:nvSpPr>
          <p:cNvPr id="31" name="TextBox 30"/>
          <p:cNvSpPr txBox="1"/>
          <p:nvPr/>
        </p:nvSpPr>
        <p:spPr>
          <a:xfrm>
            <a:off x="502920" y="6473952"/>
            <a:ext cx="7315200" cy="292608"/>
          </a:xfrm>
          <a:prstGeom prst="rect">
            <a:avLst/>
          </a:prstGeom>
          <a:noFill/>
        </p:spPr>
        <p:txBody>
          <a:bodyPr wrap="square" anchor="t">
            <a:spAutoFit/>
          </a:bodyPr>
          <a:lstStyle/>
          <a:p>
            <a:pPr algn="l">
              <a:spcBef>
                <a:spcPts val="0"/>
              </a:spcBef>
              <a:spcAft>
                <a:spcPts val="400"/>
              </a:spcAft>
            </a:pPr>
            <a:r>
              <a:rPr sz="1000" b="0">
                <a:solidFill>
                  <a:srgbClr val="9FB0C3"/>
                </a:solidFill>
                <a:latin typeface="Calibri"/>
              </a:rPr>
              <a:t>OSINT Investigator  ·  external-OSINT only  ·  runs locally</a:t>
            </a:r>
          </a:p>
        </p:txBody>
      </p:sp>
      <p:sp>
        <p:nvSpPr>
          <p:cNvPr id="32" name="TextBox 31"/>
          <p:cNvSpPr txBox="1"/>
          <p:nvPr/>
        </p:nvSpPr>
        <p:spPr>
          <a:xfrm>
            <a:off x="8321040" y="6473952"/>
            <a:ext cx="3337560" cy="292608"/>
          </a:xfrm>
          <a:prstGeom prst="rect">
            <a:avLst/>
          </a:prstGeom>
          <a:noFill/>
        </p:spPr>
        <p:txBody>
          <a:bodyPr wrap="square" anchor="t">
            <a:spAutoFit/>
          </a:bodyPr>
          <a:lstStyle/>
          <a:p>
            <a:pPr algn="r">
              <a:spcBef>
                <a:spcPts val="0"/>
              </a:spcBef>
              <a:spcAft>
                <a:spcPts val="400"/>
              </a:spcAft>
            </a:pPr>
            <a:r>
              <a:rPr sz="1000" b="0">
                <a:solidFill>
                  <a:srgbClr val="9FB0C3"/>
                </a:solidFill>
                <a:latin typeface="Calibri"/>
              </a:rPr>
              <a:t>Software laydown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109728"/>
          </a:xfrm>
          <a:prstGeom prst="round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365760"/>
          </a:xfrm>
          <a:prstGeom prst="rect">
            <a:avLst/>
          </a:prstGeom>
          <a:noFill/>
        </p:spPr>
        <p:txBody>
          <a:bodyPr wrap="square" anchor="t">
            <a:spAutoFit/>
          </a:bodyPr>
          <a:lstStyle/>
          <a:p>
            <a:pPr algn="l">
              <a:spcBef>
                <a:spcPts val="0"/>
              </a:spcBef>
              <a:spcAft>
                <a:spcPts val="400"/>
              </a:spcAft>
            </a:pPr>
            <a:r>
              <a:rPr sz="1300" b="1">
                <a:solidFill>
                  <a:srgbClr val="58A6FF"/>
                </a:solidFill>
                <a:latin typeface="Calibri"/>
              </a:rPr>
              <a:t>USE CASE · TICKET-FRAUD NETWORK</a:t>
            </a:r>
          </a:p>
        </p:txBody>
      </p:sp>
      <p:sp>
        <p:nvSpPr>
          <p:cNvPr id="5" name="TextBox 4"/>
          <p:cNvSpPr txBox="1"/>
          <p:nvPr/>
        </p:nvSpPr>
        <p:spPr>
          <a:xfrm>
            <a:off x="502920" y="603504"/>
            <a:ext cx="11155680" cy="822960"/>
          </a:xfrm>
          <a:prstGeom prst="rect">
            <a:avLst/>
          </a:prstGeom>
          <a:noFill/>
        </p:spPr>
        <p:txBody>
          <a:bodyPr wrap="square" anchor="t">
            <a:spAutoFit/>
          </a:bodyPr>
          <a:lstStyle/>
          <a:p>
            <a:pPr algn="l">
              <a:spcBef>
                <a:spcPts val="0"/>
              </a:spcBef>
              <a:spcAft>
                <a:spcPts val="400"/>
              </a:spcAft>
            </a:pPr>
            <a:r>
              <a:rPr sz="2700" b="1">
                <a:solidFill>
                  <a:srgbClr val="FFFFFF"/>
                </a:solidFill>
                <a:latin typeface="Calibri"/>
              </a:rPr>
              <a:t>One scam URL → a mapped network (auto-generated)</a:t>
            </a:r>
          </a:p>
        </p:txBody>
      </p:sp>
      <p:sp>
        <p:nvSpPr>
          <p:cNvPr id="6" name="Rounded Rectangle 5"/>
          <p:cNvSpPr/>
          <p:nvPr/>
        </p:nvSpPr>
        <p:spPr>
          <a:xfrm>
            <a:off x="502920" y="1371600"/>
            <a:ext cx="3931920" cy="4709160"/>
          </a:xfrm>
          <a:prstGeom prst="roundRect">
            <a:avLst/>
          </a:prstGeom>
          <a:solidFill>
            <a:srgbClr val="16324F"/>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08760"/>
            <a:ext cx="3611880" cy="4572000"/>
          </a:xfrm>
          <a:prstGeom prst="rect">
            <a:avLst/>
          </a:prstGeom>
          <a:noFill/>
        </p:spPr>
        <p:txBody>
          <a:bodyPr wrap="square" anchor="t">
            <a:spAutoFit/>
          </a:bodyPr>
          <a:lstStyle/>
          <a:p>
            <a:pPr algn="l">
              <a:spcBef>
                <a:spcPts val="0"/>
              </a:spcBef>
              <a:spcAft>
                <a:spcPts val="500"/>
              </a:spcAft>
            </a:pPr>
            <a:r>
              <a:rPr sz="1200" b="1">
                <a:solidFill>
                  <a:srgbClr val="9FB0C3"/>
                </a:solidFill>
                <a:latin typeface="Calibri"/>
              </a:rPr>
              <a:t>SEED</a:t>
            </a:r>
          </a:p>
          <a:p>
            <a:pPr algn="l">
              <a:spcBef>
                <a:spcPts val="0"/>
              </a:spcBef>
              <a:spcAft>
                <a:spcPts val="500"/>
              </a:spcAft>
            </a:pPr>
            <a:r>
              <a:rPr sz="1400" b="1">
                <a:solidFill>
                  <a:srgbClr val="58A6FF"/>
                </a:solidFill>
                <a:latin typeface="Calibri"/>
              </a:rPr>
              <a:t>colosseumdiroma-tickets.com</a:t>
            </a:r>
          </a:p>
          <a:p>
            <a:pPr algn="l">
              <a:spcBef>
                <a:spcPts val="0"/>
              </a:spcBef>
              <a:spcAft>
                <a:spcPts val="500"/>
              </a:spcAft>
            </a:pPr>
            <a:r>
              <a:rPr sz="1200" b="0">
                <a:solidFill>
                  <a:srgbClr val="E6EDF3"/>
                </a:solidFill>
                <a:latin typeface="Calibri"/>
              </a:rPr>
              <a:t>a fake Colosseum ticket-resale site</a:t>
            </a:r>
          </a:p>
          <a:p>
            <a:pPr algn="l">
              <a:spcBef>
                <a:spcPts val="0"/>
              </a:spcBef>
              <a:spcAft>
                <a:spcPts val="500"/>
              </a:spcAft>
            </a:pPr>
            <a:r>
              <a:rPr sz="800" b="0">
                <a:solidFill>
                  <a:srgbClr val="9FB0C3"/>
                </a:solidFill>
                <a:latin typeface="Calibri"/>
              </a:rPr>
              <a:t> </a:t>
            </a:r>
          </a:p>
          <a:p>
            <a:pPr algn="l">
              <a:spcBef>
                <a:spcPts val="0"/>
              </a:spcBef>
              <a:spcAft>
                <a:spcPts val="500"/>
              </a:spcAft>
            </a:pPr>
            <a:r>
              <a:rPr sz="1200" b="1">
                <a:solidFill>
                  <a:srgbClr val="3FB950"/>
                </a:solidFill>
                <a:latin typeface="Calibri"/>
              </a:rPr>
              <a:t>WHAT THE PIVOTS BUILT</a:t>
            </a:r>
          </a:p>
          <a:p>
            <a:pPr algn="l">
              <a:spcBef>
                <a:spcPts val="0"/>
              </a:spcBef>
              <a:spcAft>
                <a:spcPts val="500"/>
              </a:spcAft>
            </a:pPr>
            <a:r>
              <a:rPr sz="1200" b="0">
                <a:solidFill>
                  <a:srgbClr val="E6EDF3"/>
                </a:solidFill>
                <a:latin typeface="Calibri"/>
              </a:rPr>
              <a:t>• Registration — WHOIS/RDAP → registrant org 'The Walker Tours LLC'</a:t>
            </a:r>
          </a:p>
          <a:p>
            <a:pPr algn="l">
              <a:spcBef>
                <a:spcPts val="0"/>
              </a:spcBef>
              <a:spcAft>
                <a:spcPts val="500"/>
              </a:spcAft>
            </a:pPr>
            <a:r>
              <a:rPr sz="1200" b="0">
                <a:solidFill>
                  <a:srgbClr val="E6EDF3"/>
                </a:solidFill>
                <a:latin typeface="Calibri"/>
              </a:rPr>
              <a:t>• Hosting estate — domain → AWS IPs → co-hosted lookalikes → loop</a:t>
            </a:r>
          </a:p>
          <a:p>
            <a:pPr algn="l">
              <a:spcBef>
                <a:spcPts val="0"/>
              </a:spcBef>
              <a:spcAft>
                <a:spcPts val="500"/>
              </a:spcAft>
            </a:pPr>
            <a:r>
              <a:rPr sz="1200" b="0">
                <a:solidFill>
                  <a:srgbClr val="E6EDF3"/>
                </a:solidFill>
                <a:latin typeface="Calibri"/>
              </a:rPr>
              <a:t>• Content IDs — the active line pulled 15 tracker/analytics IDs</a:t>
            </a:r>
          </a:p>
          <a:p>
            <a:pPr algn="l">
              <a:spcBef>
                <a:spcPts val="0"/>
              </a:spcBef>
              <a:spcAft>
                <a:spcPts val="500"/>
              </a:spcAft>
            </a:pPr>
            <a:r>
              <a:rPr sz="600" b="0">
                <a:solidFill>
                  <a:srgbClr val="9FB0C3"/>
                </a:solidFill>
                <a:latin typeface="Calibri"/>
              </a:rPr>
              <a:t> </a:t>
            </a:r>
          </a:p>
          <a:p>
            <a:pPr algn="l">
              <a:spcBef>
                <a:spcPts val="0"/>
              </a:spcBef>
              <a:spcAft>
                <a:spcPts val="500"/>
              </a:spcAft>
            </a:pPr>
            <a:r>
              <a:rPr sz="1200" b="1">
                <a:solidFill>
                  <a:srgbClr val="3FB950"/>
                </a:solidFill>
                <a:latin typeface="Calibri"/>
              </a:rPr>
              <a:t>TIERED HONESTLY</a:t>
            </a:r>
          </a:p>
          <a:p>
            <a:pPr algn="l">
              <a:spcBef>
                <a:spcPts val="0"/>
              </a:spcBef>
              <a:spcAft>
                <a:spcPts val="500"/>
              </a:spcAft>
            </a:pPr>
            <a:r>
              <a:rPr sz="1400" b="1">
                <a:solidFill>
                  <a:srgbClr val="3FB950"/>
                </a:solidFill>
                <a:latin typeface="Calibri"/>
              </a:rPr>
              <a:t>96 highly likely</a:t>
            </a:r>
            <a:r>
              <a:rPr sz="1200" b="0">
                <a:solidFill>
                  <a:srgbClr val="9FB0C3"/>
                </a:solidFill>
                <a:latin typeface="Calibri"/>
              </a:rPr>
              <a:t> · </a:t>
            </a:r>
            <a:r>
              <a:rPr sz="1250" b="1">
                <a:solidFill>
                  <a:srgbClr val="D29922"/>
                </a:solidFill>
                <a:latin typeface="Calibri"/>
              </a:rPr>
              <a:t>14 probable</a:t>
            </a:r>
            <a:r>
              <a:rPr sz="1200" b="0">
                <a:solidFill>
                  <a:srgbClr val="9FB0C3"/>
                </a:solidFill>
                <a:latin typeface="Calibri"/>
              </a:rPr>
              <a:t> · </a:t>
            </a:r>
            <a:r>
              <a:rPr sz="1250" b="1">
                <a:solidFill>
                  <a:srgbClr val="9FB0C3"/>
                </a:solidFill>
                <a:latin typeface="Calibri"/>
              </a:rPr>
              <a:t>9 possible</a:t>
            </a:r>
          </a:p>
          <a:p>
            <a:pPr algn="l">
              <a:spcBef>
                <a:spcPts val="0"/>
              </a:spcBef>
              <a:spcAft>
                <a:spcPts val="500"/>
              </a:spcAft>
            </a:pPr>
            <a:r>
              <a:rPr sz="1100" b="0">
                <a:solidFill>
                  <a:srgbClr val="9FB0C3"/>
                </a:solidFill>
                <a:latin typeface="Calibri"/>
              </a:rPr>
              <a:t>Weak leads kept as pivots, not dropped. NOT over-sold as a 75-site scam estate — AWS nameservers &amp; the legit origin domains are flagged.</a:t>
            </a:r>
          </a:p>
        </p:txBody>
      </p:sp>
      <p:pic>
        <p:nvPicPr>
          <p:cNvPr id="8" name="Picture 7" descr="graph_overview.png"/>
          <p:cNvPicPr>
            <a:picLocks noChangeAspect="1"/>
          </p:cNvPicPr>
          <p:nvPr/>
        </p:nvPicPr>
        <p:blipFill>
          <a:blip r:embed="rId2"/>
          <a:stretch>
            <a:fillRect/>
          </a:stretch>
        </p:blipFill>
        <p:spPr>
          <a:xfrm>
            <a:off x="4617720" y="1371600"/>
            <a:ext cx="7086600" cy="3986212"/>
          </a:xfrm>
          <a:prstGeom prst="rect">
            <a:avLst/>
          </a:prstGeom>
        </p:spPr>
      </p:pic>
      <p:sp>
        <p:nvSpPr>
          <p:cNvPr id="9" name="TextBox 8"/>
          <p:cNvSpPr txBox="1"/>
          <p:nvPr/>
        </p:nvSpPr>
        <p:spPr>
          <a:xfrm>
            <a:off x="4617720" y="6053328"/>
            <a:ext cx="7086600" cy="320040"/>
          </a:xfrm>
          <a:prstGeom prst="rect">
            <a:avLst/>
          </a:prstGeom>
          <a:noFill/>
        </p:spPr>
        <p:txBody>
          <a:bodyPr wrap="square" anchor="t">
            <a:spAutoFit/>
          </a:bodyPr>
          <a:lstStyle/>
          <a:p>
            <a:pPr algn="ctr">
              <a:spcBef>
                <a:spcPts val="0"/>
              </a:spcBef>
              <a:spcAft>
                <a:spcPts val="400"/>
              </a:spcAft>
            </a:pPr>
            <a:r>
              <a:rPr sz="1050" b="0">
                <a:solidFill>
                  <a:srgbClr val="9FB0C3"/>
                </a:solidFill>
                <a:latin typeface="Calibri"/>
              </a:rPr>
              <a:t>Real output: 119 entities / 170 relationships, colored by type (blue=domain, green=IP hub, amber=company, purple=tracker ID).</a:t>
            </a:r>
          </a:p>
        </p:txBody>
      </p:sp>
      <p:sp>
        <p:nvSpPr>
          <p:cNvPr id="10" name="TextBox 9"/>
          <p:cNvSpPr txBox="1"/>
          <p:nvPr/>
        </p:nvSpPr>
        <p:spPr>
          <a:xfrm>
            <a:off x="502920" y="6473952"/>
            <a:ext cx="7315200" cy="292608"/>
          </a:xfrm>
          <a:prstGeom prst="rect">
            <a:avLst/>
          </a:prstGeom>
          <a:noFill/>
        </p:spPr>
        <p:txBody>
          <a:bodyPr wrap="square" anchor="t">
            <a:spAutoFit/>
          </a:bodyPr>
          <a:lstStyle/>
          <a:p>
            <a:pPr algn="l">
              <a:spcBef>
                <a:spcPts val="0"/>
              </a:spcBef>
              <a:spcAft>
                <a:spcPts val="400"/>
              </a:spcAft>
            </a:pPr>
            <a:r>
              <a:rPr sz="1000" b="0">
                <a:solidFill>
                  <a:srgbClr val="9FB0C3"/>
                </a:solidFill>
                <a:latin typeface="Calibri"/>
              </a:rPr>
              <a:t>OSINT Investigator  ·  external-OSINT only  ·  runs locally</a:t>
            </a:r>
          </a:p>
        </p:txBody>
      </p:sp>
      <p:sp>
        <p:nvSpPr>
          <p:cNvPr id="11" name="TextBox 10"/>
          <p:cNvSpPr txBox="1"/>
          <p:nvPr/>
        </p:nvSpPr>
        <p:spPr>
          <a:xfrm>
            <a:off x="8321040" y="6473952"/>
            <a:ext cx="3337560" cy="292608"/>
          </a:xfrm>
          <a:prstGeom prst="rect">
            <a:avLst/>
          </a:prstGeom>
          <a:noFill/>
        </p:spPr>
        <p:txBody>
          <a:bodyPr wrap="square" anchor="t">
            <a:spAutoFit/>
          </a:bodyPr>
          <a:lstStyle/>
          <a:p>
            <a:pPr algn="r">
              <a:spcBef>
                <a:spcPts val="0"/>
              </a:spcBef>
              <a:spcAft>
                <a:spcPts val="400"/>
              </a:spcAft>
            </a:pPr>
            <a:r>
              <a:rPr sz="1000" b="0">
                <a:solidFill>
                  <a:srgbClr val="9FB0C3"/>
                </a:solidFill>
                <a:latin typeface="Calibri"/>
              </a:rPr>
              <a:t>Use case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109728"/>
          </a:xfrm>
          <a:prstGeom prst="round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365760"/>
          </a:xfrm>
          <a:prstGeom prst="rect">
            <a:avLst/>
          </a:prstGeom>
          <a:noFill/>
        </p:spPr>
        <p:txBody>
          <a:bodyPr wrap="square" anchor="t">
            <a:spAutoFit/>
          </a:bodyPr>
          <a:lstStyle/>
          <a:p>
            <a:pPr algn="l">
              <a:spcBef>
                <a:spcPts val="0"/>
              </a:spcBef>
              <a:spcAft>
                <a:spcPts val="400"/>
              </a:spcAft>
            </a:pPr>
            <a:r>
              <a:rPr sz="1300" b="1">
                <a:solidFill>
                  <a:srgbClr val="58A6FF"/>
                </a:solidFill>
                <a:latin typeface="Calibri"/>
              </a:rPr>
              <a:t>USE CASE · WHAT IT PROVES</a:t>
            </a:r>
          </a:p>
        </p:txBody>
      </p:sp>
      <p:sp>
        <p:nvSpPr>
          <p:cNvPr id="5" name="TextBox 4"/>
          <p:cNvSpPr txBox="1"/>
          <p:nvPr/>
        </p:nvSpPr>
        <p:spPr>
          <a:xfrm>
            <a:off x="502920" y="603504"/>
            <a:ext cx="11155680" cy="822960"/>
          </a:xfrm>
          <a:prstGeom prst="rect">
            <a:avLst/>
          </a:prstGeom>
          <a:noFill/>
        </p:spPr>
        <p:txBody>
          <a:bodyPr wrap="square" anchor="t">
            <a:spAutoFit/>
          </a:bodyPr>
          <a:lstStyle/>
          <a:p>
            <a:pPr algn="l">
              <a:spcBef>
                <a:spcPts val="0"/>
              </a:spcBef>
              <a:spcAft>
                <a:spcPts val="400"/>
              </a:spcAft>
            </a:pPr>
            <a:r>
              <a:rPr sz="2700" b="1">
                <a:solidFill>
                  <a:srgbClr val="FFFFFF"/>
                </a:solidFill>
                <a:latin typeface="Calibri"/>
              </a:rPr>
              <a:t>Who runs it — and the independent evidence that ties them together</a:t>
            </a:r>
          </a:p>
        </p:txBody>
      </p:sp>
      <p:pic>
        <p:nvPicPr>
          <p:cNvPr id="6" name="Picture 5" descr="graph_attribution.png"/>
          <p:cNvPicPr>
            <a:picLocks noChangeAspect="1"/>
          </p:cNvPicPr>
          <p:nvPr/>
        </p:nvPicPr>
        <p:blipFill>
          <a:blip r:embed="rId2"/>
          <a:stretch>
            <a:fillRect/>
          </a:stretch>
        </p:blipFill>
        <p:spPr>
          <a:xfrm>
            <a:off x="365760" y="1417320"/>
            <a:ext cx="6858000" cy="3857625"/>
          </a:xfrm>
          <a:prstGeom prst="rect">
            <a:avLst/>
          </a:prstGeom>
        </p:spPr>
      </p:pic>
      <p:sp>
        <p:nvSpPr>
          <p:cNvPr id="7" name="TextBox 6"/>
          <p:cNvSpPr txBox="1"/>
          <p:nvPr/>
        </p:nvSpPr>
        <p:spPr>
          <a:xfrm>
            <a:off x="365760" y="5257800"/>
            <a:ext cx="6858000" cy="320040"/>
          </a:xfrm>
          <a:prstGeom prst="rect">
            <a:avLst/>
          </a:prstGeom>
          <a:noFill/>
        </p:spPr>
        <p:txBody>
          <a:bodyPr wrap="square" anchor="t">
            <a:spAutoFit/>
          </a:bodyPr>
          <a:lstStyle/>
          <a:p>
            <a:pPr algn="l">
              <a:spcBef>
                <a:spcPts val="0"/>
              </a:spcBef>
              <a:spcAft>
                <a:spcPts val="400"/>
              </a:spcAft>
            </a:pPr>
            <a:r>
              <a:rPr sz="1000" b="0">
                <a:solidFill>
                  <a:srgbClr val="9FB0C3"/>
                </a:solidFill>
                <a:latin typeface="Calibri"/>
              </a:rPr>
              <a:t>‘Who runs it’: real operator entities the pivots recovered — Walker Tours LLC/Corp., Pancho Tours, Grupo Feel The City, shared EIN 37-2091569, CIFs, names, emails, phones.</a:t>
            </a:r>
          </a:p>
        </p:txBody>
      </p:sp>
      <p:pic>
        <p:nvPicPr>
          <p:cNvPr id="8" name="Picture 7" descr="graph_tracker.png"/>
          <p:cNvPicPr>
            <a:picLocks noChangeAspect="1"/>
          </p:cNvPicPr>
          <p:nvPr/>
        </p:nvPicPr>
        <p:blipFill>
          <a:blip r:embed="rId3"/>
          <a:stretch>
            <a:fillRect/>
          </a:stretch>
        </p:blipFill>
        <p:spPr>
          <a:xfrm>
            <a:off x="7360920" y="1600200"/>
            <a:ext cx="4434840" cy="2660904"/>
          </a:xfrm>
          <a:prstGeom prst="rect">
            <a:avLst/>
          </a:prstGeom>
        </p:spPr>
      </p:pic>
      <p:sp>
        <p:nvSpPr>
          <p:cNvPr id="9" name="TextBox 8"/>
          <p:cNvSpPr txBox="1"/>
          <p:nvPr/>
        </p:nvSpPr>
        <p:spPr>
          <a:xfrm>
            <a:off x="7360920" y="4892040"/>
            <a:ext cx="4434840" cy="731520"/>
          </a:xfrm>
          <a:prstGeom prst="rect">
            <a:avLst/>
          </a:prstGeom>
          <a:noFill/>
        </p:spPr>
        <p:txBody>
          <a:bodyPr wrap="square" anchor="t">
            <a:spAutoFit/>
          </a:bodyPr>
          <a:lstStyle/>
          <a:p>
            <a:pPr algn="l">
              <a:spcBef>
                <a:spcPts val="0"/>
              </a:spcBef>
              <a:spcAft>
                <a:spcPts val="300"/>
              </a:spcAft>
            </a:pPr>
            <a:r>
              <a:rPr sz="1200" b="1">
                <a:solidFill>
                  <a:srgbClr val="BC8CFF"/>
                </a:solidFill>
                <a:latin typeface="Calibri"/>
              </a:rPr>
              <a:t>THE CORROBORATOR MECHANISM</a:t>
            </a:r>
          </a:p>
          <a:p>
            <a:pPr algn="l">
              <a:spcBef>
                <a:spcPts val="0"/>
              </a:spcBef>
              <a:spcAft>
                <a:spcPts val="300"/>
              </a:spcAft>
            </a:pPr>
            <a:r>
              <a:rPr sz="1100" b="0">
                <a:solidFill>
                  <a:srgbClr val="E6EDF3"/>
                </a:solidFill>
                <a:latin typeface="Calibri"/>
              </a:rPr>
              <a:t>One shared Google Ads ID (AW-778701917) links 8 scam domains. A shared strong tracker ID is the independent evidence that upgrades ‘co-hosted’ to ‘same operator’.</a:t>
            </a:r>
          </a:p>
        </p:txBody>
      </p:sp>
      <p:sp>
        <p:nvSpPr>
          <p:cNvPr id="10" name="TextBox 9"/>
          <p:cNvSpPr txBox="1"/>
          <p:nvPr/>
        </p:nvSpPr>
        <p:spPr>
          <a:xfrm>
            <a:off x="502920" y="6473952"/>
            <a:ext cx="7315200" cy="292608"/>
          </a:xfrm>
          <a:prstGeom prst="rect">
            <a:avLst/>
          </a:prstGeom>
          <a:noFill/>
        </p:spPr>
        <p:txBody>
          <a:bodyPr wrap="square" anchor="t">
            <a:spAutoFit/>
          </a:bodyPr>
          <a:lstStyle/>
          <a:p>
            <a:pPr algn="l">
              <a:spcBef>
                <a:spcPts val="0"/>
              </a:spcBef>
              <a:spcAft>
                <a:spcPts val="400"/>
              </a:spcAft>
            </a:pPr>
            <a:r>
              <a:rPr sz="1000" b="0">
                <a:solidFill>
                  <a:srgbClr val="9FB0C3"/>
                </a:solidFill>
                <a:latin typeface="Calibri"/>
              </a:rPr>
              <a:t>OSINT Investigator  ·  external-OSINT only  ·  runs locally</a:t>
            </a:r>
          </a:p>
        </p:txBody>
      </p:sp>
      <p:sp>
        <p:nvSpPr>
          <p:cNvPr id="11" name="TextBox 10"/>
          <p:cNvSpPr txBox="1"/>
          <p:nvPr/>
        </p:nvSpPr>
        <p:spPr>
          <a:xfrm>
            <a:off x="8321040" y="6473952"/>
            <a:ext cx="3337560" cy="292608"/>
          </a:xfrm>
          <a:prstGeom prst="rect">
            <a:avLst/>
          </a:prstGeom>
          <a:noFill/>
        </p:spPr>
        <p:txBody>
          <a:bodyPr wrap="square" anchor="t">
            <a:spAutoFit/>
          </a:bodyPr>
          <a:lstStyle/>
          <a:p>
            <a:pPr algn="r">
              <a:spcBef>
                <a:spcPts val="0"/>
              </a:spcBef>
              <a:spcAft>
                <a:spcPts val="400"/>
              </a:spcAft>
            </a:pPr>
            <a:r>
              <a:rPr sz="1000" b="0">
                <a:solidFill>
                  <a:srgbClr val="9FB0C3"/>
                </a:solidFill>
                <a:latin typeface="Calibri"/>
              </a:rPr>
              <a:t>Use case 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109728"/>
          </a:xfrm>
          <a:prstGeom prst="round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365760"/>
          </a:xfrm>
          <a:prstGeom prst="rect">
            <a:avLst/>
          </a:prstGeom>
          <a:noFill/>
        </p:spPr>
        <p:txBody>
          <a:bodyPr wrap="square" anchor="t">
            <a:spAutoFit/>
          </a:bodyPr>
          <a:lstStyle/>
          <a:p>
            <a:pPr algn="l">
              <a:spcBef>
                <a:spcPts val="0"/>
              </a:spcBef>
              <a:spcAft>
                <a:spcPts val="400"/>
              </a:spcAft>
            </a:pPr>
            <a:r>
              <a:rPr sz="1300" b="1">
                <a:solidFill>
                  <a:srgbClr val="58A6FF"/>
                </a:solidFill>
                <a:latin typeface="Calibri"/>
              </a:rPr>
              <a:t>USE CASE · THE TRUST STORY</a:t>
            </a:r>
          </a:p>
        </p:txBody>
      </p:sp>
      <p:sp>
        <p:nvSpPr>
          <p:cNvPr id="5" name="TextBox 4"/>
          <p:cNvSpPr txBox="1"/>
          <p:nvPr/>
        </p:nvSpPr>
        <p:spPr>
          <a:xfrm>
            <a:off x="502920" y="603504"/>
            <a:ext cx="11155680" cy="822960"/>
          </a:xfrm>
          <a:prstGeom prst="rect">
            <a:avLst/>
          </a:prstGeom>
          <a:noFill/>
        </p:spPr>
        <p:txBody>
          <a:bodyPr wrap="square" anchor="t">
            <a:spAutoFit/>
          </a:bodyPr>
          <a:lstStyle/>
          <a:p>
            <a:pPr algn="l">
              <a:spcBef>
                <a:spcPts val="0"/>
              </a:spcBef>
              <a:spcAft>
                <a:spcPts val="400"/>
              </a:spcAft>
            </a:pPr>
            <a:r>
              <a:rPr sz="2700" b="1">
                <a:solidFill>
                  <a:srgbClr val="FFFFFF"/>
                </a:solidFill>
                <a:latin typeface="Calibri"/>
              </a:rPr>
              <a:t>The system pressure-tests itself and refuses to over-claim</a:t>
            </a:r>
          </a:p>
        </p:txBody>
      </p:sp>
      <p:sp>
        <p:nvSpPr>
          <p:cNvPr id="6" name="Oval 5"/>
          <p:cNvSpPr/>
          <p:nvPr/>
        </p:nvSpPr>
        <p:spPr>
          <a:xfrm>
            <a:off x="502920" y="1691640"/>
            <a:ext cx="457200" cy="457200"/>
          </a:xfrm>
          <a:prstGeom prst="ellipse">
            <a:avLst/>
          </a:prstGeom>
          <a:solidFill>
            <a:srgbClr val="16324F"/>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500" b="1">
                <a:solidFill>
                  <a:srgbClr val="58A6FF"/>
                </a:solidFill>
                <a:latin typeface="Calibri"/>
              </a:rPr>
              <a:t>1</a:t>
            </a:r>
          </a:p>
        </p:txBody>
      </p:sp>
      <p:sp>
        <p:nvSpPr>
          <p:cNvPr id="7" name="TextBox 6"/>
          <p:cNvSpPr txBox="1"/>
          <p:nvPr/>
        </p:nvSpPr>
        <p:spPr>
          <a:xfrm>
            <a:off x="1188720" y="1673352"/>
            <a:ext cx="10424160" cy="822960"/>
          </a:xfrm>
          <a:prstGeom prst="rect">
            <a:avLst/>
          </a:prstGeom>
          <a:noFill/>
        </p:spPr>
        <p:txBody>
          <a:bodyPr wrap="square" anchor="ctr">
            <a:spAutoFit/>
          </a:bodyPr>
          <a:lstStyle/>
          <a:p>
            <a:pPr algn="l">
              <a:spcBef>
                <a:spcPts val="0"/>
              </a:spcBef>
              <a:spcAft>
                <a:spcPts val="400"/>
              </a:spcAft>
            </a:pPr>
            <a:r>
              <a:rPr sz="1400" b="0">
                <a:solidFill>
                  <a:srgbClr val="E6EDF3"/>
                </a:solidFill>
                <a:latin typeface="Calibri"/>
              </a:rPr>
              <a:t>An early pass read the estate as TWO operators.</a:t>
            </a:r>
          </a:p>
        </p:txBody>
      </p:sp>
      <p:sp>
        <p:nvSpPr>
          <p:cNvPr id="8" name="Oval 7"/>
          <p:cNvSpPr/>
          <p:nvPr/>
        </p:nvSpPr>
        <p:spPr>
          <a:xfrm>
            <a:off x="502920" y="2532888"/>
            <a:ext cx="457200" cy="457200"/>
          </a:xfrm>
          <a:prstGeom prst="ellipse">
            <a:avLst/>
          </a:prstGeom>
          <a:solidFill>
            <a:srgbClr val="16324F"/>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500" b="1">
                <a:solidFill>
                  <a:srgbClr val="58A6FF"/>
                </a:solidFill>
                <a:latin typeface="Calibri"/>
              </a:rPr>
              <a:t>2</a:t>
            </a:r>
          </a:p>
        </p:txBody>
      </p:sp>
      <p:sp>
        <p:nvSpPr>
          <p:cNvPr id="9" name="TextBox 8"/>
          <p:cNvSpPr txBox="1"/>
          <p:nvPr/>
        </p:nvSpPr>
        <p:spPr>
          <a:xfrm>
            <a:off x="1188720" y="2514600"/>
            <a:ext cx="10424160" cy="822960"/>
          </a:xfrm>
          <a:prstGeom prst="rect">
            <a:avLst/>
          </a:prstGeom>
          <a:noFill/>
        </p:spPr>
        <p:txBody>
          <a:bodyPr wrap="square" anchor="ctr">
            <a:spAutoFit/>
          </a:bodyPr>
          <a:lstStyle/>
          <a:p>
            <a:pPr algn="l">
              <a:spcBef>
                <a:spcPts val="0"/>
              </a:spcBef>
              <a:spcAft>
                <a:spcPts val="400"/>
              </a:spcAft>
            </a:pPr>
            <a:r>
              <a:rPr sz="1400" b="0">
                <a:solidFill>
                  <a:srgbClr val="E6EDF3"/>
                </a:solidFill>
                <a:latin typeface="Calibri"/>
              </a:rPr>
              <a:t>The RED-TEAM gate challenged the merge: ‘shared hosting ≠ shared ownership — show an independent corroborator.’</a:t>
            </a:r>
          </a:p>
        </p:txBody>
      </p:sp>
      <p:sp>
        <p:nvSpPr>
          <p:cNvPr id="10" name="Oval 9"/>
          <p:cNvSpPr/>
          <p:nvPr/>
        </p:nvSpPr>
        <p:spPr>
          <a:xfrm>
            <a:off x="502920" y="3374136"/>
            <a:ext cx="457200" cy="457200"/>
          </a:xfrm>
          <a:prstGeom prst="ellipse">
            <a:avLst/>
          </a:prstGeom>
          <a:solidFill>
            <a:srgbClr val="16324F"/>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500" b="1">
                <a:solidFill>
                  <a:srgbClr val="58A6FF"/>
                </a:solidFill>
                <a:latin typeface="Calibri"/>
              </a:rPr>
              <a:t>3</a:t>
            </a:r>
          </a:p>
        </p:txBody>
      </p:sp>
      <p:sp>
        <p:nvSpPr>
          <p:cNvPr id="11" name="TextBox 10"/>
          <p:cNvSpPr txBox="1"/>
          <p:nvPr/>
        </p:nvSpPr>
        <p:spPr>
          <a:xfrm>
            <a:off x="1188720" y="3355848"/>
            <a:ext cx="10424160" cy="822960"/>
          </a:xfrm>
          <a:prstGeom prst="rect">
            <a:avLst/>
          </a:prstGeom>
          <a:noFill/>
        </p:spPr>
        <p:txBody>
          <a:bodyPr wrap="square" anchor="ctr">
            <a:spAutoFit/>
          </a:bodyPr>
          <a:lstStyle/>
          <a:p>
            <a:pPr algn="l">
              <a:spcBef>
                <a:spcPts val="0"/>
              </a:spcBef>
              <a:spcAft>
                <a:spcPts val="400"/>
              </a:spcAft>
            </a:pPr>
            <a:r>
              <a:rPr sz="1400" b="0">
                <a:solidFill>
                  <a:srgbClr val="3FB950"/>
                </a:solidFill>
                <a:latin typeface="Calibri"/>
              </a:rPr>
              <a:t>A deeper pivot found the GOLD STANDARD: the seed itself ran a strong UA-131208121-1 analytics property in its 2024 Wayback snapshot — the same property as sevillafreetour.com.</a:t>
            </a:r>
          </a:p>
        </p:txBody>
      </p:sp>
      <p:sp>
        <p:nvSpPr>
          <p:cNvPr id="12" name="Oval 11"/>
          <p:cNvSpPr/>
          <p:nvPr/>
        </p:nvSpPr>
        <p:spPr>
          <a:xfrm>
            <a:off x="502920" y="4215384"/>
            <a:ext cx="457200" cy="457200"/>
          </a:xfrm>
          <a:prstGeom prst="ellipse">
            <a:avLst/>
          </a:prstGeom>
          <a:solidFill>
            <a:srgbClr val="16324F"/>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500" b="1">
                <a:solidFill>
                  <a:srgbClr val="58A6FF"/>
                </a:solidFill>
                <a:latin typeface="Calibri"/>
              </a:rPr>
              <a:t>4</a:t>
            </a:r>
          </a:p>
        </p:txBody>
      </p:sp>
      <p:sp>
        <p:nvSpPr>
          <p:cNvPr id="13" name="TextBox 12"/>
          <p:cNvSpPr txBox="1"/>
          <p:nvPr/>
        </p:nvSpPr>
        <p:spPr>
          <a:xfrm>
            <a:off x="1188720" y="4197096"/>
            <a:ext cx="10424160" cy="822960"/>
          </a:xfrm>
          <a:prstGeom prst="rect">
            <a:avLst/>
          </a:prstGeom>
          <a:noFill/>
        </p:spPr>
        <p:txBody>
          <a:bodyPr wrap="square" anchor="ctr">
            <a:spAutoFit/>
          </a:bodyPr>
          <a:lstStyle/>
          <a:p>
            <a:pPr algn="l">
              <a:spcBef>
                <a:spcPts val="0"/>
              </a:spcBef>
              <a:spcAft>
                <a:spcPts val="400"/>
              </a:spcAft>
            </a:pPr>
            <a:r>
              <a:rPr sz="1400" b="0">
                <a:solidFill>
                  <a:srgbClr val="E6EDF3"/>
                </a:solidFill>
                <a:latin typeface="Calibri"/>
              </a:rPr>
              <a:t>On SIX independent corroborators, red-team round 3 REVISED the conclusion to ONE operator group: Grupo Feel The City S.L. (Seville), fronted by two US shells sharing federal EIN 37-2091569.</a:t>
            </a:r>
          </a:p>
        </p:txBody>
      </p:sp>
      <p:sp>
        <p:nvSpPr>
          <p:cNvPr id="14" name="Oval 13"/>
          <p:cNvSpPr/>
          <p:nvPr/>
        </p:nvSpPr>
        <p:spPr>
          <a:xfrm>
            <a:off x="502920" y="5056632"/>
            <a:ext cx="457200" cy="457200"/>
          </a:xfrm>
          <a:prstGeom prst="ellipse">
            <a:avLst/>
          </a:prstGeom>
          <a:solidFill>
            <a:srgbClr val="16324F"/>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spcBef>
                <a:spcPts val="0"/>
              </a:spcBef>
              <a:spcAft>
                <a:spcPts val="0"/>
              </a:spcAft>
            </a:pPr>
            <a:r>
              <a:rPr sz="1500" b="1">
                <a:solidFill>
                  <a:srgbClr val="58A6FF"/>
                </a:solidFill>
                <a:latin typeface="Calibri"/>
              </a:rPr>
              <a:t>5</a:t>
            </a:r>
          </a:p>
        </p:txBody>
      </p:sp>
      <p:sp>
        <p:nvSpPr>
          <p:cNvPr id="15" name="TextBox 14"/>
          <p:cNvSpPr txBox="1"/>
          <p:nvPr/>
        </p:nvSpPr>
        <p:spPr>
          <a:xfrm>
            <a:off x="1188720" y="5038344"/>
            <a:ext cx="10424160" cy="822960"/>
          </a:xfrm>
          <a:prstGeom prst="rect">
            <a:avLst/>
          </a:prstGeom>
          <a:noFill/>
        </p:spPr>
        <p:txBody>
          <a:bodyPr wrap="square" anchor="ctr">
            <a:spAutoFit/>
          </a:bodyPr>
          <a:lstStyle/>
          <a:p>
            <a:pPr algn="l">
              <a:spcBef>
                <a:spcPts val="0"/>
              </a:spcBef>
              <a:spcAft>
                <a:spcPts val="400"/>
              </a:spcAft>
            </a:pPr>
            <a:r>
              <a:rPr sz="1400" b="0">
                <a:solidFill>
                  <a:srgbClr val="D29922"/>
                </a:solidFill>
                <a:latin typeface="Calibri"/>
              </a:rPr>
              <a:t>It distinguished the LEGITIMATE 2010 origin tour business from the 2024–26 scam build-out — and flagged the legit brand must NOT be labelled a scam.</a:t>
            </a:r>
          </a:p>
        </p:txBody>
      </p:sp>
      <p:sp>
        <p:nvSpPr>
          <p:cNvPr id="16" name="Rounded Rectangle 15"/>
          <p:cNvSpPr/>
          <p:nvPr/>
        </p:nvSpPr>
        <p:spPr>
          <a:xfrm>
            <a:off x="502920" y="5943600"/>
            <a:ext cx="11155680" cy="502920"/>
          </a:xfrm>
          <a:prstGeom prst="roundRect">
            <a:avLst/>
          </a:prstGeom>
          <a:solidFill>
            <a:srgbClr val="16324F"/>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6025896"/>
            <a:ext cx="10881360" cy="365760"/>
          </a:xfrm>
          <a:prstGeom prst="rect">
            <a:avLst/>
          </a:prstGeom>
          <a:noFill/>
        </p:spPr>
        <p:txBody>
          <a:bodyPr wrap="square" anchor="t">
            <a:spAutoFit/>
          </a:bodyPr>
          <a:lstStyle/>
          <a:p>
            <a:pPr algn="l">
              <a:spcBef>
                <a:spcPts val="0"/>
              </a:spcBef>
              <a:spcAft>
                <a:spcPts val="400"/>
              </a:spcAft>
            </a:pPr>
            <a:r>
              <a:rPr sz="1300" b="1">
                <a:solidFill>
                  <a:srgbClr val="FFFFFF"/>
                </a:solidFill>
                <a:latin typeface="Calibri"/>
              </a:rPr>
              <a:t>Why it matters: it argued with itself on the record, changed its mind on evidence, and drew a clean line around the innocent business. Every step is in the audit log.</a:t>
            </a:r>
          </a:p>
        </p:txBody>
      </p:sp>
      <p:sp>
        <p:nvSpPr>
          <p:cNvPr id="18" name="TextBox 17"/>
          <p:cNvSpPr txBox="1"/>
          <p:nvPr/>
        </p:nvSpPr>
        <p:spPr>
          <a:xfrm>
            <a:off x="502920" y="6473952"/>
            <a:ext cx="7315200" cy="292608"/>
          </a:xfrm>
          <a:prstGeom prst="rect">
            <a:avLst/>
          </a:prstGeom>
          <a:noFill/>
        </p:spPr>
        <p:txBody>
          <a:bodyPr wrap="square" anchor="t">
            <a:spAutoFit/>
          </a:bodyPr>
          <a:lstStyle/>
          <a:p>
            <a:pPr algn="l">
              <a:spcBef>
                <a:spcPts val="0"/>
              </a:spcBef>
              <a:spcAft>
                <a:spcPts val="400"/>
              </a:spcAft>
            </a:pPr>
            <a:r>
              <a:rPr sz="1000" b="0">
                <a:solidFill>
                  <a:srgbClr val="9FB0C3"/>
                </a:solidFill>
                <a:latin typeface="Calibri"/>
              </a:rPr>
              <a:t>OSINT Investigator  ·  external-OSINT only  ·  runs locally</a:t>
            </a:r>
          </a:p>
        </p:txBody>
      </p:sp>
      <p:sp>
        <p:nvSpPr>
          <p:cNvPr id="19" name="TextBox 18"/>
          <p:cNvSpPr txBox="1"/>
          <p:nvPr/>
        </p:nvSpPr>
        <p:spPr>
          <a:xfrm>
            <a:off x="8321040" y="6473952"/>
            <a:ext cx="3337560" cy="292608"/>
          </a:xfrm>
          <a:prstGeom prst="rect">
            <a:avLst/>
          </a:prstGeom>
          <a:noFill/>
        </p:spPr>
        <p:txBody>
          <a:bodyPr wrap="square" anchor="t">
            <a:spAutoFit/>
          </a:bodyPr>
          <a:lstStyle/>
          <a:p>
            <a:pPr algn="r">
              <a:spcBef>
                <a:spcPts val="0"/>
              </a:spcBef>
              <a:spcAft>
                <a:spcPts val="400"/>
              </a:spcAft>
            </a:pPr>
            <a:r>
              <a:rPr sz="1000" b="0">
                <a:solidFill>
                  <a:srgbClr val="9FB0C3"/>
                </a:solidFill>
                <a:latin typeface="Calibri"/>
              </a:rPr>
              <a:t>Use case 3/3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109728"/>
          </a:xfrm>
          <a:prstGeom prst="round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365760"/>
          </a:xfrm>
          <a:prstGeom prst="rect">
            <a:avLst/>
          </a:prstGeom>
          <a:noFill/>
        </p:spPr>
        <p:txBody>
          <a:bodyPr wrap="square" anchor="t">
            <a:spAutoFit/>
          </a:bodyPr>
          <a:lstStyle/>
          <a:p>
            <a:pPr algn="l">
              <a:spcBef>
                <a:spcPts val="0"/>
              </a:spcBef>
              <a:spcAft>
                <a:spcPts val="400"/>
              </a:spcAft>
            </a:pPr>
            <a:r>
              <a:rPr sz="1300" b="1">
                <a:solidFill>
                  <a:srgbClr val="58A6FF"/>
                </a:solidFill>
                <a:latin typeface="Calibri"/>
              </a:rPr>
              <a:t>WHY IT SHOULD APPROVE · 1</a:t>
            </a:r>
          </a:p>
        </p:txBody>
      </p:sp>
      <p:sp>
        <p:nvSpPr>
          <p:cNvPr id="5" name="TextBox 4"/>
          <p:cNvSpPr txBox="1"/>
          <p:nvPr/>
        </p:nvSpPr>
        <p:spPr>
          <a:xfrm>
            <a:off x="502920" y="603504"/>
            <a:ext cx="11155680" cy="822960"/>
          </a:xfrm>
          <a:prstGeom prst="rect">
            <a:avLst/>
          </a:prstGeom>
          <a:noFill/>
        </p:spPr>
        <p:txBody>
          <a:bodyPr wrap="square" anchor="t">
            <a:spAutoFit/>
          </a:bodyPr>
          <a:lstStyle/>
          <a:p>
            <a:pPr algn="l">
              <a:spcBef>
                <a:spcPts val="0"/>
              </a:spcBef>
              <a:spcAft>
                <a:spcPts val="400"/>
              </a:spcAft>
            </a:pPr>
            <a:r>
              <a:rPr sz="2700" b="1">
                <a:solidFill>
                  <a:srgbClr val="FFFFFF"/>
                </a:solidFill>
                <a:latin typeface="Calibri"/>
              </a:rPr>
              <a:t>Where the data goes</a:t>
            </a:r>
          </a:p>
        </p:txBody>
      </p:sp>
      <p:sp>
        <p:nvSpPr>
          <p:cNvPr id="6" name="TextBox 5"/>
          <p:cNvSpPr txBox="1"/>
          <p:nvPr/>
        </p:nvSpPr>
        <p:spPr>
          <a:xfrm>
            <a:off x="502920" y="1600200"/>
            <a:ext cx="10972800" cy="457200"/>
          </a:xfrm>
          <a:prstGeom prst="rect">
            <a:avLst/>
          </a:prstGeom>
          <a:noFill/>
        </p:spPr>
        <p:txBody>
          <a:bodyPr wrap="square" anchor="t">
            <a:spAutoFit/>
          </a:bodyPr>
          <a:lstStyle/>
          <a:p>
            <a:pPr algn="l">
              <a:spcBef>
                <a:spcPts val="0"/>
              </a:spcBef>
              <a:spcAft>
                <a:spcPts val="400"/>
              </a:spcAft>
            </a:pPr>
            <a:r>
              <a:rPr sz="1500" b="1">
                <a:solidFill>
                  <a:srgbClr val="D29922"/>
                </a:solidFill>
                <a:latin typeface="Calibri"/>
              </a:rPr>
              <a:t>CONCERN:  data egress / data handling</a:t>
            </a:r>
          </a:p>
        </p:txBody>
      </p:sp>
      <p:sp>
        <p:nvSpPr>
          <p:cNvPr id="7" name="TextBox 6"/>
          <p:cNvSpPr txBox="1"/>
          <p:nvPr/>
        </p:nvSpPr>
        <p:spPr>
          <a:xfrm>
            <a:off x="502920" y="2148840"/>
            <a:ext cx="11155680" cy="3840480"/>
          </a:xfrm>
          <a:prstGeom prst="rect">
            <a:avLst/>
          </a:prstGeom>
          <a:noFill/>
        </p:spPr>
        <p:txBody>
          <a:bodyPr wrap="square">
            <a:spAutoFit/>
          </a:bodyPr>
          <a:lstStyle/>
          <a:p>
            <a:pPr>
              <a:spcBef>
                <a:spcPts val="0"/>
              </a:spcBef>
              <a:spcAft>
                <a:spcPts val="1100"/>
              </a:spcAft>
            </a:pPr>
            <a:r>
              <a:rPr sz="1600" b="1">
                <a:solidFill>
                  <a:srgbClr val="FFFFFF"/>
                </a:solidFill>
                <a:latin typeface="Calibri"/>
              </a:rPr>
              <a:t>Runs entirely on the local machine.</a:t>
            </a:r>
            <a:r>
              <a:rPr sz="1500" b="0">
                <a:solidFill>
                  <a:srgbClr val="E6EDF3"/>
                </a:solidFill>
                <a:latin typeface="Calibri"/>
              </a:rPr>
              <a:t>  No server, no cloud service, no account required to operate.</a:t>
            </a:r>
          </a:p>
          <a:p>
            <a:pPr>
              <a:spcBef>
                <a:spcPts val="0"/>
              </a:spcBef>
              <a:spcAft>
                <a:spcPts val="1100"/>
              </a:spcAft>
            </a:pPr>
            <a:r>
              <a:rPr sz="1600" b="1">
                <a:solidFill>
                  <a:srgbClr val="FFFFFF"/>
                </a:solidFill>
                <a:latin typeface="Calibri"/>
              </a:rPr>
              <a:t>External OSINT only — by design and scope.</a:t>
            </a:r>
            <a:r>
              <a:rPr sz="1500" b="0">
                <a:solidFill>
                  <a:srgbClr val="E6EDF3"/>
                </a:solidFill>
                <a:latin typeface="Calibri"/>
              </a:rPr>
              <a:t>  Never ingests internal/corporate data; internal-data analysis is explicitly out of scope.</a:t>
            </a:r>
          </a:p>
          <a:p>
            <a:pPr>
              <a:spcBef>
                <a:spcPts val="0"/>
              </a:spcBef>
              <a:spcAft>
                <a:spcPts val="1100"/>
              </a:spcAft>
            </a:pPr>
            <a:r>
              <a:rPr sz="1600" b="1">
                <a:solidFill>
                  <a:srgbClr val="FFFFFF"/>
                </a:solidFill>
                <a:latin typeface="Calibri"/>
              </a:rPr>
              <a:t>What leaves the machine is only the selector,</a:t>
            </a:r>
            <a:r>
              <a:rPr sz="1500" b="0">
                <a:solidFill>
                  <a:srgbClr val="E6EDF3"/>
                </a:solidFill>
                <a:latin typeface="Calibri"/>
              </a:rPr>
              <a:t>  sent to PUBLIC sources (WHOIS/DNS/CT logs, search engines, public APIs) — the same requests an analyst makes in a browser.</a:t>
            </a:r>
          </a:p>
          <a:p>
            <a:pPr>
              <a:spcBef>
                <a:spcPts val="0"/>
              </a:spcBef>
              <a:spcAft>
                <a:spcPts val="1100"/>
              </a:spcAft>
            </a:pPr>
            <a:r>
              <a:rPr sz="1600" b="1">
                <a:solidFill>
                  <a:srgbClr val="FFFFFF"/>
                </a:solidFill>
                <a:latin typeface="Calibri"/>
              </a:rPr>
              <a:t>Results stay on disk.</a:t>
            </a:r>
            <a:r>
              <a:rPr sz="1500" b="0">
                <a:solidFill>
                  <a:srgbClr val="E6EDF3"/>
                </a:solidFill>
                <a:latin typeface="Calibri"/>
              </a:rPr>
              <a:t>  investigations/ and the .env key file are git-ignored — case data and keys are never committed or pushed.</a:t>
            </a:r>
          </a:p>
          <a:p>
            <a:pPr>
              <a:spcBef>
                <a:spcPts val="0"/>
              </a:spcBef>
              <a:spcAft>
                <a:spcPts val="1100"/>
              </a:spcAft>
            </a:pPr>
            <a:r>
              <a:rPr sz="1600" b="1">
                <a:solidFill>
                  <a:srgbClr val="FFFFFF"/>
                </a:solidFill>
                <a:latin typeface="Calibri"/>
              </a:rPr>
              <a:t>Passive-first OPSEC.</a:t>
            </a:r>
            <a:r>
              <a:rPr sz="1500" b="0">
                <a:solidFill>
                  <a:srgbClr val="E6EDF3"/>
                </a:solidFill>
                <a:latin typeface="Calibri"/>
              </a:rPr>
              <a:t>  The active line prefers archived (Wayback) copies before any live request; generic user-agent; no crawling; proxy seam for attribution control.</a:t>
            </a:r>
          </a:p>
        </p:txBody>
      </p:sp>
      <p:sp>
        <p:nvSpPr>
          <p:cNvPr id="8" name="Rounded Rectangle 7"/>
          <p:cNvSpPr/>
          <p:nvPr/>
        </p:nvSpPr>
        <p:spPr>
          <a:xfrm>
            <a:off x="502920" y="5943600"/>
            <a:ext cx="11155680" cy="502920"/>
          </a:xfrm>
          <a:prstGeom prst="roundRect">
            <a:avLst/>
          </a:prstGeom>
          <a:solidFill>
            <a:srgbClr val="16324F"/>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025896"/>
            <a:ext cx="10881360" cy="365760"/>
          </a:xfrm>
          <a:prstGeom prst="rect">
            <a:avLst/>
          </a:prstGeom>
          <a:noFill/>
        </p:spPr>
        <p:txBody>
          <a:bodyPr wrap="square" anchor="t">
            <a:spAutoFit/>
          </a:bodyPr>
          <a:lstStyle/>
          <a:p>
            <a:pPr algn="l">
              <a:spcBef>
                <a:spcPts val="0"/>
              </a:spcBef>
              <a:spcAft>
                <a:spcPts val="400"/>
              </a:spcAft>
            </a:pPr>
            <a:r>
              <a:rPr sz="1300" b="1">
                <a:solidFill>
                  <a:srgbClr val="FFFFFF"/>
                </a:solidFill>
                <a:latin typeface="Calibri"/>
              </a:rPr>
              <a:t>Net: the tool's network behavior is a subset of normal analyst browsing, from the local machine, against public sources only.</a:t>
            </a:r>
          </a:p>
        </p:txBody>
      </p:sp>
      <p:sp>
        <p:nvSpPr>
          <p:cNvPr id="10" name="TextBox 9"/>
          <p:cNvSpPr txBox="1"/>
          <p:nvPr/>
        </p:nvSpPr>
        <p:spPr>
          <a:xfrm>
            <a:off x="502920" y="6473952"/>
            <a:ext cx="7315200" cy="292608"/>
          </a:xfrm>
          <a:prstGeom prst="rect">
            <a:avLst/>
          </a:prstGeom>
          <a:noFill/>
        </p:spPr>
        <p:txBody>
          <a:bodyPr wrap="square" anchor="t">
            <a:spAutoFit/>
          </a:bodyPr>
          <a:lstStyle/>
          <a:p>
            <a:pPr algn="l">
              <a:spcBef>
                <a:spcPts val="0"/>
              </a:spcBef>
              <a:spcAft>
                <a:spcPts val="400"/>
              </a:spcAft>
            </a:pPr>
            <a:r>
              <a:rPr sz="1000" b="0">
                <a:solidFill>
                  <a:srgbClr val="9FB0C3"/>
                </a:solidFill>
                <a:latin typeface="Calibri"/>
              </a:rPr>
              <a:t>OSINT Investigator  ·  external-OSINT only  ·  runs locally</a:t>
            </a:r>
          </a:p>
        </p:txBody>
      </p:sp>
      <p:sp>
        <p:nvSpPr>
          <p:cNvPr id="11" name="TextBox 10"/>
          <p:cNvSpPr txBox="1"/>
          <p:nvPr/>
        </p:nvSpPr>
        <p:spPr>
          <a:xfrm>
            <a:off x="8321040" y="6473952"/>
            <a:ext cx="3337560" cy="292608"/>
          </a:xfrm>
          <a:prstGeom prst="rect">
            <a:avLst/>
          </a:prstGeom>
          <a:noFill/>
        </p:spPr>
        <p:txBody>
          <a:bodyPr wrap="square" anchor="t">
            <a:spAutoFit/>
          </a:bodyPr>
          <a:lstStyle/>
          <a:p>
            <a:pPr algn="r">
              <a:spcBef>
                <a:spcPts val="0"/>
              </a:spcBef>
              <a:spcAft>
                <a:spcPts val="400"/>
              </a:spcAft>
            </a:pPr>
            <a:r>
              <a:rPr sz="1000" b="0">
                <a:solidFill>
                  <a:srgbClr val="9FB0C3"/>
                </a:solidFill>
                <a:latin typeface="Calibri"/>
              </a:rPr>
              <a:t>IT approval · data egress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109728"/>
          </a:xfrm>
          <a:prstGeom prst="round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365760"/>
          </a:xfrm>
          <a:prstGeom prst="rect">
            <a:avLst/>
          </a:prstGeom>
          <a:noFill/>
        </p:spPr>
        <p:txBody>
          <a:bodyPr wrap="square" anchor="t">
            <a:spAutoFit/>
          </a:bodyPr>
          <a:lstStyle/>
          <a:p>
            <a:pPr algn="l">
              <a:spcBef>
                <a:spcPts val="0"/>
              </a:spcBef>
              <a:spcAft>
                <a:spcPts val="400"/>
              </a:spcAft>
            </a:pPr>
            <a:r>
              <a:rPr sz="1300" b="1">
                <a:solidFill>
                  <a:srgbClr val="58A6FF"/>
                </a:solidFill>
                <a:latin typeface="Calibri"/>
              </a:rPr>
              <a:t>WHY IT SHOULD APPROVE · 2</a:t>
            </a:r>
          </a:p>
        </p:txBody>
      </p:sp>
      <p:sp>
        <p:nvSpPr>
          <p:cNvPr id="5" name="TextBox 4"/>
          <p:cNvSpPr txBox="1"/>
          <p:nvPr/>
        </p:nvSpPr>
        <p:spPr>
          <a:xfrm>
            <a:off x="502920" y="603504"/>
            <a:ext cx="11155680" cy="822960"/>
          </a:xfrm>
          <a:prstGeom prst="rect">
            <a:avLst/>
          </a:prstGeom>
          <a:noFill/>
        </p:spPr>
        <p:txBody>
          <a:bodyPr wrap="square" anchor="t">
            <a:spAutoFit/>
          </a:bodyPr>
          <a:lstStyle/>
          <a:p>
            <a:pPr algn="l">
              <a:spcBef>
                <a:spcPts val="0"/>
              </a:spcBef>
              <a:spcAft>
                <a:spcPts val="400"/>
              </a:spcAft>
            </a:pPr>
            <a:r>
              <a:rPr sz="2700" b="1">
                <a:solidFill>
                  <a:srgbClr val="FFFFFF"/>
                </a:solidFill>
                <a:latin typeface="Calibri"/>
              </a:rPr>
              <a:t>Dependency &amp; tool provenance (supply chain)</a:t>
            </a:r>
          </a:p>
        </p:txBody>
      </p:sp>
      <p:sp>
        <p:nvSpPr>
          <p:cNvPr id="6" name="TextBox 5"/>
          <p:cNvSpPr txBox="1"/>
          <p:nvPr/>
        </p:nvSpPr>
        <p:spPr>
          <a:xfrm>
            <a:off x="502920" y="1645920"/>
            <a:ext cx="11155680" cy="3017520"/>
          </a:xfrm>
          <a:prstGeom prst="rect">
            <a:avLst/>
          </a:prstGeom>
          <a:noFill/>
        </p:spPr>
        <p:txBody>
          <a:bodyPr wrap="square">
            <a:spAutoFit/>
          </a:bodyPr>
          <a:lstStyle/>
          <a:p>
            <a:pPr>
              <a:spcBef>
                <a:spcPts val="0"/>
              </a:spcBef>
              <a:spcAft>
                <a:spcPts val="900"/>
              </a:spcAft>
            </a:pPr>
            <a:r>
              <a:rPr sz="1550" b="1">
                <a:solidFill>
                  <a:srgbClr val="FFFFFF"/>
                </a:solidFill>
                <a:latin typeface="Calibri"/>
              </a:rPr>
              <a:t>Seven pinned, mainstream open-source packages.</a:t>
            </a:r>
            <a:r>
              <a:rPr sz="1450" b="0">
                <a:solidFill>
                  <a:srgbClr val="E6EDF3"/>
                </a:solidFill>
                <a:latin typeface="Calibri"/>
              </a:rPr>
              <a:t>  The entire core dependency list fits on one slide (requirements.txt). No obscure runtime.</a:t>
            </a:r>
          </a:p>
          <a:p>
            <a:pPr>
              <a:spcBef>
                <a:spcPts val="0"/>
              </a:spcBef>
              <a:spcAft>
                <a:spcPts val="900"/>
              </a:spcAft>
            </a:pPr>
            <a:r>
              <a:rPr sz="1550" b="1">
                <a:solidFill>
                  <a:srgbClr val="FFFFFF"/>
                </a:solidFill>
                <a:latin typeface="Calibri"/>
              </a:rPr>
              <a:t>Declarative tool registry.</a:t>
            </a:r>
            <a:r>
              <a:rPr sz="1450" b="0">
                <a:solidFill>
                  <a:srgbClr val="E6EDF3"/>
                </a:solidFill>
                <a:latin typeface="Calibri"/>
              </a:rPr>
              <a:t>  Every one of the 58 tools is a small, readable spec (endpoint + parser) — auditable at a glance; no hidden collection.</a:t>
            </a:r>
          </a:p>
          <a:p>
            <a:pPr>
              <a:spcBef>
                <a:spcPts val="0"/>
              </a:spcBef>
              <a:spcAft>
                <a:spcPts val="900"/>
              </a:spcAft>
            </a:pPr>
            <a:r>
              <a:rPr sz="1550" b="1">
                <a:solidFill>
                  <a:srgbClr val="FFFFFF"/>
                </a:solidFill>
                <a:latin typeface="Calibri"/>
              </a:rPr>
              <a:t>No bespoke scraping allowed.</a:t>
            </a:r>
            <a:r>
              <a:rPr sz="1450" b="0">
                <a:solidFill>
                  <a:srgbClr val="E6EDF3"/>
                </a:solidFill>
                <a:latin typeface="Calibri"/>
              </a:rPr>
              <a:t>  Collection goes only through registered, reviewed tools; the doctrine forbids ad-hoc scripts.</a:t>
            </a:r>
          </a:p>
          <a:p>
            <a:pPr>
              <a:spcBef>
                <a:spcPts val="0"/>
              </a:spcBef>
              <a:spcAft>
                <a:spcPts val="900"/>
              </a:spcAft>
            </a:pPr>
            <a:r>
              <a:rPr sz="1550" b="1">
                <a:solidFill>
                  <a:srgbClr val="FFFFFF"/>
                </a:solidFill>
                <a:latin typeface="Calibri"/>
              </a:rPr>
              <a:t>Optional extras are opt-in and degrade gracefully.</a:t>
            </a:r>
            <a:r>
              <a:rPr sz="1450" b="0">
                <a:solidFill>
                  <a:srgbClr val="E6EDF3"/>
                </a:solidFill>
                <a:latin typeface="Calibri"/>
              </a:rPr>
              <a:t>  Fully functional with zero keys and zero extra installs.</a:t>
            </a:r>
          </a:p>
          <a:p>
            <a:pPr>
              <a:spcBef>
                <a:spcPts val="0"/>
              </a:spcBef>
              <a:spcAft>
                <a:spcPts val="900"/>
              </a:spcAft>
            </a:pPr>
            <a:r>
              <a:rPr sz="1550" b="1">
                <a:solidFill>
                  <a:srgbClr val="FFFFFF"/>
                </a:solidFill>
                <a:latin typeface="Calibri"/>
              </a:rPr>
              <a:t>MIT-licensed</a:t>
            </a:r>
            <a:r>
              <a:rPr sz="1450" b="0">
                <a:solidFill>
                  <a:srgbClr val="E6EDF3"/>
                </a:solidFill>
                <a:latin typeface="Calibri"/>
              </a:rPr>
              <a:t> — open for review and download.</a:t>
            </a:r>
          </a:p>
        </p:txBody>
      </p:sp>
      <p:sp>
        <p:nvSpPr>
          <p:cNvPr id="7" name="Rounded Rectangle 6"/>
          <p:cNvSpPr/>
          <p:nvPr/>
        </p:nvSpPr>
        <p:spPr>
          <a:xfrm>
            <a:off x="502920" y="4800600"/>
            <a:ext cx="11155680" cy="1280160"/>
          </a:xfrm>
          <a:prstGeom prst="roundRect">
            <a:avLst/>
          </a:prstGeom>
          <a:solidFill>
            <a:srgbClr val="16324F"/>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937760"/>
            <a:ext cx="10698480" cy="365760"/>
          </a:xfrm>
          <a:prstGeom prst="rect">
            <a:avLst/>
          </a:prstGeom>
          <a:noFill/>
        </p:spPr>
        <p:txBody>
          <a:bodyPr wrap="square" anchor="t">
            <a:spAutoFit/>
          </a:bodyPr>
          <a:lstStyle/>
          <a:p>
            <a:pPr algn="l">
              <a:spcBef>
                <a:spcPts val="0"/>
              </a:spcBef>
              <a:spcAft>
                <a:spcPts val="400"/>
              </a:spcAft>
            </a:pPr>
            <a:r>
              <a:rPr sz="1300" b="1">
                <a:solidFill>
                  <a:srgbClr val="58A6FF"/>
                </a:solidFill>
                <a:latin typeface="Calibri"/>
              </a:rPr>
              <a:t>BUILT-IN SAFETY GOVERNANCE (bonus)</a:t>
            </a:r>
          </a:p>
        </p:txBody>
      </p:sp>
      <p:sp>
        <p:nvSpPr>
          <p:cNvPr id="9" name="TextBox 8"/>
          <p:cNvSpPr txBox="1"/>
          <p:nvPr/>
        </p:nvSpPr>
        <p:spPr>
          <a:xfrm>
            <a:off x="731520" y="5303520"/>
            <a:ext cx="10698480" cy="731520"/>
          </a:xfrm>
          <a:prstGeom prst="rect">
            <a:avLst/>
          </a:prstGeom>
          <a:noFill/>
        </p:spPr>
        <p:txBody>
          <a:bodyPr wrap="square" anchor="t">
            <a:spAutoFit/>
          </a:bodyPr>
          <a:lstStyle/>
          <a:p>
            <a:pPr algn="l">
              <a:spcBef>
                <a:spcPts val="0"/>
              </a:spcBef>
              <a:spcAft>
                <a:spcPts val="400"/>
              </a:spcAft>
            </a:pPr>
            <a:r>
              <a:rPr sz="1400" b="0">
                <a:solidFill>
                  <a:srgbClr val="E6EDF3"/>
                </a:solidFill>
                <a:latin typeface="Calibri"/>
              </a:rPr>
              <a:t>A health gate (health_check.py) + 3 regression suites gate every change · a capability-lock defines what must never regress · a separate System Manager role maintains it conservatively.</a:t>
            </a:r>
          </a:p>
        </p:txBody>
      </p:sp>
      <p:sp>
        <p:nvSpPr>
          <p:cNvPr id="10" name="TextBox 9"/>
          <p:cNvSpPr txBox="1"/>
          <p:nvPr/>
        </p:nvSpPr>
        <p:spPr>
          <a:xfrm>
            <a:off x="502920" y="6473952"/>
            <a:ext cx="7315200" cy="292608"/>
          </a:xfrm>
          <a:prstGeom prst="rect">
            <a:avLst/>
          </a:prstGeom>
          <a:noFill/>
        </p:spPr>
        <p:txBody>
          <a:bodyPr wrap="square" anchor="t">
            <a:spAutoFit/>
          </a:bodyPr>
          <a:lstStyle/>
          <a:p>
            <a:pPr algn="l">
              <a:spcBef>
                <a:spcPts val="0"/>
              </a:spcBef>
              <a:spcAft>
                <a:spcPts val="400"/>
              </a:spcAft>
            </a:pPr>
            <a:r>
              <a:rPr sz="1000" b="0">
                <a:solidFill>
                  <a:srgbClr val="9FB0C3"/>
                </a:solidFill>
                <a:latin typeface="Calibri"/>
              </a:rPr>
              <a:t>OSINT Investigator  ·  external-OSINT only  ·  runs locally</a:t>
            </a:r>
          </a:p>
        </p:txBody>
      </p:sp>
      <p:sp>
        <p:nvSpPr>
          <p:cNvPr id="11" name="TextBox 10"/>
          <p:cNvSpPr txBox="1"/>
          <p:nvPr/>
        </p:nvSpPr>
        <p:spPr>
          <a:xfrm>
            <a:off x="8321040" y="6473952"/>
            <a:ext cx="3337560" cy="292608"/>
          </a:xfrm>
          <a:prstGeom prst="rect">
            <a:avLst/>
          </a:prstGeom>
          <a:noFill/>
        </p:spPr>
        <p:txBody>
          <a:bodyPr wrap="square" anchor="t">
            <a:spAutoFit/>
          </a:bodyPr>
          <a:lstStyle/>
          <a:p>
            <a:pPr algn="r">
              <a:spcBef>
                <a:spcPts val="0"/>
              </a:spcBef>
              <a:spcAft>
                <a:spcPts val="400"/>
              </a:spcAft>
            </a:pPr>
            <a:r>
              <a:rPr sz="1000" b="0">
                <a:solidFill>
                  <a:srgbClr val="9FB0C3"/>
                </a:solidFill>
                <a:latin typeface="Calibri"/>
              </a:rPr>
              <a:t>IT approval · provenance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109728"/>
          </a:xfrm>
          <a:prstGeom prst="round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365760"/>
          </a:xfrm>
          <a:prstGeom prst="rect">
            <a:avLst/>
          </a:prstGeom>
          <a:noFill/>
        </p:spPr>
        <p:txBody>
          <a:bodyPr wrap="square" anchor="t">
            <a:spAutoFit/>
          </a:bodyPr>
          <a:lstStyle/>
          <a:p>
            <a:pPr algn="l">
              <a:spcBef>
                <a:spcPts val="0"/>
              </a:spcBef>
              <a:spcAft>
                <a:spcPts val="400"/>
              </a:spcAft>
            </a:pPr>
            <a:r>
              <a:rPr sz="1300" b="1">
                <a:solidFill>
                  <a:srgbClr val="58A6FF"/>
                </a:solidFill>
                <a:latin typeface="Calibri"/>
              </a:rPr>
              <a:t>CLOSE</a:t>
            </a:r>
          </a:p>
        </p:txBody>
      </p:sp>
      <p:sp>
        <p:nvSpPr>
          <p:cNvPr id="5" name="TextBox 4"/>
          <p:cNvSpPr txBox="1"/>
          <p:nvPr/>
        </p:nvSpPr>
        <p:spPr>
          <a:xfrm>
            <a:off x="502920" y="603504"/>
            <a:ext cx="11155680" cy="822960"/>
          </a:xfrm>
          <a:prstGeom prst="rect">
            <a:avLst/>
          </a:prstGeom>
          <a:noFill/>
        </p:spPr>
        <p:txBody>
          <a:bodyPr wrap="square" anchor="t">
            <a:spAutoFit/>
          </a:bodyPr>
          <a:lstStyle/>
          <a:p>
            <a:pPr algn="l">
              <a:spcBef>
                <a:spcPts val="0"/>
              </a:spcBef>
              <a:spcAft>
                <a:spcPts val="400"/>
              </a:spcAft>
            </a:pPr>
            <a:r>
              <a:rPr sz="2700" b="1">
                <a:solidFill>
                  <a:srgbClr val="FFFFFF"/>
                </a:solidFill>
                <a:latin typeface="Calibri"/>
              </a:rPr>
              <a:t>Ready, open, and built to be trusted</a:t>
            </a:r>
          </a:p>
        </p:txBody>
      </p:sp>
      <p:sp>
        <p:nvSpPr>
          <p:cNvPr id="6" name="TextBox 5"/>
          <p:cNvSpPr txBox="1"/>
          <p:nvPr/>
        </p:nvSpPr>
        <p:spPr>
          <a:xfrm>
            <a:off x="502920" y="1691640"/>
            <a:ext cx="10972800" cy="365760"/>
          </a:xfrm>
          <a:prstGeom prst="rect">
            <a:avLst/>
          </a:prstGeom>
          <a:noFill/>
        </p:spPr>
        <p:txBody>
          <a:bodyPr wrap="square" anchor="t">
            <a:spAutoFit/>
          </a:bodyPr>
          <a:lstStyle/>
          <a:p>
            <a:pPr algn="l">
              <a:spcBef>
                <a:spcPts val="0"/>
              </a:spcBef>
              <a:spcAft>
                <a:spcPts val="400"/>
              </a:spcAft>
            </a:pPr>
            <a:r>
              <a:rPr sz="1300" b="1">
                <a:solidFill>
                  <a:srgbClr val="3FB950"/>
                </a:solidFill>
                <a:latin typeface="Calibri"/>
              </a:rPr>
              <a:t>WHAT THIS GIVES THE TEAM</a:t>
            </a:r>
          </a:p>
        </p:txBody>
      </p:sp>
      <p:sp>
        <p:nvSpPr>
          <p:cNvPr id="7" name="TextBox 6"/>
          <p:cNvSpPr txBox="1"/>
          <p:nvPr/>
        </p:nvSpPr>
        <p:spPr>
          <a:xfrm>
            <a:off x="502920" y="2057400"/>
            <a:ext cx="11155680" cy="1645920"/>
          </a:xfrm>
          <a:prstGeom prst="rect">
            <a:avLst/>
          </a:prstGeom>
          <a:noFill/>
        </p:spPr>
        <p:txBody>
          <a:bodyPr wrap="square">
            <a:spAutoFit/>
          </a:bodyPr>
          <a:lstStyle/>
          <a:p>
            <a:pPr>
              <a:spcBef>
                <a:spcPts val="0"/>
              </a:spcBef>
              <a:spcAft>
                <a:spcPts val="800"/>
              </a:spcAft>
            </a:pPr>
            <a:r>
              <a:rPr sz="1550" b="0">
                <a:solidFill>
                  <a:srgbClr val="E6EDF3"/>
                </a:solidFill>
                <a:latin typeface="Calibri"/>
              </a:rPr>
              <a:t>•  An analyst force-multiplier: seed → cited, confidence-tiered graph + report, automatically, with a full audit trail</a:t>
            </a:r>
          </a:p>
          <a:p>
            <a:pPr>
              <a:spcBef>
                <a:spcPts val="0"/>
              </a:spcBef>
              <a:spcAft>
                <a:spcPts val="800"/>
              </a:spcAft>
            </a:pPr>
            <a:r>
              <a:rPr sz="1550" b="0">
                <a:solidFill>
                  <a:srgbClr val="E6EDF3"/>
                </a:solidFill>
                <a:latin typeface="Calibri"/>
              </a:rPr>
              <a:t>•  Proven on a real ticket-fraud network — mapped, attributed, and self-corrected without over-claiming</a:t>
            </a:r>
          </a:p>
          <a:p>
            <a:pPr>
              <a:spcBef>
                <a:spcPts val="0"/>
              </a:spcBef>
              <a:spcAft>
                <a:spcPts val="800"/>
              </a:spcAft>
            </a:pPr>
            <a:r>
              <a:rPr sz="1550" b="0">
                <a:solidFill>
                  <a:srgbClr val="E6EDF3"/>
                </a:solidFill>
                <a:latin typeface="Calibri"/>
              </a:rPr>
              <a:t>•  Safe by construction: local · external-only · auditable · honest about limits</a:t>
            </a:r>
          </a:p>
        </p:txBody>
      </p:sp>
      <p:sp>
        <p:nvSpPr>
          <p:cNvPr id="8" name="Rounded Rectangle 7"/>
          <p:cNvSpPr/>
          <p:nvPr/>
        </p:nvSpPr>
        <p:spPr>
          <a:xfrm>
            <a:off x="502920" y="3886200"/>
            <a:ext cx="11155680" cy="1371600"/>
          </a:xfrm>
          <a:prstGeom prst="roundRect">
            <a:avLst/>
          </a:prstGeom>
          <a:solidFill>
            <a:srgbClr val="16324F"/>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023360"/>
            <a:ext cx="10698480" cy="1188720"/>
          </a:xfrm>
          <a:prstGeom prst="rect">
            <a:avLst/>
          </a:prstGeom>
          <a:noFill/>
        </p:spPr>
        <p:txBody>
          <a:bodyPr wrap="square" anchor="t">
            <a:spAutoFit/>
          </a:bodyPr>
          <a:lstStyle/>
          <a:p>
            <a:pPr algn="l">
              <a:spcBef>
                <a:spcPts val="0"/>
              </a:spcBef>
              <a:spcAft>
                <a:spcPts val="500"/>
              </a:spcAft>
            </a:pPr>
            <a:r>
              <a:rPr sz="1300" b="1">
                <a:solidFill>
                  <a:srgbClr val="58A6FF"/>
                </a:solidFill>
                <a:latin typeface="Calibri"/>
              </a:rPr>
              <a:t>AVAILABLE NOW</a:t>
            </a:r>
          </a:p>
          <a:p>
            <a:pPr algn="l">
              <a:spcBef>
                <a:spcPts val="0"/>
              </a:spcBef>
              <a:spcAft>
                <a:spcPts val="500"/>
              </a:spcAft>
            </a:pPr>
            <a:r>
              <a:rPr sz="1500" b="0">
                <a:solidFill>
                  <a:srgbClr val="E6EDF3"/>
                </a:solidFill>
                <a:latin typeface="Calibri"/>
              </a:rPr>
              <a:t>Open-source (MIT):  github.com/cis379/osint-investigator-v3  (public)</a:t>
            </a:r>
          </a:p>
          <a:p>
            <a:pPr algn="l">
              <a:spcBef>
                <a:spcPts val="0"/>
              </a:spcBef>
              <a:spcAft>
                <a:spcPts val="500"/>
              </a:spcAft>
            </a:pPr>
            <a:r>
              <a:rPr sz="1450" b="0">
                <a:solidFill>
                  <a:srgbClr val="E6EDF3"/>
                </a:solidFill>
                <a:latin typeface="Calibri"/>
              </a:rPr>
              <a:t>One command to stand up (./bootstrap.sh), health-gated, Mac / Linux / Windows · drive it with Claude Code or Codex</a:t>
            </a:r>
          </a:p>
        </p:txBody>
      </p:sp>
      <p:sp>
        <p:nvSpPr>
          <p:cNvPr id="10" name="TextBox 9"/>
          <p:cNvSpPr txBox="1"/>
          <p:nvPr/>
        </p:nvSpPr>
        <p:spPr>
          <a:xfrm>
            <a:off x="502920" y="5486400"/>
            <a:ext cx="10972800" cy="640080"/>
          </a:xfrm>
          <a:prstGeom prst="rect">
            <a:avLst/>
          </a:prstGeom>
          <a:noFill/>
        </p:spPr>
        <p:txBody>
          <a:bodyPr wrap="square" anchor="t">
            <a:spAutoFit/>
          </a:bodyPr>
          <a:lstStyle/>
          <a:p>
            <a:pPr algn="l">
              <a:spcBef>
                <a:spcPts val="0"/>
              </a:spcBef>
              <a:spcAft>
                <a:spcPts val="400"/>
              </a:spcAft>
            </a:pPr>
            <a:r>
              <a:rPr sz="1800" b="1">
                <a:solidFill>
                  <a:srgbClr val="D29922"/>
                </a:solidFill>
                <a:latin typeface="Calibri"/>
              </a:rPr>
              <a:t>THE ASK:  </a:t>
            </a:r>
            <a:r>
              <a:rPr sz="1800" b="1">
                <a:solidFill>
                  <a:srgbClr val="FFFFFF"/>
                </a:solidFill>
                <a:latin typeface="Calibri"/>
              </a:rPr>
              <a:t>approval to run it locally, external-OSINT only, as an analyst tool.</a:t>
            </a:r>
          </a:p>
        </p:txBody>
      </p:sp>
      <p:sp>
        <p:nvSpPr>
          <p:cNvPr id="11" name="TextBox 10"/>
          <p:cNvSpPr txBox="1"/>
          <p:nvPr/>
        </p:nvSpPr>
        <p:spPr>
          <a:xfrm>
            <a:off x="502920" y="6473952"/>
            <a:ext cx="7315200" cy="292608"/>
          </a:xfrm>
          <a:prstGeom prst="rect">
            <a:avLst/>
          </a:prstGeom>
          <a:noFill/>
        </p:spPr>
        <p:txBody>
          <a:bodyPr wrap="square" anchor="t">
            <a:spAutoFit/>
          </a:bodyPr>
          <a:lstStyle/>
          <a:p>
            <a:pPr algn="l">
              <a:spcBef>
                <a:spcPts val="0"/>
              </a:spcBef>
              <a:spcAft>
                <a:spcPts val="400"/>
              </a:spcAft>
            </a:pPr>
            <a:r>
              <a:rPr sz="1000" b="0">
                <a:solidFill>
                  <a:srgbClr val="9FB0C3"/>
                </a:solidFill>
                <a:latin typeface="Calibri"/>
              </a:rPr>
              <a:t>OSINT Investigator  ·  external-OSINT only  ·  runs locally</a:t>
            </a:r>
          </a:p>
        </p:txBody>
      </p:sp>
      <p:sp>
        <p:nvSpPr>
          <p:cNvPr id="12" name="TextBox 11"/>
          <p:cNvSpPr txBox="1"/>
          <p:nvPr/>
        </p:nvSpPr>
        <p:spPr>
          <a:xfrm>
            <a:off x="8321040" y="6473952"/>
            <a:ext cx="3337560" cy="292608"/>
          </a:xfrm>
          <a:prstGeom prst="rect">
            <a:avLst/>
          </a:prstGeom>
          <a:noFill/>
        </p:spPr>
        <p:txBody>
          <a:bodyPr wrap="square" anchor="t">
            <a:spAutoFit/>
          </a:bodyPr>
          <a:lstStyle/>
          <a:p>
            <a:pPr algn="r">
              <a:spcBef>
                <a:spcPts val="0"/>
              </a:spcBef>
              <a:spcAft>
                <a:spcPts val="400"/>
              </a:spcAft>
            </a:pPr>
            <a:r>
              <a:rPr sz="1000" b="0">
                <a:solidFill>
                  <a:srgbClr val="9FB0C3"/>
                </a:solidFill>
                <a:latin typeface="Calibri"/>
              </a:rPr>
              <a:t>Close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109728"/>
          </a:xfrm>
          <a:prstGeom prst="round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55680" cy="365760"/>
          </a:xfrm>
          <a:prstGeom prst="rect">
            <a:avLst/>
          </a:prstGeom>
          <a:noFill/>
        </p:spPr>
        <p:txBody>
          <a:bodyPr wrap="square" anchor="t">
            <a:spAutoFit/>
          </a:bodyPr>
          <a:lstStyle/>
          <a:p>
            <a:pPr algn="l">
              <a:spcBef>
                <a:spcPts val="0"/>
              </a:spcBef>
              <a:spcAft>
                <a:spcPts val="400"/>
              </a:spcAft>
            </a:pPr>
            <a:r>
              <a:rPr sz="1300" b="1">
                <a:solidFill>
                  <a:srgbClr val="58A6FF"/>
                </a:solidFill>
                <a:latin typeface="Calibri"/>
              </a:rPr>
              <a:t>APPENDIX</a:t>
            </a:r>
          </a:p>
        </p:txBody>
      </p:sp>
      <p:sp>
        <p:nvSpPr>
          <p:cNvPr id="5" name="TextBox 4"/>
          <p:cNvSpPr txBox="1"/>
          <p:nvPr/>
        </p:nvSpPr>
        <p:spPr>
          <a:xfrm>
            <a:off x="502920" y="603504"/>
            <a:ext cx="11155680" cy="822960"/>
          </a:xfrm>
          <a:prstGeom prst="rect">
            <a:avLst/>
          </a:prstGeom>
          <a:noFill/>
        </p:spPr>
        <p:txBody>
          <a:bodyPr wrap="square" anchor="t">
            <a:spAutoFit/>
          </a:bodyPr>
          <a:lstStyle/>
          <a:p>
            <a:pPr algn="l">
              <a:spcBef>
                <a:spcPts val="0"/>
              </a:spcBef>
              <a:spcAft>
                <a:spcPts val="400"/>
              </a:spcAft>
            </a:pPr>
            <a:r>
              <a:rPr sz="2700" b="1">
                <a:solidFill>
                  <a:srgbClr val="FFFFFF"/>
                </a:solidFill>
                <a:latin typeface="Calibri"/>
              </a:rPr>
              <a:t>Exactly what must be installed (full software footprint)</a:t>
            </a:r>
          </a:p>
        </p:txBody>
      </p:sp>
      <p:sp>
        <p:nvSpPr>
          <p:cNvPr id="6" name="Rounded Rectangle 5"/>
          <p:cNvSpPr/>
          <p:nvPr/>
        </p:nvSpPr>
        <p:spPr>
          <a:xfrm>
            <a:off x="502920" y="1554480"/>
            <a:ext cx="5486400" cy="2331720"/>
          </a:xfrm>
          <a:prstGeom prst="roundRect">
            <a:avLst/>
          </a:prstGeom>
          <a:solidFill>
            <a:srgbClr val="16324F"/>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64208"/>
            <a:ext cx="5120640" cy="320040"/>
          </a:xfrm>
          <a:prstGeom prst="rect">
            <a:avLst/>
          </a:prstGeom>
          <a:noFill/>
        </p:spPr>
        <p:txBody>
          <a:bodyPr wrap="square" anchor="t">
            <a:spAutoFit/>
          </a:bodyPr>
          <a:lstStyle/>
          <a:p>
            <a:pPr algn="l">
              <a:spcBef>
                <a:spcPts val="0"/>
              </a:spcBef>
              <a:spcAft>
                <a:spcPts val="400"/>
              </a:spcAft>
            </a:pPr>
            <a:r>
              <a:rPr sz="1300" b="1">
                <a:solidFill>
                  <a:srgbClr val="3FB950"/>
                </a:solidFill>
                <a:latin typeface="Calibri"/>
              </a:rPr>
              <a:t>REQUIRED</a:t>
            </a:r>
          </a:p>
        </p:txBody>
      </p:sp>
      <p:sp>
        <p:nvSpPr>
          <p:cNvPr id="8" name="TextBox 7"/>
          <p:cNvSpPr txBox="1"/>
          <p:nvPr/>
        </p:nvSpPr>
        <p:spPr>
          <a:xfrm>
            <a:off x="685800" y="2011680"/>
            <a:ext cx="5120640" cy="1828800"/>
          </a:xfrm>
          <a:prstGeom prst="rect">
            <a:avLst/>
          </a:prstGeom>
          <a:noFill/>
        </p:spPr>
        <p:txBody>
          <a:bodyPr wrap="square" anchor="t">
            <a:spAutoFit/>
          </a:bodyPr>
          <a:lstStyle/>
          <a:p>
            <a:pPr algn="l">
              <a:spcBef>
                <a:spcPts val="0"/>
              </a:spcBef>
              <a:spcAft>
                <a:spcPts val="500"/>
              </a:spcAft>
            </a:pPr>
            <a:r>
              <a:rPr sz="1400" b="1">
                <a:solidFill>
                  <a:srgbClr val="FFFFFF"/>
                </a:solidFill>
                <a:latin typeface="Calibri"/>
              </a:rPr>
              <a:t>Python 3.10+</a:t>
            </a:r>
          </a:p>
          <a:p>
            <a:pPr algn="l">
              <a:spcBef>
                <a:spcPts val="0"/>
              </a:spcBef>
              <a:spcAft>
                <a:spcPts val="500"/>
              </a:spcAft>
            </a:pPr>
            <a:r>
              <a:rPr sz="1300" b="1">
                <a:solidFill>
                  <a:srgbClr val="E6EDF3"/>
                </a:solidFill>
                <a:latin typeface="Calibri"/>
              </a:rPr>
              <a:t>7 pip packages (requirements.txt):</a:t>
            </a:r>
          </a:p>
          <a:p>
            <a:pPr algn="l">
              <a:spcBef>
                <a:spcPts val="0"/>
              </a:spcBef>
              <a:spcAft>
                <a:spcPts val="500"/>
              </a:spcAft>
            </a:pPr>
            <a:r>
              <a:rPr sz="1200" b="0">
                <a:solidFill>
                  <a:srgbClr val="9FB0C3"/>
                </a:solidFill>
                <a:latin typeface="Calibri"/>
              </a:rPr>
              <a:t>requests · networkx · python-whois · dnspython · beautifulsoup4 · mmh3 · phonenumbers</a:t>
            </a:r>
          </a:p>
          <a:p>
            <a:pPr algn="l">
              <a:spcBef>
                <a:spcPts val="0"/>
              </a:spcBef>
              <a:spcAft>
                <a:spcPts val="500"/>
              </a:spcAft>
            </a:pPr>
            <a:r>
              <a:rPr sz="600" b="0">
                <a:solidFill>
                  <a:srgbClr val="9FB0C3"/>
                </a:solidFill>
                <a:latin typeface="Calibri"/>
              </a:rPr>
              <a:t> </a:t>
            </a:r>
          </a:p>
          <a:p>
            <a:pPr algn="l">
              <a:spcBef>
                <a:spcPts val="0"/>
              </a:spcBef>
              <a:spcAft>
                <a:spcPts val="500"/>
              </a:spcAft>
            </a:pPr>
            <a:r>
              <a:rPr sz="1300" b="0">
                <a:solidFill>
                  <a:srgbClr val="E6EDF3"/>
                </a:solidFill>
                <a:latin typeface="Calibri"/>
              </a:rPr>
              <a:t>→ one command: </a:t>
            </a:r>
            <a:r>
              <a:rPr sz="1300" b="1">
                <a:solidFill>
                  <a:srgbClr val="3FB950"/>
                </a:solidFill>
                <a:latin typeface="Calibri"/>
              </a:rPr>
              <a:t>./bootstrap.sh</a:t>
            </a:r>
            <a:r>
              <a:rPr sz="1250" b="0">
                <a:solidFill>
                  <a:srgbClr val="9FB0C3"/>
                </a:solidFill>
                <a:latin typeface="Calibri"/>
              </a:rPr>
              <a:t> does all of the below + a health check</a:t>
            </a:r>
          </a:p>
        </p:txBody>
      </p:sp>
      <p:sp>
        <p:nvSpPr>
          <p:cNvPr id="9" name="Rounded Rectangle 8"/>
          <p:cNvSpPr/>
          <p:nvPr/>
        </p:nvSpPr>
        <p:spPr>
          <a:xfrm>
            <a:off x="6172200" y="1554480"/>
            <a:ext cx="5486400" cy="2331720"/>
          </a:xfrm>
          <a:prstGeom prst="roundRect">
            <a:avLst/>
          </a:prstGeom>
          <a:solidFill>
            <a:srgbClr val="16324F"/>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64208"/>
            <a:ext cx="5120640" cy="320040"/>
          </a:xfrm>
          <a:prstGeom prst="rect">
            <a:avLst/>
          </a:prstGeom>
          <a:noFill/>
        </p:spPr>
        <p:txBody>
          <a:bodyPr wrap="square" anchor="t">
            <a:spAutoFit/>
          </a:bodyPr>
          <a:lstStyle/>
          <a:p>
            <a:pPr algn="l">
              <a:spcBef>
                <a:spcPts val="0"/>
              </a:spcBef>
              <a:spcAft>
                <a:spcPts val="400"/>
              </a:spcAft>
            </a:pPr>
            <a:r>
              <a:rPr sz="1250" b="1">
                <a:solidFill>
                  <a:srgbClr val="58A6FF"/>
                </a:solidFill>
                <a:latin typeface="Calibri"/>
              </a:rPr>
              <a:t>OPTIONAL — external OSINT CLIs (degrade gracefully)</a:t>
            </a:r>
          </a:p>
        </p:txBody>
      </p:sp>
      <p:sp>
        <p:nvSpPr>
          <p:cNvPr id="11" name="TextBox 10"/>
          <p:cNvSpPr txBox="1"/>
          <p:nvPr/>
        </p:nvSpPr>
        <p:spPr>
          <a:xfrm>
            <a:off x="6355080" y="2057400"/>
            <a:ext cx="5166360" cy="1828800"/>
          </a:xfrm>
          <a:prstGeom prst="rect">
            <a:avLst/>
          </a:prstGeom>
          <a:noFill/>
        </p:spPr>
        <p:txBody>
          <a:bodyPr wrap="square" anchor="t">
            <a:spAutoFit/>
          </a:bodyPr>
          <a:lstStyle/>
          <a:p>
            <a:pPr algn="l">
              <a:spcBef>
                <a:spcPts val="0"/>
              </a:spcBef>
              <a:spcAft>
                <a:spcPts val="500"/>
              </a:spcAft>
            </a:pPr>
            <a:r>
              <a:rPr sz="1300" b="1">
                <a:solidFill>
                  <a:srgbClr val="FFFFFF"/>
                </a:solidFill>
                <a:latin typeface="Calibri"/>
              </a:rPr>
              <a:t>pipx install:</a:t>
            </a:r>
          </a:p>
          <a:p>
            <a:pPr algn="l">
              <a:spcBef>
                <a:spcPts val="0"/>
              </a:spcBef>
              <a:spcAft>
                <a:spcPts val="500"/>
              </a:spcAft>
            </a:pPr>
            <a:r>
              <a:rPr sz="1150" b="0">
                <a:solidFill>
                  <a:srgbClr val="9FB0C3"/>
                </a:solidFill>
                <a:latin typeface="Calibri"/>
              </a:rPr>
              <a:t>sherlock-project · maigret · holehe · theHarvester · socialscan · dnsrecon · socid-extractor · user-scanner · linkook</a:t>
            </a:r>
          </a:p>
          <a:p>
            <a:pPr algn="l">
              <a:spcBef>
                <a:spcPts val="0"/>
              </a:spcBef>
              <a:spcAft>
                <a:spcPts val="500"/>
              </a:spcAft>
            </a:pPr>
            <a:r>
              <a:rPr sz="1300" b="1">
                <a:solidFill>
                  <a:srgbClr val="FFFFFF"/>
                </a:solidFill>
                <a:latin typeface="Calibri"/>
              </a:rPr>
              <a:t>pip (into venv):</a:t>
            </a:r>
            <a:r>
              <a:rPr sz="1200" b="0">
                <a:solidFill>
                  <a:srgbClr val="9FB0C3"/>
                </a:solidFill>
                <a:latin typeface="Calibri"/>
              </a:rPr>
              <a:t>  naminter · ignorant</a:t>
            </a:r>
          </a:p>
          <a:p>
            <a:pPr algn="l">
              <a:spcBef>
                <a:spcPts val="0"/>
              </a:spcBef>
              <a:spcAft>
                <a:spcPts val="500"/>
              </a:spcAft>
            </a:pPr>
            <a:r>
              <a:rPr sz="1300" b="1">
                <a:solidFill>
                  <a:srgbClr val="FFFFFF"/>
                </a:solidFill>
                <a:latin typeface="Calibri"/>
              </a:rPr>
              <a:t>system pkg:</a:t>
            </a:r>
            <a:r>
              <a:rPr sz="1200" b="0">
                <a:solidFill>
                  <a:srgbClr val="9FB0C3"/>
                </a:solidFill>
                <a:latin typeface="Calibri"/>
              </a:rPr>
              <a:t>  exiftool  (brew / apt / winget)</a:t>
            </a:r>
          </a:p>
        </p:txBody>
      </p:sp>
      <p:sp>
        <p:nvSpPr>
          <p:cNvPr id="12" name="Rounded Rectangle 11"/>
          <p:cNvSpPr/>
          <p:nvPr/>
        </p:nvSpPr>
        <p:spPr>
          <a:xfrm>
            <a:off x="502920" y="4023360"/>
            <a:ext cx="11155680" cy="1417320"/>
          </a:xfrm>
          <a:prstGeom prst="roundRect">
            <a:avLst/>
          </a:prstGeom>
          <a:solidFill>
            <a:srgbClr val="10243A"/>
          </a:solidFill>
          <a:ln w="19050">
            <a:solidFill>
              <a:srgbClr val="D299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133087"/>
            <a:ext cx="10789920" cy="320040"/>
          </a:xfrm>
          <a:prstGeom prst="rect">
            <a:avLst/>
          </a:prstGeom>
          <a:noFill/>
        </p:spPr>
        <p:txBody>
          <a:bodyPr wrap="square" anchor="t">
            <a:spAutoFit/>
          </a:bodyPr>
          <a:lstStyle/>
          <a:p>
            <a:pPr algn="l">
              <a:spcBef>
                <a:spcPts val="0"/>
              </a:spcBef>
              <a:spcAft>
                <a:spcPts val="400"/>
              </a:spcAft>
            </a:pPr>
            <a:r>
              <a:rPr sz="1250" b="1">
                <a:solidFill>
                  <a:srgbClr val="D29922"/>
                </a:solidFill>
                <a:latin typeface="Calibri"/>
              </a:rPr>
              <a:t>OPTIONAL — keyed APIs (.env, OFF by default; the system runs fully without any)</a:t>
            </a:r>
          </a:p>
        </p:txBody>
      </p:sp>
      <p:sp>
        <p:nvSpPr>
          <p:cNvPr id="14" name="TextBox 13"/>
          <p:cNvSpPr txBox="1"/>
          <p:nvPr/>
        </p:nvSpPr>
        <p:spPr>
          <a:xfrm>
            <a:off x="685800" y="4498848"/>
            <a:ext cx="10789920" cy="914400"/>
          </a:xfrm>
          <a:prstGeom prst="rect">
            <a:avLst/>
          </a:prstGeom>
          <a:noFill/>
        </p:spPr>
        <p:txBody>
          <a:bodyPr wrap="square" anchor="t">
            <a:spAutoFit/>
          </a:bodyPr>
          <a:lstStyle/>
          <a:p>
            <a:pPr algn="l">
              <a:spcBef>
                <a:spcPts val="0"/>
              </a:spcBef>
              <a:spcAft>
                <a:spcPts val="500"/>
              </a:spcAft>
            </a:pPr>
            <a:r>
              <a:rPr sz="1300" b="1">
                <a:solidFill>
                  <a:srgbClr val="E6EDF3"/>
                </a:solidFill>
                <a:latin typeface="Calibri"/>
              </a:rPr>
              <a:t>Paid/keyed CTI that plugs into the STRUCTURED collector:  </a:t>
            </a:r>
            <a:r>
              <a:rPr sz="1300" b="0">
                <a:solidFill>
                  <a:srgbClr val="FFFFFF"/>
                </a:solidFill>
                <a:latin typeface="Calibri"/>
              </a:rPr>
              <a:t>Shodan · DNSlytics · Flare · VirusTotal · AbuseIPDB · GreyNoise</a:t>
            </a:r>
          </a:p>
          <a:p>
            <a:pPr algn="l">
              <a:spcBef>
                <a:spcPts val="0"/>
              </a:spcBef>
              <a:spcAft>
                <a:spcPts val="500"/>
              </a:spcAft>
            </a:pPr>
            <a:r>
              <a:rPr sz="1200" b="0">
                <a:solidFill>
                  <a:srgbClr val="9FB0C3"/>
                </a:solidFill>
                <a:latin typeface="Calibri"/>
              </a:rPr>
              <a:t>Each degrades to a clear ‘needs KEY’ skip when absent — no key is required to operate.</a:t>
            </a:r>
          </a:p>
        </p:txBody>
      </p:sp>
      <p:sp>
        <p:nvSpPr>
          <p:cNvPr id="15" name="TextBox 14"/>
          <p:cNvSpPr txBox="1"/>
          <p:nvPr/>
        </p:nvSpPr>
        <p:spPr>
          <a:xfrm>
            <a:off x="502920" y="5623560"/>
            <a:ext cx="11155680" cy="640080"/>
          </a:xfrm>
          <a:prstGeom prst="rect">
            <a:avLst/>
          </a:prstGeom>
          <a:noFill/>
        </p:spPr>
        <p:txBody>
          <a:bodyPr wrap="square" anchor="t">
            <a:spAutoFit/>
          </a:bodyPr>
          <a:lstStyle/>
          <a:p>
            <a:pPr algn="l">
              <a:spcBef>
                <a:spcPts val="0"/>
              </a:spcBef>
              <a:spcAft>
                <a:spcPts val="400"/>
              </a:spcAft>
            </a:pPr>
            <a:r>
              <a:rPr sz="1250" b="0">
                <a:solidFill>
                  <a:srgbClr val="E6EDF3"/>
                </a:solidFill>
                <a:latin typeface="Calibri"/>
              </a:rPr>
              <a:t>Footprint summary: one Python venv + up to ~11 well-known OSINT CLIs + one binary (exiftool). No services, no daemons, no admin rights required.</a:t>
            </a:r>
          </a:p>
        </p:txBody>
      </p:sp>
      <p:sp>
        <p:nvSpPr>
          <p:cNvPr id="16" name="TextBox 15"/>
          <p:cNvSpPr txBox="1"/>
          <p:nvPr/>
        </p:nvSpPr>
        <p:spPr>
          <a:xfrm>
            <a:off x="502920" y="6473952"/>
            <a:ext cx="7315200" cy="292608"/>
          </a:xfrm>
          <a:prstGeom prst="rect">
            <a:avLst/>
          </a:prstGeom>
          <a:noFill/>
        </p:spPr>
        <p:txBody>
          <a:bodyPr wrap="square" anchor="t">
            <a:spAutoFit/>
          </a:bodyPr>
          <a:lstStyle/>
          <a:p>
            <a:pPr algn="l">
              <a:spcBef>
                <a:spcPts val="0"/>
              </a:spcBef>
              <a:spcAft>
                <a:spcPts val="400"/>
              </a:spcAft>
            </a:pPr>
            <a:r>
              <a:rPr sz="1000" b="0">
                <a:solidFill>
                  <a:srgbClr val="9FB0C3"/>
                </a:solidFill>
                <a:latin typeface="Calibri"/>
              </a:rPr>
              <a:t>OSINT Investigator  ·  external-OSINT only  ·  runs locally</a:t>
            </a:r>
          </a:p>
        </p:txBody>
      </p:sp>
      <p:sp>
        <p:nvSpPr>
          <p:cNvPr id="17" name="TextBox 16"/>
          <p:cNvSpPr txBox="1"/>
          <p:nvPr/>
        </p:nvSpPr>
        <p:spPr>
          <a:xfrm>
            <a:off x="8321040" y="6473952"/>
            <a:ext cx="3337560" cy="292608"/>
          </a:xfrm>
          <a:prstGeom prst="rect">
            <a:avLst/>
          </a:prstGeom>
          <a:noFill/>
        </p:spPr>
        <p:txBody>
          <a:bodyPr wrap="square" anchor="t">
            <a:spAutoFit/>
          </a:bodyPr>
          <a:lstStyle/>
          <a:p>
            <a:pPr algn="r">
              <a:spcBef>
                <a:spcPts val="0"/>
              </a:spcBef>
              <a:spcAft>
                <a:spcPts val="400"/>
              </a:spcAft>
            </a:pPr>
            <a:r>
              <a:rPr sz="1000" b="0">
                <a:solidFill>
                  <a:srgbClr val="9FB0C3"/>
                </a:solidFill>
                <a:latin typeface="Calibri"/>
              </a:rPr>
              <a:t>Appendix · install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