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force-multiplier for an OSINT analyst. It does the tedious collection and first-pass link analysis at machine speed, and shows its work so you can trust or challenge every line. I'll finish with a real case where it mapped a ticket-fraud network from one URL.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for an analyst is the pivoting and confidence tiering. The headline for IT is the three properties on the right — local, auditable, external-only.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idea is separation of powers. Collectors are dumb pipes. One supervisor does all analysis. An independent red-team agent tries to break the conclusions before they reach you. That's what keeps a big auto-generated graph honest.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Adding coverage is cheap and safe: a new tool is a spec the ontology routes to, not bespoke plumbing. The honesty test means the system's self-description is always true — important when you brief findings up the chain.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mainstream open-source packages, everything pinned, one command to build and self-verify. No black box — an IT reviewer can read the whole dependency list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at one URL. The system expands the hosting neighborhood, fingerprints the sites, and clusters them by shared analytics IDs — the technique investigative journalists use by hand. Here it did it automatically and kept a running, tiered graph.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tool only ever confirms its first guess, you can't trust it. This one argued with itself on the record, upgraded its conclusion when the evidence justified it, and protected the innocent business. That discipline is what makes machine-assisted attribution safe to brief.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internal goes in. What goes out is the same public lookups an analyst runs manually. Results and keys never leave the box and are never committed to git.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 supply-chain reviewer wants: short pinned dependency list, every tool is a readable spec, no hidden network calls, opt-in extras, permissive license, and an automated gate that proves the system still works after any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ready, it's open, and it's built to be trusted. I'm asking for the green light to use it as a local analyst tool — and I'm happy to walk IT through the code and the audit trail.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64592"/>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0" y="6693408"/>
            <a:ext cx="12191695" cy="164592"/>
          </a:xfrm>
          <a:prstGeom prst="round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65960"/>
            <a:ext cx="10515600" cy="1097280"/>
          </a:xfrm>
          <a:prstGeom prst="rect">
            <a:avLst/>
          </a:prstGeom>
          <a:noFill/>
        </p:spPr>
        <p:txBody>
          <a:bodyPr wrap="square" anchor="t">
            <a:spAutoFit/>
          </a:bodyPr>
          <a:lstStyle/>
          <a:p>
            <a:pPr algn="l">
              <a:spcAft>
                <a:spcPts val="400"/>
              </a:spcAft>
            </a:pPr>
            <a:r>
              <a:rPr sz="5400" b="1">
                <a:solidFill>
                  <a:srgbClr val="FFFFFF"/>
                </a:solidFill>
                <a:latin typeface="Calibri"/>
              </a:rPr>
              <a:t>OSINT Investigator</a:t>
            </a:r>
          </a:p>
        </p:txBody>
      </p:sp>
      <p:sp>
        <p:nvSpPr>
          <p:cNvPr id="6" name="TextBox 5"/>
          <p:cNvSpPr txBox="1"/>
          <p:nvPr/>
        </p:nvSpPr>
        <p:spPr>
          <a:xfrm>
            <a:off x="822960" y="2971800"/>
            <a:ext cx="10515600" cy="731520"/>
          </a:xfrm>
          <a:prstGeom prst="rect">
            <a:avLst/>
          </a:prstGeom>
          <a:noFill/>
        </p:spPr>
        <p:txBody>
          <a:bodyPr wrap="square" anchor="t">
            <a:spAutoFit/>
          </a:bodyPr>
          <a:lstStyle/>
          <a:p>
            <a:pPr algn="l">
              <a:spcAft>
                <a:spcPts val="400"/>
              </a:spcAft>
            </a:pPr>
            <a:r>
              <a:rPr sz="2200" b="1">
                <a:solidFill>
                  <a:srgbClr val="58A6FF"/>
                </a:solidFill>
                <a:latin typeface="Calibri"/>
              </a:rPr>
              <a:t>Automated external-OSINT investigation — from one seed to a cited intelligence graph</a:t>
            </a:r>
          </a:p>
        </p:txBody>
      </p:sp>
      <p:sp>
        <p:nvSpPr>
          <p:cNvPr id="7" name="TextBox 6"/>
          <p:cNvSpPr txBox="1"/>
          <p:nvPr/>
        </p:nvSpPr>
        <p:spPr>
          <a:xfrm>
            <a:off x="822960" y="4023360"/>
            <a:ext cx="10515600" cy="1463040"/>
          </a:xfrm>
          <a:prstGeom prst="rect">
            <a:avLst/>
          </a:prstGeom>
          <a:noFill/>
        </p:spPr>
        <p:txBody>
          <a:bodyPr wrap="square" anchor="t">
            <a:spAutoFit/>
          </a:bodyPr>
          <a:lstStyle/>
          <a:p>
            <a:pPr algn="l">
              <a:spcAft>
                <a:spcPts val="800"/>
              </a:spcAft>
            </a:pPr>
            <a:r>
              <a:rPr sz="1700" b="0">
                <a:solidFill>
                  <a:srgbClr val="E6EDF3"/>
                </a:solidFill>
                <a:latin typeface="Calibri"/>
              </a:rPr>
              <a:t>Give it a seed (domain, email, username, name, IP…) → it pivots through open sources, builds a confidence-tiered entity graph, and produces a cited CTI report.</a:t>
            </a:r>
          </a:p>
          <a:p>
            <a:pPr algn="l">
              <a:spcAft>
                <a:spcPts val="800"/>
              </a:spcAft>
            </a:pPr>
            <a:r>
              <a:rPr sz="1600" b="1">
                <a:solidFill>
                  <a:srgbClr val="3FB950"/>
                </a:solidFill>
                <a:latin typeface="Calibri"/>
              </a:rPr>
              <a:t>External OSINT only · Runs locally · Never fabricates a finding.</a:t>
            </a:r>
          </a:p>
          <a:p>
            <a:pPr algn="l">
              <a:spcAft>
                <a:spcPts val="800"/>
              </a:spcAft>
            </a:pPr>
            <a:r>
              <a:rPr sz="1400" b="0">
                <a:solidFill>
                  <a:srgbClr val="9FB0C3"/>
                </a:solidFill>
                <a:latin typeface="Calibri"/>
              </a:rPr>
              <a:t>Open source (MIT) · agent-vendor-agnostic (Claude Code or OpenAI Codex)</a:t>
            </a:r>
          </a:p>
        </p:txBody>
      </p:sp>
      <p:sp>
        <p:nvSpPr>
          <p:cNvPr id="8" name="TextBox 7"/>
          <p:cNvSpPr txBox="1"/>
          <p:nvPr/>
        </p:nvSpPr>
        <p:spPr>
          <a:xfrm>
            <a:off x="822960" y="5989320"/>
            <a:ext cx="10515600" cy="457200"/>
          </a:xfrm>
          <a:prstGeom prst="rect">
            <a:avLst/>
          </a:prstGeom>
          <a:noFill/>
        </p:spPr>
        <p:txBody>
          <a:bodyPr wrap="square" anchor="t">
            <a:spAutoFit/>
          </a:bodyPr>
          <a:lstStyle/>
          <a:p>
            <a:pPr algn="l">
              <a:spcAft>
                <a:spcPts val="400"/>
              </a:spcAft>
            </a:pPr>
            <a:r>
              <a:rPr sz="1300" b="0">
                <a:solidFill>
                  <a:srgbClr val="9FB0C3"/>
                </a:solidFill>
                <a:latin typeface="Calibri"/>
              </a:rPr>
              <a:t>Analyst briefing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WHAT IT IS</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One seed in → a cited intelligence graph out</a:t>
            </a:r>
          </a:p>
        </p:txBody>
      </p:sp>
      <p:sp>
        <p:nvSpPr>
          <p:cNvPr id="6" name="TextBox 5"/>
          <p:cNvSpPr txBox="1"/>
          <p:nvPr/>
        </p:nvSpPr>
        <p:spPr>
          <a:xfrm>
            <a:off x="548640" y="1737360"/>
            <a:ext cx="5486400" cy="457200"/>
          </a:xfrm>
          <a:prstGeom prst="rect">
            <a:avLst/>
          </a:prstGeom>
          <a:noFill/>
        </p:spPr>
        <p:txBody>
          <a:bodyPr wrap="square" anchor="t">
            <a:spAutoFit/>
          </a:bodyPr>
          <a:lstStyle/>
          <a:p>
            <a:pPr algn="l">
              <a:spcAft>
                <a:spcPts val="400"/>
              </a:spcAft>
            </a:pPr>
            <a:r>
              <a:rPr sz="1300" b="1">
                <a:solidFill>
                  <a:srgbClr val="D29922"/>
                </a:solidFill>
                <a:latin typeface="Calibri"/>
              </a:rPr>
              <a:t>THE PROBLEM</a:t>
            </a:r>
          </a:p>
        </p:txBody>
      </p:sp>
      <p:sp>
        <p:nvSpPr>
          <p:cNvPr id="7" name="TextBox 6"/>
          <p:cNvSpPr txBox="1"/>
          <p:nvPr/>
        </p:nvSpPr>
        <p:spPr>
          <a:xfrm>
            <a:off x="548640" y="2057400"/>
            <a:ext cx="5486400" cy="1828800"/>
          </a:xfrm>
          <a:prstGeom prst="rect">
            <a:avLst/>
          </a:prstGeom>
          <a:noFill/>
        </p:spPr>
        <p:txBody>
          <a:bodyPr wrap="square" anchor="t">
            <a:spAutoFit/>
          </a:bodyPr>
          <a:lstStyle/>
          <a:p>
            <a:pPr algn="l">
              <a:spcAft>
                <a:spcPts val="400"/>
              </a:spcAft>
            </a:pPr>
            <a:r>
              <a:rPr sz="1700" b="0">
                <a:solidFill>
                  <a:srgbClr val="E6EDF3"/>
                </a:solidFill>
                <a:latin typeface="Calibri"/>
              </a:rPr>
              <a:t>An analyst handed one selector faces hours of manual lookups across dozens of tools — then has to keep every link straight by hand.</a:t>
            </a:r>
          </a:p>
        </p:txBody>
      </p:sp>
      <p:sp>
        <p:nvSpPr>
          <p:cNvPr id="8" name="TextBox 7"/>
          <p:cNvSpPr txBox="1"/>
          <p:nvPr/>
        </p:nvSpPr>
        <p:spPr>
          <a:xfrm>
            <a:off x="548640" y="3200400"/>
            <a:ext cx="5486400" cy="457200"/>
          </a:xfrm>
          <a:prstGeom prst="rect">
            <a:avLst/>
          </a:prstGeom>
          <a:noFill/>
        </p:spPr>
        <p:txBody>
          <a:bodyPr wrap="square" anchor="t">
            <a:spAutoFit/>
          </a:bodyPr>
          <a:lstStyle/>
          <a:p>
            <a:pPr algn="l">
              <a:spcAft>
                <a:spcPts val="400"/>
              </a:spcAft>
            </a:pPr>
            <a:r>
              <a:rPr sz="1300" b="1">
                <a:solidFill>
                  <a:srgbClr val="3FB950"/>
                </a:solidFill>
                <a:latin typeface="Calibri"/>
              </a:rPr>
              <a:t>WHAT THIS DOES</a:t>
            </a:r>
          </a:p>
        </p:txBody>
      </p:sp>
      <p:sp>
        <p:nvSpPr>
          <p:cNvPr id="9" name="TextBox 8"/>
          <p:cNvSpPr txBox="1"/>
          <p:nvPr/>
        </p:nvSpPr>
        <p:spPr>
          <a:xfrm>
            <a:off x="548640" y="3520440"/>
            <a:ext cx="5669280" cy="2743200"/>
          </a:xfrm>
          <a:prstGeom prst="rect">
            <a:avLst/>
          </a:prstGeom>
          <a:noFill/>
        </p:spPr>
        <p:txBody>
          <a:bodyPr wrap="square">
            <a:spAutoFit/>
          </a:bodyPr>
          <a:lstStyle/>
          <a:p>
            <a:pPr>
              <a:spcAft>
                <a:spcPts val="700"/>
              </a:spcAft>
            </a:pPr>
            <a:r>
              <a:rPr sz="1550" b="0">
                <a:solidFill>
                  <a:srgbClr val="E6EDF3"/>
                </a:solidFill>
                <a:latin typeface="Calibri"/>
              </a:rPr>
              <a:t>•  Runs the right tools automatically (ontology-driven, not hardcoded)</a:t>
            </a:r>
          </a:p>
          <a:p>
            <a:pPr>
              <a:spcAft>
                <a:spcPts val="700"/>
              </a:spcAft>
            </a:pPr>
            <a:r>
              <a:rPr sz="1550" b="0">
                <a:solidFill>
                  <a:srgbClr val="E6EDF3"/>
                </a:solidFill>
                <a:latin typeface="Calibri"/>
              </a:rPr>
              <a:t>•  Analyzes raw output and grades every finding by confidence</a:t>
            </a:r>
          </a:p>
          <a:p>
            <a:pPr>
              <a:spcAft>
                <a:spcPts val="700"/>
              </a:spcAft>
            </a:pPr>
            <a:r>
              <a:rPr sz="1550" b="0">
                <a:solidFill>
                  <a:srgbClr val="E6EDF3"/>
                </a:solidFill>
                <a:latin typeface="Calibri"/>
              </a:rPr>
              <a:t>•  Pivots on its own findings — loops until the leads run dry</a:t>
            </a:r>
          </a:p>
          <a:p>
            <a:pPr>
              <a:spcAft>
                <a:spcPts val="700"/>
              </a:spcAft>
            </a:pPr>
            <a:r>
              <a:rPr sz="1550" b="0">
                <a:solidFill>
                  <a:srgbClr val="E6EDF3"/>
                </a:solidFill>
                <a:latin typeface="Calibri"/>
              </a:rPr>
              <a:t>•  Red-teams itself before writing a report</a:t>
            </a:r>
          </a:p>
          <a:p>
            <a:pPr>
              <a:spcAft>
                <a:spcPts val="700"/>
              </a:spcAft>
            </a:pPr>
            <a:r>
              <a:rPr sz="1550" b="0">
                <a:solidFill>
                  <a:srgbClr val="E6EDF3"/>
                </a:solidFill>
                <a:latin typeface="Calibri"/>
              </a:rPr>
              <a:t>•  Ships a narrative report — every finding cited to tool output</a:t>
            </a:r>
          </a:p>
        </p:txBody>
      </p:sp>
      <p:sp>
        <p:nvSpPr>
          <p:cNvPr id="10" name="Rounded Rectangle 9"/>
          <p:cNvSpPr/>
          <p:nvPr/>
        </p:nvSpPr>
        <p:spPr>
          <a:xfrm>
            <a:off x="6446520" y="1783080"/>
            <a:ext cx="5212080" cy="4480560"/>
          </a:xfrm>
          <a:prstGeom prst="roundRect">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1965960"/>
            <a:ext cx="4663440" cy="457200"/>
          </a:xfrm>
          <a:prstGeom prst="rect">
            <a:avLst/>
          </a:prstGeom>
          <a:noFill/>
        </p:spPr>
        <p:txBody>
          <a:bodyPr wrap="square" anchor="t">
            <a:spAutoFit/>
          </a:bodyPr>
          <a:lstStyle/>
          <a:p>
            <a:pPr algn="l">
              <a:spcAft>
                <a:spcPts val="400"/>
              </a:spcAft>
            </a:pPr>
            <a:r>
              <a:rPr sz="1300" b="1">
                <a:solidFill>
                  <a:srgbClr val="58A6FF"/>
                </a:solidFill>
                <a:latin typeface="Calibri"/>
              </a:rPr>
              <a:t>THREE PROPERTIES THAT MAKE IT TRUSTWORTHY</a:t>
            </a:r>
          </a:p>
        </p:txBody>
      </p:sp>
      <p:sp>
        <p:nvSpPr>
          <p:cNvPr id="12" name="TextBox 11"/>
          <p:cNvSpPr txBox="1"/>
          <p:nvPr/>
        </p:nvSpPr>
        <p:spPr>
          <a:xfrm>
            <a:off x="6720840" y="2514600"/>
            <a:ext cx="4663440" cy="3657600"/>
          </a:xfrm>
          <a:prstGeom prst="rect">
            <a:avLst/>
          </a:prstGeom>
          <a:noFill/>
        </p:spPr>
        <p:txBody>
          <a:bodyPr wrap="square" anchor="t">
            <a:spAutoFit/>
          </a:bodyPr>
          <a:lstStyle/>
          <a:p>
            <a:pPr algn="l">
              <a:spcAft>
                <a:spcPts val="500"/>
              </a:spcAft>
            </a:pPr>
            <a:r>
              <a:rPr sz="1800" b="1">
                <a:solidFill>
                  <a:srgbClr val="FFFFFF"/>
                </a:solidFill>
                <a:latin typeface="Calibri"/>
              </a:rPr>
              <a:t>1. No hallucination</a:t>
            </a:r>
          </a:p>
          <a:p>
            <a:pPr algn="l">
              <a:spcAft>
                <a:spcPts val="500"/>
              </a:spcAft>
            </a:pPr>
            <a:r>
              <a:rPr sz="1450" b="0">
                <a:solidFill>
                  <a:srgbClr val="9FB0C3"/>
                </a:solidFill>
                <a:latin typeface="Calibri"/>
              </a:rPr>
              <a:t>Every claim traces to a specific tool output or source URL.</a:t>
            </a:r>
          </a:p>
          <a:p>
            <a:pPr algn="l">
              <a:spcAft>
                <a:spcPts val="500"/>
              </a:spcAft>
            </a:pPr>
            <a:r>
              <a:rPr sz="600" b="0">
                <a:solidFill>
                  <a:srgbClr val="9FB0C3"/>
                </a:solidFill>
                <a:latin typeface="Calibri"/>
              </a:rPr>
              <a:t> </a:t>
            </a:r>
          </a:p>
          <a:p>
            <a:pPr algn="l">
              <a:spcAft>
                <a:spcPts val="500"/>
              </a:spcAft>
            </a:pPr>
            <a:r>
              <a:rPr sz="1800" b="1">
                <a:solidFill>
                  <a:srgbClr val="FFFFFF"/>
                </a:solidFill>
                <a:latin typeface="Calibri"/>
              </a:rPr>
              <a:t>2. Full audit trail</a:t>
            </a:r>
          </a:p>
          <a:p>
            <a:pPr algn="l">
              <a:spcAft>
                <a:spcPts val="500"/>
              </a:spcAft>
            </a:pPr>
            <a:r>
              <a:rPr sz="1450" b="0">
                <a:solidFill>
                  <a:srgbClr val="9FB0C3"/>
                </a:solidFill>
                <a:latin typeface="Calibri"/>
              </a:rPr>
              <a:t>Every tool run logged raw; the graph is reproducible.</a:t>
            </a:r>
          </a:p>
          <a:p>
            <a:pPr algn="l">
              <a:spcAft>
                <a:spcPts val="500"/>
              </a:spcAft>
            </a:pPr>
            <a:r>
              <a:rPr sz="600" b="0">
                <a:solidFill>
                  <a:srgbClr val="9FB0C3"/>
                </a:solidFill>
                <a:latin typeface="Calibri"/>
              </a:rPr>
              <a:t> </a:t>
            </a:r>
          </a:p>
          <a:p>
            <a:pPr algn="l">
              <a:spcAft>
                <a:spcPts val="500"/>
              </a:spcAft>
            </a:pPr>
            <a:r>
              <a:rPr sz="1800" b="1">
                <a:solidFill>
                  <a:srgbClr val="FFFFFF"/>
                </a:solidFill>
                <a:latin typeface="Calibri"/>
              </a:rPr>
              <a:t>3. Honest about limits</a:t>
            </a:r>
          </a:p>
          <a:p>
            <a:pPr algn="l">
              <a:spcAft>
                <a:spcPts val="500"/>
              </a:spcAft>
            </a:pPr>
            <a:r>
              <a:rPr sz="1450" b="0">
                <a:solidFill>
                  <a:srgbClr val="9FB0C3"/>
                </a:solidFill>
                <a:latin typeface="Calibri"/>
              </a:rPr>
              <a:t>Gaps are documented, never faked.</a:t>
            </a:r>
          </a:p>
        </p:txBody>
      </p:sp>
      <p:sp>
        <p:nvSpPr>
          <p:cNvPr id="13" name="TextBox 12"/>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14" name="TextBox 13"/>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BLUF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OPERATIONAL CONCEPT (OV-1)</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One seed → cited graph + report, with two adversarial gates</a:t>
            </a:r>
          </a:p>
        </p:txBody>
      </p:sp>
      <p:sp>
        <p:nvSpPr>
          <p:cNvPr id="6" name="Rounded Rectangle 5"/>
          <p:cNvSpPr/>
          <p:nvPr/>
        </p:nvSpPr>
        <p:spPr>
          <a:xfrm>
            <a:off x="548640" y="2788920"/>
            <a:ext cx="1371600" cy="384048"/>
          </a:xfrm>
          <a:prstGeom prst="roundRect">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E6EDF3"/>
                </a:solidFill>
                <a:latin typeface="Calibri"/>
              </a:rPr>
              <a:t>SEED
selector</a:t>
            </a:r>
          </a:p>
        </p:txBody>
      </p:sp>
      <p:sp>
        <p:nvSpPr>
          <p:cNvPr id="7" name="Right Arrow 6"/>
          <p:cNvSpPr/>
          <p:nvPr/>
        </p:nvSpPr>
        <p:spPr>
          <a:xfrm>
            <a:off x="1965960" y="2926080"/>
            <a:ext cx="411480" cy="256032"/>
          </a:xfrm>
          <a:prstGeom prst="rightArrow">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514600" y="2103120"/>
            <a:ext cx="3200400" cy="2743200"/>
          </a:xfrm>
          <a:prstGeom prst="roundRect">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06040" y="2194560"/>
            <a:ext cx="3017520" cy="457200"/>
          </a:xfrm>
          <a:prstGeom prst="rect">
            <a:avLst/>
          </a:prstGeom>
          <a:noFill/>
        </p:spPr>
        <p:txBody>
          <a:bodyPr wrap="square" anchor="t">
            <a:spAutoFit/>
          </a:bodyPr>
          <a:lstStyle/>
          <a:p>
            <a:pPr algn="l">
              <a:spcAft>
                <a:spcPts val="400"/>
              </a:spcAft>
            </a:pPr>
            <a:r>
              <a:rPr sz="1300" b="1">
                <a:solidFill>
                  <a:srgbClr val="58A6FF"/>
                </a:solidFill>
                <a:latin typeface="Calibri"/>
              </a:rPr>
              <a:t>SUPERVISOR  (the only brain)</a:t>
            </a:r>
          </a:p>
        </p:txBody>
      </p:sp>
      <p:sp>
        <p:nvSpPr>
          <p:cNvPr id="10" name="TextBox 9"/>
          <p:cNvSpPr txBox="1"/>
          <p:nvPr/>
        </p:nvSpPr>
        <p:spPr>
          <a:xfrm>
            <a:off x="2606040" y="2532888"/>
            <a:ext cx="3017520" cy="365760"/>
          </a:xfrm>
          <a:prstGeom prst="rect">
            <a:avLst/>
          </a:prstGeom>
          <a:noFill/>
        </p:spPr>
        <p:txBody>
          <a:bodyPr wrap="square" anchor="t">
            <a:spAutoFit/>
          </a:bodyPr>
          <a:lstStyle/>
          <a:p>
            <a:pPr algn="l">
              <a:spcAft>
                <a:spcPts val="400"/>
              </a:spcAft>
            </a:pPr>
            <a:r>
              <a:rPr sz="1150" b="0">
                <a:solidFill>
                  <a:srgbClr val="9FB0C3"/>
                </a:solidFill>
                <a:latin typeface="Calibri"/>
              </a:rPr>
              <a:t>routes via the ONTOLOGY</a:t>
            </a:r>
          </a:p>
        </p:txBody>
      </p:sp>
      <p:sp>
        <p:nvSpPr>
          <p:cNvPr id="11" name="Rounded Rectangle 10"/>
          <p:cNvSpPr/>
          <p:nvPr/>
        </p:nvSpPr>
        <p:spPr>
          <a:xfrm>
            <a:off x="2697480" y="2926080"/>
            <a:ext cx="2834640" cy="384048"/>
          </a:xfrm>
          <a:prstGeom prst="roundRect">
            <a:avLst/>
          </a:prstGeom>
          <a:solidFill>
            <a:srgbClr val="16324F"/>
          </a:solidFill>
          <a:ln w="19050">
            <a:solidFill>
              <a:srgbClr val="3FB95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E6EDF3"/>
                </a:solidFill>
                <a:latin typeface="Calibri"/>
              </a:rPr>
              <a:t>STRUCTURED line — 58 typed tools</a:t>
            </a:r>
          </a:p>
        </p:txBody>
      </p:sp>
      <p:sp>
        <p:nvSpPr>
          <p:cNvPr id="12" name="Rounded Rectangle 11"/>
          <p:cNvSpPr/>
          <p:nvPr/>
        </p:nvSpPr>
        <p:spPr>
          <a:xfrm>
            <a:off x="2697480" y="3383280"/>
            <a:ext cx="2834640" cy="384048"/>
          </a:xfrm>
          <a:prstGeom prst="roundRect">
            <a:avLst/>
          </a:prstGeom>
          <a:solidFill>
            <a:srgbClr val="16324F"/>
          </a:solidFill>
          <a:ln w="19050">
            <a:solidFill>
              <a:srgbClr val="3FB95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E6EDF3"/>
                </a:solidFill>
                <a:latin typeface="Calibri"/>
              </a:rPr>
              <a:t>WEB-SEARCH line — searches + fetches</a:t>
            </a:r>
          </a:p>
        </p:txBody>
      </p:sp>
      <p:sp>
        <p:nvSpPr>
          <p:cNvPr id="13" name="Rounded Rectangle 12"/>
          <p:cNvSpPr/>
          <p:nvPr/>
        </p:nvSpPr>
        <p:spPr>
          <a:xfrm>
            <a:off x="2697480" y="3840479"/>
            <a:ext cx="2834640" cy="384048"/>
          </a:xfrm>
          <a:prstGeom prst="roundRect">
            <a:avLst/>
          </a:prstGeom>
          <a:solidFill>
            <a:srgbClr val="16324F"/>
          </a:solidFill>
          <a:ln w="19050">
            <a:solidFill>
              <a:srgbClr val="3FB95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E6EDF3"/>
                </a:solidFill>
                <a:latin typeface="Calibri"/>
              </a:rPr>
              <a:t>ACTIVE line — tracker/analytics IDs</a:t>
            </a:r>
          </a:p>
        </p:txBody>
      </p:sp>
      <p:sp>
        <p:nvSpPr>
          <p:cNvPr id="14" name="TextBox 13"/>
          <p:cNvSpPr txBox="1"/>
          <p:nvPr/>
        </p:nvSpPr>
        <p:spPr>
          <a:xfrm>
            <a:off x="2606040" y="4343400"/>
            <a:ext cx="3017520" cy="365760"/>
          </a:xfrm>
          <a:prstGeom prst="rect">
            <a:avLst/>
          </a:prstGeom>
          <a:noFill/>
        </p:spPr>
        <p:txBody>
          <a:bodyPr wrap="square" anchor="t">
            <a:spAutoFit/>
          </a:bodyPr>
          <a:lstStyle/>
          <a:p>
            <a:pPr algn="l">
              <a:spcAft>
                <a:spcPts val="400"/>
              </a:spcAft>
            </a:pPr>
            <a:r>
              <a:rPr sz="1100" b="1">
                <a:solidFill>
                  <a:srgbClr val="D29922"/>
                </a:solidFill>
                <a:latin typeface="Calibri"/>
              </a:rPr>
              <a:t>collect raw · log · NEVER write the graph</a:t>
            </a:r>
          </a:p>
        </p:txBody>
      </p:sp>
      <p:sp>
        <p:nvSpPr>
          <p:cNvPr id="15" name="Right Arrow 14"/>
          <p:cNvSpPr/>
          <p:nvPr/>
        </p:nvSpPr>
        <p:spPr>
          <a:xfrm>
            <a:off x="5760720" y="3383280"/>
            <a:ext cx="411480" cy="256032"/>
          </a:xfrm>
          <a:prstGeom prst="rightArrow">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2103120"/>
            <a:ext cx="2468880" cy="2743200"/>
          </a:xfrm>
          <a:prstGeom prst="roundRect">
            <a:avLst/>
          </a:prstGeom>
          <a:solidFill>
            <a:srgbClr val="16324F"/>
          </a:solidFill>
          <a:ln w="19050">
            <a:solidFill>
              <a:srgbClr val="3FB9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240279"/>
            <a:ext cx="2286000" cy="2560320"/>
          </a:xfrm>
          <a:prstGeom prst="rect">
            <a:avLst/>
          </a:prstGeom>
          <a:noFill/>
        </p:spPr>
        <p:txBody>
          <a:bodyPr wrap="square" anchor="t">
            <a:spAutoFit/>
          </a:bodyPr>
          <a:lstStyle/>
          <a:p>
            <a:pPr algn="l">
              <a:spcAft>
                <a:spcPts val="300"/>
              </a:spcAft>
            </a:pPr>
            <a:r>
              <a:rPr sz="1400" b="1">
                <a:solidFill>
                  <a:srgbClr val="FFFFFF"/>
                </a:solidFill>
                <a:latin typeface="Calibri"/>
              </a:rPr>
              <a:t>ANALYZE + TIER</a:t>
            </a:r>
          </a:p>
          <a:p>
            <a:pPr algn="l">
              <a:spcAft>
                <a:spcPts val="300"/>
              </a:spcAft>
            </a:pPr>
            <a:r>
              <a:rPr sz="1250" b="1">
                <a:solidFill>
                  <a:srgbClr val="3FB950"/>
                </a:solidFill>
                <a:latin typeface="Calibri"/>
              </a:rPr>
              <a:t>highly likely /</a:t>
            </a:r>
          </a:p>
          <a:p>
            <a:pPr algn="l">
              <a:spcAft>
                <a:spcPts val="300"/>
              </a:spcAft>
            </a:pPr>
            <a:r>
              <a:rPr sz="1250" b="1">
                <a:solidFill>
                  <a:srgbClr val="D29922"/>
                </a:solidFill>
                <a:latin typeface="Calibri"/>
              </a:rPr>
              <a:t>probable /</a:t>
            </a:r>
          </a:p>
          <a:p>
            <a:pPr algn="l">
              <a:spcAft>
                <a:spcPts val="300"/>
              </a:spcAft>
            </a:pPr>
            <a:r>
              <a:rPr sz="1250" b="1">
                <a:solidFill>
                  <a:srgbClr val="9FB0C3"/>
                </a:solidFill>
                <a:latin typeface="Calibri"/>
              </a:rPr>
              <a:t>possible</a:t>
            </a:r>
          </a:p>
          <a:p>
            <a:pPr algn="l">
              <a:spcAft>
                <a:spcPts val="300"/>
              </a:spcAft>
            </a:pPr>
            <a:r>
              <a:rPr sz="800" b="0">
                <a:solidFill>
                  <a:srgbClr val="9FB0C3"/>
                </a:solidFill>
                <a:latin typeface="Calibri"/>
              </a:rPr>
              <a:t> </a:t>
            </a:r>
          </a:p>
          <a:p>
            <a:pPr algn="l">
              <a:spcAft>
                <a:spcPts val="300"/>
              </a:spcAft>
            </a:pPr>
            <a:r>
              <a:rPr sz="1350" b="1">
                <a:solidFill>
                  <a:srgbClr val="FFFFFF"/>
                </a:solidFill>
                <a:latin typeface="Calibri"/>
              </a:rPr>
              <a:t>COMMIT to graph</a:t>
            </a:r>
          </a:p>
          <a:p>
            <a:pPr algn="l">
              <a:spcAft>
                <a:spcPts val="300"/>
              </a:spcAft>
            </a:pPr>
            <a:r>
              <a:rPr sz="1250" b="0">
                <a:solidFill>
                  <a:srgbClr val="E6EDF3"/>
                </a:solidFill>
                <a:latin typeface="Calibri"/>
              </a:rPr>
              <a:t>→ PIVOT each new</a:t>
            </a:r>
          </a:p>
          <a:p>
            <a:pPr algn="l">
              <a:spcAft>
                <a:spcPts val="300"/>
              </a:spcAft>
            </a:pPr>
            <a:r>
              <a:rPr sz="1250" b="0">
                <a:solidFill>
                  <a:srgbClr val="E6EDF3"/>
                </a:solidFill>
                <a:latin typeface="Calibri"/>
              </a:rPr>
              <a:t>entity (loop)</a:t>
            </a:r>
          </a:p>
        </p:txBody>
      </p:sp>
      <p:sp>
        <p:nvSpPr>
          <p:cNvPr id="18" name="Right Arrow 17"/>
          <p:cNvSpPr/>
          <p:nvPr/>
        </p:nvSpPr>
        <p:spPr>
          <a:xfrm>
            <a:off x="8823960" y="3383280"/>
            <a:ext cx="411480" cy="256032"/>
          </a:xfrm>
          <a:prstGeom prst="rightArrow">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72600" y="2103120"/>
            <a:ext cx="2286000" cy="2743200"/>
          </a:xfrm>
          <a:prstGeom prst="roundRect">
            <a:avLst/>
          </a:prstGeom>
          <a:solidFill>
            <a:srgbClr val="16324F"/>
          </a:solidFill>
          <a:ln w="19050">
            <a:solidFill>
              <a:srgbClr val="BC8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4040" y="2240279"/>
            <a:ext cx="2103120" cy="2560320"/>
          </a:xfrm>
          <a:prstGeom prst="rect">
            <a:avLst/>
          </a:prstGeom>
          <a:noFill/>
        </p:spPr>
        <p:txBody>
          <a:bodyPr wrap="square" anchor="t">
            <a:spAutoFit/>
          </a:bodyPr>
          <a:lstStyle/>
          <a:p>
            <a:pPr algn="l">
              <a:spcAft>
                <a:spcPts val="300"/>
              </a:spcAft>
            </a:pPr>
            <a:r>
              <a:rPr sz="1400" b="1">
                <a:solidFill>
                  <a:srgbClr val="BC8CFF"/>
                </a:solidFill>
                <a:latin typeface="Calibri"/>
              </a:rPr>
              <a:t>RED-TEAM GATE</a:t>
            </a:r>
          </a:p>
          <a:p>
            <a:pPr algn="l">
              <a:spcAft>
                <a:spcPts val="300"/>
              </a:spcAft>
            </a:pPr>
            <a:r>
              <a:rPr sz="1250" b="0">
                <a:solidFill>
                  <a:srgbClr val="9FB0C3"/>
                </a:solidFill>
                <a:latin typeface="Calibri"/>
              </a:rPr>
              <a:t>challenges the</a:t>
            </a:r>
          </a:p>
          <a:p>
            <a:pPr algn="l">
              <a:spcAft>
                <a:spcPts val="300"/>
              </a:spcAft>
            </a:pPr>
            <a:r>
              <a:rPr sz="1250" b="0">
                <a:solidFill>
                  <a:srgbClr val="9FB0C3"/>
                </a:solidFill>
                <a:latin typeface="Calibri"/>
              </a:rPr>
              <a:t>analysis</a:t>
            </a:r>
          </a:p>
          <a:p>
            <a:pPr algn="l">
              <a:spcAft>
                <a:spcPts val="300"/>
              </a:spcAft>
            </a:pPr>
            <a:r>
              <a:rPr sz="800" b="0">
                <a:solidFill>
                  <a:srgbClr val="9FB0C3"/>
                </a:solidFill>
                <a:latin typeface="Calibri"/>
              </a:rPr>
              <a:t> </a:t>
            </a:r>
          </a:p>
          <a:p>
            <a:pPr algn="l">
              <a:spcAft>
                <a:spcPts val="300"/>
              </a:spcAft>
            </a:pPr>
            <a:r>
              <a:rPr sz="1350" b="1">
                <a:solidFill>
                  <a:srgbClr val="FFFFFF"/>
                </a:solidFill>
                <a:latin typeface="Calibri"/>
              </a:rPr>
              <a:t>REPORT-WRITER</a:t>
            </a:r>
          </a:p>
          <a:p>
            <a:pPr algn="l">
              <a:spcAft>
                <a:spcPts val="300"/>
              </a:spcAft>
            </a:pPr>
            <a:r>
              <a:rPr sz="1250" b="0">
                <a:solidFill>
                  <a:srgbClr val="9FB0C3"/>
                </a:solidFill>
                <a:latin typeface="Calibri"/>
              </a:rPr>
              <a:t>+ grounding gate</a:t>
            </a:r>
          </a:p>
          <a:p>
            <a:pPr algn="l">
              <a:spcAft>
                <a:spcPts val="300"/>
              </a:spcAft>
            </a:pPr>
            <a:r>
              <a:rPr sz="600" b="0">
                <a:solidFill>
                  <a:srgbClr val="9FB0C3"/>
                </a:solidFill>
                <a:latin typeface="Calibri"/>
              </a:rPr>
              <a:t> </a:t>
            </a:r>
          </a:p>
          <a:p>
            <a:pPr algn="l">
              <a:spcAft>
                <a:spcPts val="300"/>
              </a:spcAft>
            </a:pPr>
            <a:r>
              <a:rPr sz="1300" b="1">
                <a:solidFill>
                  <a:srgbClr val="3FB950"/>
                </a:solidFill>
                <a:latin typeface="Calibri"/>
              </a:rPr>
              <a:t>report.md / .html</a:t>
            </a:r>
          </a:p>
        </p:txBody>
      </p:sp>
      <p:sp>
        <p:nvSpPr>
          <p:cNvPr id="21" name="TextBox 20"/>
          <p:cNvSpPr txBox="1"/>
          <p:nvPr/>
        </p:nvSpPr>
        <p:spPr>
          <a:xfrm>
            <a:off x="548640" y="5623560"/>
            <a:ext cx="11064240" cy="731520"/>
          </a:xfrm>
          <a:prstGeom prst="rect">
            <a:avLst/>
          </a:prstGeom>
          <a:noFill/>
        </p:spPr>
        <p:txBody>
          <a:bodyPr wrap="square" anchor="t">
            <a:spAutoFit/>
          </a:bodyPr>
          <a:lstStyle/>
          <a:p>
            <a:pPr algn="l">
              <a:spcAft>
                <a:spcPts val="400"/>
              </a:spcAft>
            </a:pPr>
            <a:r>
              <a:rPr sz="1400" b="0">
                <a:solidFill>
                  <a:srgbClr val="E6EDF3"/>
                </a:solidFill>
                <a:latin typeface="Calibri"/>
              </a:rPr>
              <a:t>Separation of powers: collectors are dumb pipes · one supervisor analyzes &amp; tiers (the raw/analysis split) · an independent red team tries to break the conclusions before they ship.</a:t>
            </a:r>
          </a:p>
        </p:txBody>
      </p:sp>
      <p:sp>
        <p:nvSpPr>
          <p:cNvPr id="22" name="TextBox 21"/>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23" name="TextBox 22"/>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OV-1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THE ROUTING BRAIN</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The ontology decides what runs — nothing is hardcoded</a:t>
            </a:r>
          </a:p>
        </p:txBody>
      </p:sp>
      <p:sp>
        <p:nvSpPr>
          <p:cNvPr id="6" name="Rounded Rectangle 5"/>
          <p:cNvSpPr/>
          <p:nvPr/>
        </p:nvSpPr>
        <p:spPr>
          <a:xfrm>
            <a:off x="548640" y="1874519"/>
            <a:ext cx="6126480" cy="658368"/>
          </a:xfrm>
          <a:prstGeom prst="round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93391"/>
            <a:ext cx="4754880" cy="457200"/>
          </a:xfrm>
          <a:prstGeom prst="rect">
            <a:avLst/>
          </a:prstGeom>
          <a:noFill/>
        </p:spPr>
        <p:txBody>
          <a:bodyPr wrap="square" anchor="t">
            <a:spAutoFit/>
          </a:bodyPr>
          <a:lstStyle/>
          <a:p>
            <a:pPr algn="l">
              <a:spcAft>
                <a:spcPts val="400"/>
              </a:spcAft>
            </a:pPr>
            <a:r>
              <a:rPr sz="1500" b="0">
                <a:solidFill>
                  <a:srgbClr val="E6EDF3"/>
                </a:solidFill>
                <a:latin typeface="Calibri"/>
              </a:rPr>
              <a:t>Selector types the ontology can reason about</a:t>
            </a:r>
          </a:p>
        </p:txBody>
      </p:sp>
      <p:sp>
        <p:nvSpPr>
          <p:cNvPr id="8" name="TextBox 7"/>
          <p:cNvSpPr txBox="1"/>
          <p:nvPr/>
        </p:nvSpPr>
        <p:spPr>
          <a:xfrm>
            <a:off x="5486400" y="1929384"/>
            <a:ext cx="1097280" cy="548640"/>
          </a:xfrm>
          <a:prstGeom prst="rect">
            <a:avLst/>
          </a:prstGeom>
          <a:noFill/>
        </p:spPr>
        <p:txBody>
          <a:bodyPr wrap="square" anchor="t">
            <a:spAutoFit/>
          </a:bodyPr>
          <a:lstStyle/>
          <a:p>
            <a:pPr algn="r">
              <a:spcAft>
                <a:spcPts val="400"/>
              </a:spcAft>
            </a:pPr>
            <a:r>
              <a:rPr sz="2400" b="1">
                <a:solidFill>
                  <a:srgbClr val="58A6FF"/>
                </a:solidFill>
                <a:latin typeface="Calibri"/>
              </a:rPr>
              <a:t>92</a:t>
            </a:r>
          </a:p>
        </p:txBody>
      </p:sp>
      <p:sp>
        <p:nvSpPr>
          <p:cNvPr id="9" name="Rounded Rectangle 8"/>
          <p:cNvSpPr/>
          <p:nvPr/>
        </p:nvSpPr>
        <p:spPr>
          <a:xfrm>
            <a:off x="548640" y="2587752"/>
            <a:ext cx="6126480" cy="658368"/>
          </a:xfrm>
          <a:prstGeom prst="round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706624"/>
            <a:ext cx="4754880" cy="457200"/>
          </a:xfrm>
          <a:prstGeom prst="rect">
            <a:avLst/>
          </a:prstGeom>
          <a:noFill/>
        </p:spPr>
        <p:txBody>
          <a:bodyPr wrap="square" anchor="t">
            <a:spAutoFit/>
          </a:bodyPr>
          <a:lstStyle/>
          <a:p>
            <a:pPr algn="l">
              <a:spcAft>
                <a:spcPts val="400"/>
              </a:spcAft>
            </a:pPr>
            <a:r>
              <a:rPr sz="1500" b="0">
                <a:solidFill>
                  <a:srgbClr val="E6EDF3"/>
                </a:solidFill>
                <a:latin typeface="Calibri"/>
              </a:rPr>
              <a:t>Types with a dedicated structured tool</a:t>
            </a:r>
          </a:p>
        </p:txBody>
      </p:sp>
      <p:sp>
        <p:nvSpPr>
          <p:cNvPr id="11" name="TextBox 10"/>
          <p:cNvSpPr txBox="1"/>
          <p:nvPr/>
        </p:nvSpPr>
        <p:spPr>
          <a:xfrm>
            <a:off x="5486400" y="2642616"/>
            <a:ext cx="1097280" cy="548640"/>
          </a:xfrm>
          <a:prstGeom prst="rect">
            <a:avLst/>
          </a:prstGeom>
          <a:noFill/>
        </p:spPr>
        <p:txBody>
          <a:bodyPr wrap="square" anchor="t">
            <a:spAutoFit/>
          </a:bodyPr>
          <a:lstStyle/>
          <a:p>
            <a:pPr algn="r">
              <a:spcAft>
                <a:spcPts val="400"/>
              </a:spcAft>
            </a:pPr>
            <a:r>
              <a:rPr sz="2400" b="1">
                <a:solidFill>
                  <a:srgbClr val="3FB950"/>
                </a:solidFill>
                <a:latin typeface="Calibri"/>
              </a:rPr>
              <a:t>20</a:t>
            </a:r>
          </a:p>
        </p:txBody>
      </p:sp>
      <p:sp>
        <p:nvSpPr>
          <p:cNvPr id="12" name="Rounded Rectangle 11"/>
          <p:cNvSpPr/>
          <p:nvPr/>
        </p:nvSpPr>
        <p:spPr>
          <a:xfrm>
            <a:off x="548640" y="3300984"/>
            <a:ext cx="6126480" cy="658368"/>
          </a:xfrm>
          <a:prstGeom prst="round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419856"/>
            <a:ext cx="4754880" cy="457200"/>
          </a:xfrm>
          <a:prstGeom prst="rect">
            <a:avLst/>
          </a:prstGeom>
          <a:noFill/>
        </p:spPr>
        <p:txBody>
          <a:bodyPr wrap="square" anchor="t">
            <a:spAutoFit/>
          </a:bodyPr>
          <a:lstStyle/>
          <a:p>
            <a:pPr algn="l">
              <a:spcAft>
                <a:spcPts val="400"/>
              </a:spcAft>
            </a:pPr>
            <a:r>
              <a:rPr sz="1500" b="0">
                <a:solidFill>
                  <a:srgbClr val="E6EDF3"/>
                </a:solidFill>
                <a:latin typeface="Calibri"/>
              </a:rPr>
              <a:t>Runnable tools wired into the engine</a:t>
            </a:r>
          </a:p>
        </p:txBody>
      </p:sp>
      <p:sp>
        <p:nvSpPr>
          <p:cNvPr id="14" name="TextBox 13"/>
          <p:cNvSpPr txBox="1"/>
          <p:nvPr/>
        </p:nvSpPr>
        <p:spPr>
          <a:xfrm>
            <a:off x="5486400" y="3355848"/>
            <a:ext cx="1097280" cy="548640"/>
          </a:xfrm>
          <a:prstGeom prst="rect">
            <a:avLst/>
          </a:prstGeom>
          <a:noFill/>
        </p:spPr>
        <p:txBody>
          <a:bodyPr wrap="square" anchor="t">
            <a:spAutoFit/>
          </a:bodyPr>
          <a:lstStyle/>
          <a:p>
            <a:pPr algn="r">
              <a:spcAft>
                <a:spcPts val="400"/>
              </a:spcAft>
            </a:pPr>
            <a:r>
              <a:rPr sz="2400" b="1">
                <a:solidFill>
                  <a:srgbClr val="3FB950"/>
                </a:solidFill>
                <a:latin typeface="Calibri"/>
              </a:rPr>
              <a:t>58</a:t>
            </a:r>
          </a:p>
        </p:txBody>
      </p:sp>
      <p:sp>
        <p:nvSpPr>
          <p:cNvPr id="15" name="Rounded Rectangle 14"/>
          <p:cNvSpPr/>
          <p:nvPr/>
        </p:nvSpPr>
        <p:spPr>
          <a:xfrm>
            <a:off x="548640" y="4014216"/>
            <a:ext cx="6126480" cy="658368"/>
          </a:xfrm>
          <a:prstGeom prst="round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33088"/>
            <a:ext cx="4754880" cy="457200"/>
          </a:xfrm>
          <a:prstGeom prst="rect">
            <a:avLst/>
          </a:prstGeom>
          <a:noFill/>
        </p:spPr>
        <p:txBody>
          <a:bodyPr wrap="square" anchor="t">
            <a:spAutoFit/>
          </a:bodyPr>
          <a:lstStyle/>
          <a:p>
            <a:pPr algn="l">
              <a:spcAft>
                <a:spcPts val="400"/>
              </a:spcAft>
            </a:pPr>
            <a:r>
              <a:rPr sz="1500" b="0">
                <a:solidFill>
                  <a:srgbClr val="E6EDF3"/>
                </a:solidFill>
                <a:latin typeface="Calibri"/>
              </a:rPr>
              <a:t>Candidate-tool roadmap (what could be built)</a:t>
            </a:r>
          </a:p>
        </p:txBody>
      </p:sp>
      <p:sp>
        <p:nvSpPr>
          <p:cNvPr id="17" name="TextBox 16"/>
          <p:cNvSpPr txBox="1"/>
          <p:nvPr/>
        </p:nvSpPr>
        <p:spPr>
          <a:xfrm>
            <a:off x="5486400" y="4069080"/>
            <a:ext cx="1097280" cy="548640"/>
          </a:xfrm>
          <a:prstGeom prst="rect">
            <a:avLst/>
          </a:prstGeom>
          <a:noFill/>
        </p:spPr>
        <p:txBody>
          <a:bodyPr wrap="square" anchor="t">
            <a:spAutoFit/>
          </a:bodyPr>
          <a:lstStyle/>
          <a:p>
            <a:pPr algn="r">
              <a:spcAft>
                <a:spcPts val="400"/>
              </a:spcAft>
            </a:pPr>
            <a:r>
              <a:rPr sz="2400" b="1">
                <a:solidFill>
                  <a:srgbClr val="9FB0C3"/>
                </a:solidFill>
                <a:latin typeface="Calibri"/>
              </a:rPr>
              <a:t>1,031</a:t>
            </a:r>
          </a:p>
        </p:txBody>
      </p:sp>
      <p:sp>
        <p:nvSpPr>
          <p:cNvPr id="18" name="Rounded Rectangle 17"/>
          <p:cNvSpPr/>
          <p:nvPr/>
        </p:nvSpPr>
        <p:spPr>
          <a:xfrm>
            <a:off x="6949440" y="1874519"/>
            <a:ext cx="4709160" cy="3977639"/>
          </a:xfrm>
          <a:prstGeom prst="roundRect">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8040" y="2057400"/>
            <a:ext cx="4297680" cy="3657600"/>
          </a:xfrm>
          <a:prstGeom prst="rect">
            <a:avLst/>
          </a:prstGeom>
          <a:noFill/>
        </p:spPr>
        <p:txBody>
          <a:bodyPr wrap="square" anchor="t">
            <a:spAutoFit/>
          </a:bodyPr>
          <a:lstStyle/>
          <a:p>
            <a:pPr algn="l">
              <a:spcAft>
                <a:spcPts val="500"/>
              </a:spcAft>
            </a:pPr>
            <a:r>
              <a:rPr sz="1300" b="1">
                <a:solidFill>
                  <a:srgbClr val="58A6FF"/>
                </a:solidFill>
                <a:latin typeface="Calibri"/>
              </a:rPr>
              <a:t>ROUTING</a:t>
            </a:r>
          </a:p>
          <a:p>
            <a:pPr algn="l">
              <a:spcAft>
                <a:spcPts val="500"/>
              </a:spcAft>
            </a:pPr>
            <a:r>
              <a:rPr sz="1400" b="0">
                <a:solidFill>
                  <a:srgbClr val="E6EDF3"/>
                </a:solidFill>
                <a:latin typeface="Calibri"/>
              </a:rPr>
              <a:t>plan_collection(selector, type) → the exact tools to run + web-search availability + a fallback for bare handles.</a:t>
            </a:r>
          </a:p>
          <a:p>
            <a:pPr algn="l">
              <a:spcAft>
                <a:spcPts val="500"/>
              </a:spcAft>
            </a:pPr>
            <a:r>
              <a:rPr sz="700" b="0">
                <a:solidFill>
                  <a:srgbClr val="9FB0C3"/>
                </a:solidFill>
                <a:latin typeface="Calibri"/>
              </a:rPr>
              <a:t> </a:t>
            </a:r>
          </a:p>
          <a:p>
            <a:pPr algn="l">
              <a:spcAft>
                <a:spcPts val="500"/>
              </a:spcAft>
            </a:pPr>
            <a:r>
              <a:rPr sz="1300" b="1">
                <a:solidFill>
                  <a:srgbClr val="58A6FF"/>
                </a:solidFill>
                <a:latin typeface="Calibri"/>
              </a:rPr>
              <a:t>PIVOTING</a:t>
            </a:r>
          </a:p>
          <a:p>
            <a:pPr algn="l">
              <a:spcAft>
                <a:spcPts val="500"/>
              </a:spcAft>
            </a:pPr>
            <a:r>
              <a:rPr sz="1400" b="0">
                <a:solidFill>
                  <a:srgbClr val="E6EDF3"/>
                </a:solidFill>
                <a:latin typeface="Calibri"/>
              </a:rPr>
              <a:t>Each type declares what it yields (domain → IPs, certs, subdomains), so the system plans chains several hops ahead.</a:t>
            </a:r>
          </a:p>
          <a:p>
            <a:pPr algn="l">
              <a:spcAft>
                <a:spcPts val="500"/>
              </a:spcAft>
            </a:pPr>
            <a:r>
              <a:rPr sz="700" b="0">
                <a:solidFill>
                  <a:srgbClr val="9FB0C3"/>
                </a:solidFill>
                <a:latin typeface="Calibri"/>
              </a:rPr>
              <a:t> </a:t>
            </a:r>
          </a:p>
          <a:p>
            <a:pPr algn="l">
              <a:spcAft>
                <a:spcPts val="500"/>
              </a:spcAft>
            </a:pPr>
            <a:r>
              <a:rPr sz="1300" b="1">
                <a:solidFill>
                  <a:srgbClr val="3FB950"/>
                </a:solidFill>
                <a:latin typeface="Calibri"/>
              </a:rPr>
              <a:t>HONESTY, ENFORCED</a:t>
            </a:r>
          </a:p>
          <a:p>
            <a:pPr algn="l">
              <a:spcAft>
                <a:spcPts val="500"/>
              </a:spcAft>
            </a:pPr>
            <a:r>
              <a:rPr sz="1400" b="0">
                <a:solidFill>
                  <a:srgbClr val="E6EDF3"/>
                </a:solidFill>
                <a:latin typeface="Calibri"/>
              </a:rPr>
              <a:t>A regression test asserts every runnable tool is accounted for — the ontology can't lie about what runs.</a:t>
            </a:r>
          </a:p>
        </p:txBody>
      </p:sp>
      <p:sp>
        <p:nvSpPr>
          <p:cNvPr id="20" name="TextBox 19"/>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21" name="TextBox 20"/>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Ontology →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SOFTWARE LAYDOWN</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Small, auditable, standard — pure-Python engine</a:t>
            </a:r>
          </a:p>
        </p:txBody>
      </p:sp>
      <p:sp>
        <p:nvSpPr>
          <p:cNvPr id="6" name="TextBox 5"/>
          <p:cNvSpPr txBox="1"/>
          <p:nvPr/>
        </p:nvSpPr>
        <p:spPr>
          <a:xfrm>
            <a:off x="548640" y="1783080"/>
            <a:ext cx="5486400" cy="365760"/>
          </a:xfrm>
          <a:prstGeom prst="rect">
            <a:avLst/>
          </a:prstGeom>
          <a:noFill/>
        </p:spPr>
        <p:txBody>
          <a:bodyPr wrap="square" anchor="t">
            <a:spAutoFit/>
          </a:bodyPr>
          <a:lstStyle/>
          <a:p>
            <a:pPr algn="l">
              <a:spcAft>
                <a:spcPts val="400"/>
              </a:spcAft>
            </a:pPr>
            <a:r>
              <a:rPr sz="1300" b="1">
                <a:solidFill>
                  <a:srgbClr val="3FB950"/>
                </a:solidFill>
                <a:latin typeface="Calibri"/>
              </a:rPr>
              <a:t>CORE DEPENDENCIES (7, pinned)</a:t>
            </a:r>
          </a:p>
        </p:txBody>
      </p:sp>
      <p:sp>
        <p:nvSpPr>
          <p:cNvPr id="7" name="Rounded Rectangle 6"/>
          <p:cNvSpPr/>
          <p:nvPr/>
        </p:nvSpPr>
        <p:spPr>
          <a:xfrm>
            <a:off x="548640" y="2194560"/>
            <a:ext cx="5486400" cy="457200"/>
          </a:xfrm>
          <a:prstGeom prst="round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58568"/>
            <a:ext cx="2011680" cy="365760"/>
          </a:xfrm>
          <a:prstGeom prst="rect">
            <a:avLst/>
          </a:prstGeom>
          <a:noFill/>
        </p:spPr>
        <p:txBody>
          <a:bodyPr wrap="square" anchor="t">
            <a:spAutoFit/>
          </a:bodyPr>
          <a:lstStyle/>
          <a:p>
            <a:pPr algn="l">
              <a:spcAft>
                <a:spcPts val="400"/>
              </a:spcAft>
            </a:pPr>
            <a:r>
              <a:rPr sz="1400" b="1">
                <a:solidFill>
                  <a:srgbClr val="58A6FF"/>
                </a:solidFill>
                <a:latin typeface="Calibri"/>
              </a:rPr>
              <a:t>requests</a:t>
            </a:r>
          </a:p>
        </p:txBody>
      </p:sp>
      <p:sp>
        <p:nvSpPr>
          <p:cNvPr id="9" name="TextBox 8"/>
          <p:cNvSpPr txBox="1"/>
          <p:nvPr/>
        </p:nvSpPr>
        <p:spPr>
          <a:xfrm>
            <a:off x="2651760" y="2267712"/>
            <a:ext cx="3291840" cy="365760"/>
          </a:xfrm>
          <a:prstGeom prst="rect">
            <a:avLst/>
          </a:prstGeom>
          <a:noFill/>
        </p:spPr>
        <p:txBody>
          <a:bodyPr wrap="square" anchor="t">
            <a:spAutoFit/>
          </a:bodyPr>
          <a:lstStyle/>
          <a:p>
            <a:pPr algn="l">
              <a:spcAft>
                <a:spcPts val="400"/>
              </a:spcAft>
            </a:pPr>
            <a:r>
              <a:rPr sz="1250" b="0">
                <a:solidFill>
                  <a:srgbClr val="9FB0C3"/>
                </a:solidFill>
                <a:latin typeface="Calibri"/>
              </a:rPr>
              <a:t>HTTP client for all API tools</a:t>
            </a:r>
          </a:p>
        </p:txBody>
      </p:sp>
      <p:sp>
        <p:nvSpPr>
          <p:cNvPr id="10" name="Rounded Rectangle 9"/>
          <p:cNvSpPr/>
          <p:nvPr/>
        </p:nvSpPr>
        <p:spPr>
          <a:xfrm>
            <a:off x="548640" y="2688336"/>
            <a:ext cx="5486400" cy="457200"/>
          </a:xfrm>
          <a:prstGeom prst="round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52344"/>
            <a:ext cx="2011680" cy="365760"/>
          </a:xfrm>
          <a:prstGeom prst="rect">
            <a:avLst/>
          </a:prstGeom>
          <a:noFill/>
        </p:spPr>
        <p:txBody>
          <a:bodyPr wrap="square" anchor="t">
            <a:spAutoFit/>
          </a:bodyPr>
          <a:lstStyle/>
          <a:p>
            <a:pPr algn="l">
              <a:spcAft>
                <a:spcPts val="400"/>
              </a:spcAft>
            </a:pPr>
            <a:r>
              <a:rPr sz="1400" b="1">
                <a:solidFill>
                  <a:srgbClr val="58A6FF"/>
                </a:solidFill>
                <a:latin typeface="Calibri"/>
              </a:rPr>
              <a:t>networkx</a:t>
            </a:r>
          </a:p>
        </p:txBody>
      </p:sp>
      <p:sp>
        <p:nvSpPr>
          <p:cNvPr id="12" name="TextBox 11"/>
          <p:cNvSpPr txBox="1"/>
          <p:nvPr/>
        </p:nvSpPr>
        <p:spPr>
          <a:xfrm>
            <a:off x="2651760" y="2761488"/>
            <a:ext cx="3291840" cy="365760"/>
          </a:xfrm>
          <a:prstGeom prst="rect">
            <a:avLst/>
          </a:prstGeom>
          <a:noFill/>
        </p:spPr>
        <p:txBody>
          <a:bodyPr wrap="square" anchor="t">
            <a:spAutoFit/>
          </a:bodyPr>
          <a:lstStyle/>
          <a:p>
            <a:pPr algn="l">
              <a:spcAft>
                <a:spcPts val="400"/>
              </a:spcAft>
            </a:pPr>
            <a:r>
              <a:rPr sz="1250" b="0">
                <a:solidFill>
                  <a:srgbClr val="9FB0C3"/>
                </a:solidFill>
                <a:latin typeface="Calibri"/>
              </a:rPr>
              <a:t>the investigation graph</a:t>
            </a:r>
          </a:p>
        </p:txBody>
      </p:sp>
      <p:sp>
        <p:nvSpPr>
          <p:cNvPr id="13" name="Rounded Rectangle 12"/>
          <p:cNvSpPr/>
          <p:nvPr/>
        </p:nvSpPr>
        <p:spPr>
          <a:xfrm>
            <a:off x="548640" y="3182112"/>
            <a:ext cx="5486400" cy="457200"/>
          </a:xfrm>
          <a:prstGeom prst="round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46120"/>
            <a:ext cx="2011680" cy="365760"/>
          </a:xfrm>
          <a:prstGeom prst="rect">
            <a:avLst/>
          </a:prstGeom>
          <a:noFill/>
        </p:spPr>
        <p:txBody>
          <a:bodyPr wrap="square" anchor="t">
            <a:spAutoFit/>
          </a:bodyPr>
          <a:lstStyle/>
          <a:p>
            <a:pPr algn="l">
              <a:spcAft>
                <a:spcPts val="400"/>
              </a:spcAft>
            </a:pPr>
            <a:r>
              <a:rPr sz="1400" b="1">
                <a:solidFill>
                  <a:srgbClr val="58A6FF"/>
                </a:solidFill>
                <a:latin typeface="Calibri"/>
              </a:rPr>
              <a:t>python-whois</a:t>
            </a:r>
          </a:p>
        </p:txBody>
      </p:sp>
      <p:sp>
        <p:nvSpPr>
          <p:cNvPr id="15" name="TextBox 14"/>
          <p:cNvSpPr txBox="1"/>
          <p:nvPr/>
        </p:nvSpPr>
        <p:spPr>
          <a:xfrm>
            <a:off x="2651760" y="3255264"/>
            <a:ext cx="3291840" cy="365760"/>
          </a:xfrm>
          <a:prstGeom prst="rect">
            <a:avLst/>
          </a:prstGeom>
          <a:noFill/>
        </p:spPr>
        <p:txBody>
          <a:bodyPr wrap="square" anchor="t">
            <a:spAutoFit/>
          </a:bodyPr>
          <a:lstStyle/>
          <a:p>
            <a:pPr algn="l">
              <a:spcAft>
                <a:spcPts val="400"/>
              </a:spcAft>
            </a:pPr>
            <a:r>
              <a:rPr sz="1250" b="0">
                <a:solidFill>
                  <a:srgbClr val="9FB0C3"/>
                </a:solidFill>
                <a:latin typeface="Calibri"/>
              </a:rPr>
              <a:t>WHOIS lookups</a:t>
            </a:r>
          </a:p>
        </p:txBody>
      </p:sp>
      <p:sp>
        <p:nvSpPr>
          <p:cNvPr id="16" name="Rounded Rectangle 15"/>
          <p:cNvSpPr/>
          <p:nvPr/>
        </p:nvSpPr>
        <p:spPr>
          <a:xfrm>
            <a:off x="548640" y="3675887"/>
            <a:ext cx="5486400" cy="457200"/>
          </a:xfrm>
          <a:prstGeom prst="round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39896"/>
            <a:ext cx="2011680" cy="365760"/>
          </a:xfrm>
          <a:prstGeom prst="rect">
            <a:avLst/>
          </a:prstGeom>
          <a:noFill/>
        </p:spPr>
        <p:txBody>
          <a:bodyPr wrap="square" anchor="t">
            <a:spAutoFit/>
          </a:bodyPr>
          <a:lstStyle/>
          <a:p>
            <a:pPr algn="l">
              <a:spcAft>
                <a:spcPts val="400"/>
              </a:spcAft>
            </a:pPr>
            <a:r>
              <a:rPr sz="1400" b="1">
                <a:solidFill>
                  <a:srgbClr val="58A6FF"/>
                </a:solidFill>
                <a:latin typeface="Calibri"/>
              </a:rPr>
              <a:t>dnspython</a:t>
            </a:r>
          </a:p>
        </p:txBody>
      </p:sp>
      <p:sp>
        <p:nvSpPr>
          <p:cNvPr id="18" name="TextBox 17"/>
          <p:cNvSpPr txBox="1"/>
          <p:nvPr/>
        </p:nvSpPr>
        <p:spPr>
          <a:xfrm>
            <a:off x="2651760" y="3749039"/>
            <a:ext cx="3291840" cy="365760"/>
          </a:xfrm>
          <a:prstGeom prst="rect">
            <a:avLst/>
          </a:prstGeom>
          <a:noFill/>
        </p:spPr>
        <p:txBody>
          <a:bodyPr wrap="square" anchor="t">
            <a:spAutoFit/>
          </a:bodyPr>
          <a:lstStyle/>
          <a:p>
            <a:pPr algn="l">
              <a:spcAft>
                <a:spcPts val="400"/>
              </a:spcAft>
            </a:pPr>
            <a:r>
              <a:rPr sz="1250" b="0">
                <a:solidFill>
                  <a:srgbClr val="9FB0C3"/>
                </a:solidFill>
                <a:latin typeface="Calibri"/>
              </a:rPr>
              <a:t>DNS records</a:t>
            </a:r>
          </a:p>
        </p:txBody>
      </p:sp>
      <p:sp>
        <p:nvSpPr>
          <p:cNvPr id="19" name="Rounded Rectangle 18"/>
          <p:cNvSpPr/>
          <p:nvPr/>
        </p:nvSpPr>
        <p:spPr>
          <a:xfrm>
            <a:off x="548640" y="4169663"/>
            <a:ext cx="5486400" cy="457200"/>
          </a:xfrm>
          <a:prstGeom prst="round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33672"/>
            <a:ext cx="2011680" cy="365760"/>
          </a:xfrm>
          <a:prstGeom prst="rect">
            <a:avLst/>
          </a:prstGeom>
          <a:noFill/>
        </p:spPr>
        <p:txBody>
          <a:bodyPr wrap="square" anchor="t">
            <a:spAutoFit/>
          </a:bodyPr>
          <a:lstStyle/>
          <a:p>
            <a:pPr algn="l">
              <a:spcAft>
                <a:spcPts val="400"/>
              </a:spcAft>
            </a:pPr>
            <a:r>
              <a:rPr sz="1400" b="1">
                <a:solidFill>
                  <a:srgbClr val="58A6FF"/>
                </a:solidFill>
                <a:latin typeface="Calibri"/>
              </a:rPr>
              <a:t>beautifulsoup4</a:t>
            </a:r>
          </a:p>
        </p:txBody>
      </p:sp>
      <p:sp>
        <p:nvSpPr>
          <p:cNvPr id="21" name="TextBox 20"/>
          <p:cNvSpPr txBox="1"/>
          <p:nvPr/>
        </p:nvSpPr>
        <p:spPr>
          <a:xfrm>
            <a:off x="2651760" y="4242816"/>
            <a:ext cx="3291840" cy="365760"/>
          </a:xfrm>
          <a:prstGeom prst="rect">
            <a:avLst/>
          </a:prstGeom>
          <a:noFill/>
        </p:spPr>
        <p:txBody>
          <a:bodyPr wrap="square" anchor="t">
            <a:spAutoFit/>
          </a:bodyPr>
          <a:lstStyle/>
          <a:p>
            <a:pPr algn="l">
              <a:spcAft>
                <a:spcPts val="400"/>
              </a:spcAft>
            </a:pPr>
            <a:r>
              <a:rPr sz="1250" b="0">
                <a:solidFill>
                  <a:srgbClr val="9FB0C3"/>
                </a:solidFill>
                <a:latin typeface="Calibri"/>
              </a:rPr>
              <a:t>HTML parsing</a:t>
            </a:r>
          </a:p>
        </p:txBody>
      </p:sp>
      <p:sp>
        <p:nvSpPr>
          <p:cNvPr id="22" name="Rounded Rectangle 21"/>
          <p:cNvSpPr/>
          <p:nvPr/>
        </p:nvSpPr>
        <p:spPr>
          <a:xfrm>
            <a:off x="548640" y="4663440"/>
            <a:ext cx="5486400" cy="457200"/>
          </a:xfrm>
          <a:prstGeom prst="round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727448"/>
            <a:ext cx="2011680" cy="365760"/>
          </a:xfrm>
          <a:prstGeom prst="rect">
            <a:avLst/>
          </a:prstGeom>
          <a:noFill/>
        </p:spPr>
        <p:txBody>
          <a:bodyPr wrap="square" anchor="t">
            <a:spAutoFit/>
          </a:bodyPr>
          <a:lstStyle/>
          <a:p>
            <a:pPr algn="l">
              <a:spcAft>
                <a:spcPts val="400"/>
              </a:spcAft>
            </a:pPr>
            <a:r>
              <a:rPr sz="1400" b="1">
                <a:solidFill>
                  <a:srgbClr val="58A6FF"/>
                </a:solidFill>
                <a:latin typeface="Calibri"/>
              </a:rPr>
              <a:t>mmh3</a:t>
            </a:r>
          </a:p>
        </p:txBody>
      </p:sp>
      <p:sp>
        <p:nvSpPr>
          <p:cNvPr id="24" name="TextBox 23"/>
          <p:cNvSpPr txBox="1"/>
          <p:nvPr/>
        </p:nvSpPr>
        <p:spPr>
          <a:xfrm>
            <a:off x="2651760" y="4736592"/>
            <a:ext cx="3291840" cy="365760"/>
          </a:xfrm>
          <a:prstGeom prst="rect">
            <a:avLst/>
          </a:prstGeom>
          <a:noFill/>
        </p:spPr>
        <p:txBody>
          <a:bodyPr wrap="square" anchor="t">
            <a:spAutoFit/>
          </a:bodyPr>
          <a:lstStyle/>
          <a:p>
            <a:pPr algn="l">
              <a:spcAft>
                <a:spcPts val="400"/>
              </a:spcAft>
            </a:pPr>
            <a:r>
              <a:rPr sz="1250" b="0">
                <a:solidFill>
                  <a:srgbClr val="9FB0C3"/>
                </a:solidFill>
                <a:latin typeface="Calibri"/>
              </a:rPr>
              <a:t>favicon hashing (ownership corroborator)</a:t>
            </a:r>
          </a:p>
        </p:txBody>
      </p:sp>
      <p:sp>
        <p:nvSpPr>
          <p:cNvPr id="25" name="Rounded Rectangle 24"/>
          <p:cNvSpPr/>
          <p:nvPr/>
        </p:nvSpPr>
        <p:spPr>
          <a:xfrm>
            <a:off x="548640" y="5157216"/>
            <a:ext cx="5486400" cy="457200"/>
          </a:xfrm>
          <a:prstGeom prst="round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2011680" cy="365760"/>
          </a:xfrm>
          <a:prstGeom prst="rect">
            <a:avLst/>
          </a:prstGeom>
          <a:noFill/>
        </p:spPr>
        <p:txBody>
          <a:bodyPr wrap="square" anchor="t">
            <a:spAutoFit/>
          </a:bodyPr>
          <a:lstStyle/>
          <a:p>
            <a:pPr algn="l">
              <a:spcAft>
                <a:spcPts val="400"/>
              </a:spcAft>
            </a:pPr>
            <a:r>
              <a:rPr sz="1400" b="1">
                <a:solidFill>
                  <a:srgbClr val="58A6FF"/>
                </a:solidFill>
                <a:latin typeface="Calibri"/>
              </a:rPr>
              <a:t>phonenumbers</a:t>
            </a:r>
          </a:p>
        </p:txBody>
      </p:sp>
      <p:sp>
        <p:nvSpPr>
          <p:cNvPr id="27" name="TextBox 26"/>
          <p:cNvSpPr txBox="1"/>
          <p:nvPr/>
        </p:nvSpPr>
        <p:spPr>
          <a:xfrm>
            <a:off x="2651760" y="5230368"/>
            <a:ext cx="3291840" cy="365760"/>
          </a:xfrm>
          <a:prstGeom prst="rect">
            <a:avLst/>
          </a:prstGeom>
          <a:noFill/>
        </p:spPr>
        <p:txBody>
          <a:bodyPr wrap="square" anchor="t">
            <a:spAutoFit/>
          </a:bodyPr>
          <a:lstStyle/>
          <a:p>
            <a:pPr algn="l">
              <a:spcAft>
                <a:spcPts val="400"/>
              </a:spcAft>
            </a:pPr>
            <a:r>
              <a:rPr sz="1250" b="0">
                <a:solidFill>
                  <a:srgbClr val="9FB0C3"/>
                </a:solidFill>
                <a:latin typeface="Calibri"/>
              </a:rPr>
              <a:t>phone parsing/validation</a:t>
            </a:r>
          </a:p>
        </p:txBody>
      </p:sp>
      <p:sp>
        <p:nvSpPr>
          <p:cNvPr id="28" name="Rounded Rectangle 27"/>
          <p:cNvSpPr/>
          <p:nvPr/>
        </p:nvSpPr>
        <p:spPr>
          <a:xfrm>
            <a:off x="6355080" y="1783080"/>
            <a:ext cx="5303520" cy="4480560"/>
          </a:xfrm>
          <a:prstGeom prst="roundRect">
            <a:avLst/>
          </a:prstGeom>
          <a:solidFill>
            <a:srgbClr val="16324F"/>
          </a:solidFill>
          <a:ln w="19050">
            <a:solidFill>
              <a:srgbClr val="3FB9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0" y="1920240"/>
            <a:ext cx="4846320" cy="365760"/>
          </a:xfrm>
          <a:prstGeom prst="rect">
            <a:avLst/>
          </a:prstGeom>
          <a:noFill/>
        </p:spPr>
        <p:txBody>
          <a:bodyPr wrap="square" anchor="t">
            <a:spAutoFit/>
          </a:bodyPr>
          <a:lstStyle/>
          <a:p>
            <a:pPr algn="l">
              <a:spcAft>
                <a:spcPts val="400"/>
              </a:spcAft>
            </a:pPr>
            <a:r>
              <a:rPr sz="1300" b="1">
                <a:solidFill>
                  <a:srgbClr val="3FB950"/>
                </a:solidFill>
                <a:latin typeface="Calibri"/>
              </a:rPr>
              <a:t>WHAT WE BUILT  (~48 Python modules under src/)</a:t>
            </a:r>
          </a:p>
        </p:txBody>
      </p:sp>
      <p:sp>
        <p:nvSpPr>
          <p:cNvPr id="30" name="TextBox 29"/>
          <p:cNvSpPr txBox="1"/>
          <p:nvPr/>
        </p:nvSpPr>
        <p:spPr>
          <a:xfrm>
            <a:off x="6583680" y="2377440"/>
            <a:ext cx="4892040" cy="3840480"/>
          </a:xfrm>
          <a:prstGeom prst="rect">
            <a:avLst/>
          </a:prstGeom>
          <a:noFill/>
        </p:spPr>
        <p:txBody>
          <a:bodyPr wrap="square" anchor="t">
            <a:spAutoFit/>
          </a:bodyPr>
          <a:lstStyle/>
          <a:p>
            <a:pPr algn="l">
              <a:spcAft>
                <a:spcPts val="600"/>
              </a:spcAft>
            </a:pPr>
            <a:r>
              <a:rPr sz="1450" b="1">
                <a:solidFill>
                  <a:srgbClr val="FFFFFF"/>
                </a:solidFill>
                <a:latin typeface="Calibri"/>
              </a:rPr>
              <a:t>core/</a:t>
            </a:r>
            <a:r>
              <a:rPr sz="1350" b="0">
                <a:solidFill>
                  <a:srgbClr val="9FB0C3"/>
                </a:solidFill>
                <a:latin typeface="Calibri"/>
              </a:rPr>
              <a:t>  selector detection + investigation state</a:t>
            </a:r>
          </a:p>
          <a:p>
            <a:pPr algn="l">
              <a:spcAft>
                <a:spcPts val="600"/>
              </a:spcAft>
            </a:pPr>
            <a:r>
              <a:rPr sz="1450" b="1">
                <a:solidFill>
                  <a:srgbClr val="FFFFFF"/>
                </a:solidFill>
                <a:latin typeface="Calibri"/>
              </a:rPr>
              <a:t>ontology/</a:t>
            </a:r>
            <a:r>
              <a:rPr sz="1350" b="0">
                <a:solidFill>
                  <a:srgbClr val="9FB0C3"/>
                </a:solidFill>
                <a:latin typeface="Calibri"/>
              </a:rPr>
              <a:t>  the routing brain + honesty annotator</a:t>
            </a:r>
          </a:p>
          <a:p>
            <a:pPr algn="l">
              <a:spcAft>
                <a:spcPts val="600"/>
              </a:spcAft>
            </a:pPr>
            <a:r>
              <a:rPr sz="1450" b="1">
                <a:solidFill>
                  <a:srgbClr val="FFFFFF"/>
                </a:solidFill>
                <a:latin typeface="Calibri"/>
              </a:rPr>
              <a:t>tools/</a:t>
            </a:r>
            <a:r>
              <a:rPr sz="1350" b="0">
                <a:solidFill>
                  <a:srgbClr val="9FB0C3"/>
                </a:solidFill>
                <a:latin typeface="Calibri"/>
              </a:rPr>
              <a:t>  58 tools via declarative HttpTool/CliTool specs + registry</a:t>
            </a:r>
          </a:p>
          <a:p>
            <a:pPr algn="l">
              <a:spcAft>
                <a:spcPts val="600"/>
              </a:spcAft>
            </a:pPr>
            <a:r>
              <a:rPr sz="1450" b="1">
                <a:solidFill>
                  <a:srgbClr val="FFFFFF"/>
                </a:solidFill>
                <a:latin typeface="Calibri"/>
              </a:rPr>
              <a:t>graph/</a:t>
            </a:r>
            <a:r>
              <a:rPr sz="1350" b="0">
                <a:solidFill>
                  <a:srgbClr val="9FB0C3"/>
                </a:solidFill>
                <a:latin typeface="Calibri"/>
              </a:rPr>
              <a:t>  NetworkX graph + vis.js visualizer</a:t>
            </a:r>
          </a:p>
          <a:p>
            <a:pPr algn="l">
              <a:spcAft>
                <a:spcPts val="600"/>
              </a:spcAft>
            </a:pPr>
            <a:r>
              <a:rPr sz="1450" b="1">
                <a:solidFill>
                  <a:srgbClr val="FFFFFF"/>
                </a:solidFill>
                <a:latin typeface="Calibri"/>
              </a:rPr>
              <a:t>report/</a:t>
            </a:r>
            <a:r>
              <a:rPr sz="1350" b="0">
                <a:solidFill>
                  <a:srgbClr val="9FB0C3"/>
                </a:solidFill>
                <a:latin typeface="Calibri"/>
              </a:rPr>
              <a:t>  narrative CTI report (MD + HTML + Mermaid)</a:t>
            </a:r>
          </a:p>
          <a:p>
            <a:pPr algn="l">
              <a:spcAft>
                <a:spcPts val="600"/>
              </a:spcAft>
            </a:pPr>
            <a:r>
              <a:rPr sz="1450" b="1">
                <a:solidFill>
                  <a:srgbClr val="FFFFFF"/>
                </a:solidFill>
                <a:latin typeface="Calibri"/>
              </a:rPr>
              <a:t>logger/</a:t>
            </a:r>
            <a:r>
              <a:rPr sz="1350" b="0">
                <a:solidFill>
                  <a:srgbClr val="9FB0C3"/>
                </a:solidFill>
                <a:latin typeface="Calibri"/>
              </a:rPr>
              <a:t>  the raw audit trail</a:t>
            </a:r>
          </a:p>
          <a:p>
            <a:pPr algn="l">
              <a:spcAft>
                <a:spcPts val="600"/>
              </a:spcAft>
            </a:pPr>
            <a:r>
              <a:rPr sz="1450" b="1">
                <a:solidFill>
                  <a:srgbClr val="3FB950"/>
                </a:solidFill>
                <a:latin typeface="Calibri"/>
              </a:rPr>
              <a:t>scripts/health_check.py</a:t>
            </a:r>
            <a:r>
              <a:rPr sz="1350" b="0">
                <a:solidFill>
                  <a:srgbClr val="9FB0C3"/>
                </a:solidFill>
                <a:latin typeface="Calibri"/>
              </a:rPr>
              <a:t>  the safety gate (registry + floor + 3 suites)</a:t>
            </a:r>
          </a:p>
          <a:p>
            <a:pPr algn="l">
              <a:spcAft>
                <a:spcPts val="600"/>
              </a:spcAft>
            </a:pPr>
            <a:r>
              <a:rPr sz="800" b="0">
                <a:solidFill>
                  <a:srgbClr val="9FB0C3"/>
                </a:solidFill>
                <a:latin typeface="Calibri"/>
              </a:rPr>
              <a:t> </a:t>
            </a:r>
          </a:p>
          <a:p>
            <a:pPr algn="l">
              <a:spcAft>
                <a:spcPts val="600"/>
              </a:spcAft>
            </a:pPr>
            <a:r>
              <a:rPr sz="1300" b="0">
                <a:solidFill>
                  <a:srgbClr val="D29922"/>
                </a:solidFill>
                <a:latin typeface="Calibri"/>
              </a:rPr>
              <a:t>Optional external CLIs + keyed APIs (Shodan/DNSlytics/Flare) are opt-in and degrade gracefully — runs fully with zero keys.</a:t>
            </a:r>
          </a:p>
        </p:txBody>
      </p:sp>
      <p:sp>
        <p:nvSpPr>
          <p:cNvPr id="31" name="TextBox 30"/>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32" name="TextBox 31"/>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Software laydown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USE CASE · TICKET-FRAUD NETWORK</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One scam URL → a mapped network (auto-generated)</a:t>
            </a:r>
          </a:p>
        </p:txBody>
      </p:sp>
      <p:sp>
        <p:nvSpPr>
          <p:cNvPr id="6" name="Rounded Rectangle 5"/>
          <p:cNvSpPr/>
          <p:nvPr/>
        </p:nvSpPr>
        <p:spPr>
          <a:xfrm>
            <a:off x="548640" y="1737360"/>
            <a:ext cx="11109960" cy="868680"/>
          </a:xfrm>
          <a:prstGeom prst="roundRect">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47088"/>
            <a:ext cx="10972800" cy="822960"/>
          </a:xfrm>
          <a:prstGeom prst="rect">
            <a:avLst/>
          </a:prstGeom>
          <a:noFill/>
        </p:spPr>
        <p:txBody>
          <a:bodyPr wrap="square" anchor="t">
            <a:spAutoFit/>
          </a:bodyPr>
          <a:lstStyle/>
          <a:p>
            <a:pPr algn="l">
              <a:spcAft>
                <a:spcPts val="400"/>
              </a:spcAft>
            </a:pPr>
            <a:r>
              <a:rPr sz="1500" b="1">
                <a:solidFill>
                  <a:srgbClr val="9FB0C3"/>
                </a:solidFill>
                <a:latin typeface="Calibri"/>
              </a:rPr>
              <a:t>SEED:  </a:t>
            </a:r>
            <a:r>
              <a:rPr sz="1600" b="1">
                <a:solidFill>
                  <a:srgbClr val="58A6FF"/>
                </a:solidFill>
                <a:latin typeface="Calibri"/>
              </a:rPr>
              <a:t>colosseumdiroma-tickets.com</a:t>
            </a:r>
            <a:r>
              <a:rPr sz="1500" b="0">
                <a:solidFill>
                  <a:srgbClr val="E6EDF3"/>
                </a:solidFill>
                <a:latin typeface="Calibri"/>
              </a:rPr>
              <a:t>  — a fake Colosseum ticket-resale site</a:t>
            </a:r>
          </a:p>
          <a:p>
            <a:pPr algn="l">
              <a:spcAft>
                <a:spcPts val="400"/>
              </a:spcAft>
            </a:pPr>
            <a:r>
              <a:rPr sz="1500" b="1">
                <a:solidFill>
                  <a:srgbClr val="9FB0C3"/>
                </a:solidFill>
                <a:latin typeface="Calibri"/>
              </a:rPr>
              <a:t>AUTO-GENERATED RESULT:  </a:t>
            </a:r>
            <a:r>
              <a:rPr sz="1600" b="1">
                <a:solidFill>
                  <a:srgbClr val="3FB950"/>
                </a:solidFill>
                <a:latin typeface="Calibri"/>
              </a:rPr>
              <a:t>a 119-node / 170-edge intelligence graph</a:t>
            </a:r>
          </a:p>
        </p:txBody>
      </p:sp>
      <p:sp>
        <p:nvSpPr>
          <p:cNvPr id="8" name="TextBox 7"/>
          <p:cNvSpPr txBox="1"/>
          <p:nvPr/>
        </p:nvSpPr>
        <p:spPr>
          <a:xfrm>
            <a:off x="548640" y="2834640"/>
            <a:ext cx="5577840" cy="365760"/>
          </a:xfrm>
          <a:prstGeom prst="rect">
            <a:avLst/>
          </a:prstGeom>
          <a:noFill/>
        </p:spPr>
        <p:txBody>
          <a:bodyPr wrap="square" anchor="t">
            <a:spAutoFit/>
          </a:bodyPr>
          <a:lstStyle/>
          <a:p>
            <a:pPr algn="l">
              <a:spcAft>
                <a:spcPts val="400"/>
              </a:spcAft>
            </a:pPr>
            <a:r>
              <a:rPr sz="1300" b="1">
                <a:solidFill>
                  <a:srgbClr val="3FB950"/>
                </a:solidFill>
                <a:latin typeface="Calibri"/>
              </a:rPr>
              <a:t>WHAT THE PIVOTS BUILT, AUTOMATICALLY</a:t>
            </a:r>
          </a:p>
        </p:txBody>
      </p:sp>
      <p:sp>
        <p:nvSpPr>
          <p:cNvPr id="9" name="TextBox 8"/>
          <p:cNvSpPr txBox="1"/>
          <p:nvPr/>
        </p:nvSpPr>
        <p:spPr>
          <a:xfrm>
            <a:off x="548640" y="3200400"/>
            <a:ext cx="5669280" cy="2926080"/>
          </a:xfrm>
          <a:prstGeom prst="rect">
            <a:avLst/>
          </a:prstGeom>
          <a:noFill/>
        </p:spPr>
        <p:txBody>
          <a:bodyPr wrap="square">
            <a:spAutoFit/>
          </a:bodyPr>
          <a:lstStyle/>
          <a:p>
            <a:pPr>
              <a:spcAft>
                <a:spcPts val="900"/>
              </a:spcAft>
            </a:pPr>
            <a:r>
              <a:rPr sz="1550" b="1">
                <a:solidFill>
                  <a:srgbClr val="FFFFFF"/>
                </a:solidFill>
                <a:latin typeface="Calibri"/>
              </a:rPr>
              <a:t>Registration</a:t>
            </a:r>
            <a:r>
              <a:rPr sz="1400" b="0">
                <a:solidFill>
                  <a:srgbClr val="E6EDF3"/>
                </a:solidFill>
                <a:latin typeface="Calibri"/>
              </a:rPr>
              <a:t>  — WHOIS/RDAP surfaced registrant org 'The Walker Tours LLC' (survived privacy redaction); created 2024-01-16</a:t>
            </a:r>
          </a:p>
          <a:p>
            <a:pPr>
              <a:spcAft>
                <a:spcPts val="900"/>
              </a:spcAft>
            </a:pPr>
            <a:r>
              <a:rPr sz="1550" b="1">
                <a:solidFill>
                  <a:srgbClr val="FFFFFF"/>
                </a:solidFill>
                <a:latin typeface="Calibri"/>
              </a:rPr>
              <a:t>Hosting estate</a:t>
            </a:r>
            <a:r>
              <a:rPr sz="1400" b="0">
                <a:solidFill>
                  <a:srgbClr val="E6EDF3"/>
                </a:solidFill>
                <a:latin typeface="Calibri"/>
              </a:rPr>
              <a:t>  — domain → AWS IPs → co-hosted lookalike domains → loop. The engine that turns ONE site into the NETWORK</a:t>
            </a:r>
          </a:p>
          <a:p>
            <a:pPr>
              <a:spcAft>
                <a:spcPts val="900"/>
              </a:spcAft>
            </a:pPr>
            <a:r>
              <a:rPr sz="1550" b="1">
                <a:solidFill>
                  <a:srgbClr val="FFFFFF"/>
                </a:solidFill>
                <a:latin typeface="Calibri"/>
              </a:rPr>
              <a:t>Content identifiers</a:t>
            </a:r>
            <a:r>
              <a:rPr sz="1400" b="0">
                <a:solidFill>
                  <a:srgbClr val="E6EDF3"/>
                </a:solidFill>
                <a:latin typeface="Calibri"/>
              </a:rPr>
              <a:t>  — the active line extracted 15 tracker IDs (Google Ads AW-, GA4 G-, Universal Analytics UA-) tying sites to a common owner</a:t>
            </a:r>
          </a:p>
        </p:txBody>
      </p:sp>
      <p:sp>
        <p:nvSpPr>
          <p:cNvPr id="10" name="Rounded Rectangle 9"/>
          <p:cNvSpPr/>
          <p:nvPr/>
        </p:nvSpPr>
        <p:spPr>
          <a:xfrm>
            <a:off x="6400800" y="2834640"/>
            <a:ext cx="5257800" cy="3246120"/>
          </a:xfrm>
          <a:prstGeom prst="roundRect">
            <a:avLst/>
          </a:prstGeom>
          <a:solidFill>
            <a:srgbClr val="16324F"/>
          </a:solidFill>
          <a:ln w="19050">
            <a:solidFill>
              <a:srgbClr val="3FB9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971800"/>
            <a:ext cx="4846320" cy="457200"/>
          </a:xfrm>
          <a:prstGeom prst="rect">
            <a:avLst/>
          </a:prstGeom>
          <a:noFill/>
        </p:spPr>
        <p:txBody>
          <a:bodyPr wrap="square" anchor="t">
            <a:spAutoFit/>
          </a:bodyPr>
          <a:lstStyle/>
          <a:p>
            <a:pPr algn="l">
              <a:spcAft>
                <a:spcPts val="400"/>
              </a:spcAft>
            </a:pPr>
            <a:r>
              <a:rPr sz="1300" b="1">
                <a:solidFill>
                  <a:srgbClr val="3FB950"/>
                </a:solidFill>
                <a:latin typeface="Calibri"/>
              </a:rPr>
              <a:t>THE GRAPH, TIERED HONESTLY</a:t>
            </a:r>
          </a:p>
        </p:txBody>
      </p:sp>
      <p:sp>
        <p:nvSpPr>
          <p:cNvPr id="12" name="TextBox 11"/>
          <p:cNvSpPr txBox="1"/>
          <p:nvPr/>
        </p:nvSpPr>
        <p:spPr>
          <a:xfrm>
            <a:off x="6629400" y="3474720"/>
            <a:ext cx="4846320" cy="2560320"/>
          </a:xfrm>
          <a:prstGeom prst="rect">
            <a:avLst/>
          </a:prstGeom>
          <a:noFill/>
        </p:spPr>
        <p:txBody>
          <a:bodyPr wrap="square" anchor="t">
            <a:spAutoFit/>
          </a:bodyPr>
          <a:lstStyle/>
          <a:p>
            <a:pPr algn="l">
              <a:spcAft>
                <a:spcPts val="500"/>
              </a:spcAft>
            </a:pPr>
            <a:r>
              <a:rPr sz="1450" b="0">
                <a:solidFill>
                  <a:srgbClr val="E6EDF3"/>
                </a:solidFill>
                <a:latin typeface="Calibri"/>
              </a:rPr>
              <a:t>75 domains · 15 tracker IDs · 7 companies · 5 IPs · phones · emails</a:t>
            </a:r>
          </a:p>
          <a:p>
            <a:pPr algn="l">
              <a:spcAft>
                <a:spcPts val="500"/>
              </a:spcAft>
            </a:pPr>
            <a:r>
              <a:rPr sz="600" b="0">
                <a:solidFill>
                  <a:srgbClr val="9FB0C3"/>
                </a:solidFill>
                <a:latin typeface="Calibri"/>
              </a:rPr>
              <a:t> </a:t>
            </a:r>
          </a:p>
          <a:p>
            <a:pPr algn="l">
              <a:spcAft>
                <a:spcPts val="500"/>
              </a:spcAft>
            </a:pPr>
            <a:r>
              <a:rPr sz="1700" b="1">
                <a:solidFill>
                  <a:srgbClr val="3FB950"/>
                </a:solidFill>
                <a:latin typeface="Calibri"/>
              </a:rPr>
              <a:t>96 highly likely</a:t>
            </a:r>
            <a:r>
              <a:rPr sz="1500" b="0">
                <a:solidFill>
                  <a:srgbClr val="9FB0C3"/>
                </a:solidFill>
                <a:latin typeface="Calibri"/>
              </a:rPr>
              <a:t>   ·   </a:t>
            </a:r>
            <a:r>
              <a:rPr sz="1500" b="1">
                <a:solidFill>
                  <a:srgbClr val="D29922"/>
                </a:solidFill>
                <a:latin typeface="Calibri"/>
              </a:rPr>
              <a:t>14 probable</a:t>
            </a:r>
            <a:r>
              <a:rPr sz="1500" b="0">
                <a:solidFill>
                  <a:srgbClr val="9FB0C3"/>
                </a:solidFill>
                <a:latin typeface="Calibri"/>
              </a:rPr>
              <a:t>   ·   </a:t>
            </a:r>
            <a:r>
              <a:rPr sz="1500" b="1">
                <a:solidFill>
                  <a:srgbClr val="9FB0C3"/>
                </a:solidFill>
                <a:latin typeface="Calibri"/>
              </a:rPr>
              <a:t>9 possible</a:t>
            </a:r>
          </a:p>
          <a:p>
            <a:pPr algn="l">
              <a:spcAft>
                <a:spcPts val="500"/>
              </a:spcAft>
            </a:pPr>
            <a:r>
              <a:rPr sz="600" b="0">
                <a:solidFill>
                  <a:srgbClr val="9FB0C3"/>
                </a:solidFill>
                <a:latin typeface="Calibri"/>
              </a:rPr>
              <a:t> </a:t>
            </a:r>
          </a:p>
          <a:p>
            <a:pPr algn="l">
              <a:spcAft>
                <a:spcPts val="500"/>
              </a:spcAft>
            </a:pPr>
            <a:r>
              <a:rPr sz="1350" b="0">
                <a:solidFill>
                  <a:srgbClr val="9FB0C3"/>
                </a:solidFill>
                <a:latin typeface="Calibri"/>
              </a:rPr>
              <a:t>Weak leads kept visible, not dropped. The count is NOT over-sold as a '75-site scam estate' — AWS nameservers, a CMS host, and the legit origin-brand domains are called out explicitly.</a:t>
            </a:r>
          </a:p>
        </p:txBody>
      </p:sp>
      <p:sp>
        <p:nvSpPr>
          <p:cNvPr id="13" name="TextBox 12"/>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14" name="TextBox 13"/>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Use case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USE CASE · THE TRUST STORY</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The system pressure-tests itself and refuses to over-claim</a:t>
            </a:r>
          </a:p>
        </p:txBody>
      </p:sp>
      <p:sp>
        <p:nvSpPr>
          <p:cNvPr id="6" name="Oval 5"/>
          <p:cNvSpPr/>
          <p:nvPr/>
        </p:nvSpPr>
        <p:spPr>
          <a:xfrm>
            <a:off x="548640" y="1783080"/>
            <a:ext cx="457200" cy="457200"/>
          </a:xfrm>
          <a:prstGeom prst="ellipse">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58A6FF"/>
                </a:solidFill>
              </a:rPr>
              <a:t>1</a:t>
            </a:r>
          </a:p>
        </p:txBody>
      </p:sp>
      <p:sp>
        <p:nvSpPr>
          <p:cNvPr id="7" name="TextBox 6"/>
          <p:cNvSpPr txBox="1"/>
          <p:nvPr/>
        </p:nvSpPr>
        <p:spPr>
          <a:xfrm>
            <a:off x="1188720" y="1764792"/>
            <a:ext cx="10424160" cy="822960"/>
          </a:xfrm>
          <a:prstGeom prst="rect">
            <a:avLst/>
          </a:prstGeom>
          <a:noFill/>
        </p:spPr>
        <p:txBody>
          <a:bodyPr wrap="square" anchor="ctr">
            <a:spAutoFit/>
          </a:bodyPr>
          <a:lstStyle/>
          <a:p>
            <a:pPr algn="l">
              <a:spcAft>
                <a:spcPts val="400"/>
              </a:spcAft>
            </a:pPr>
            <a:r>
              <a:rPr sz="1400" b="0">
                <a:solidFill>
                  <a:srgbClr val="E6EDF3"/>
                </a:solidFill>
                <a:latin typeface="Calibri"/>
              </a:rPr>
              <a:t>An early pass read the estate as TWO operators.</a:t>
            </a:r>
          </a:p>
        </p:txBody>
      </p:sp>
      <p:sp>
        <p:nvSpPr>
          <p:cNvPr id="8" name="Oval 7"/>
          <p:cNvSpPr/>
          <p:nvPr/>
        </p:nvSpPr>
        <p:spPr>
          <a:xfrm>
            <a:off x="548640" y="2624328"/>
            <a:ext cx="457200" cy="457200"/>
          </a:xfrm>
          <a:prstGeom prst="ellipse">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58A6FF"/>
                </a:solidFill>
              </a:rPr>
              <a:t>2</a:t>
            </a:r>
          </a:p>
        </p:txBody>
      </p:sp>
      <p:sp>
        <p:nvSpPr>
          <p:cNvPr id="9" name="TextBox 8"/>
          <p:cNvSpPr txBox="1"/>
          <p:nvPr/>
        </p:nvSpPr>
        <p:spPr>
          <a:xfrm>
            <a:off x="1188720" y="2606040"/>
            <a:ext cx="10424160" cy="822960"/>
          </a:xfrm>
          <a:prstGeom prst="rect">
            <a:avLst/>
          </a:prstGeom>
          <a:noFill/>
        </p:spPr>
        <p:txBody>
          <a:bodyPr wrap="square" anchor="ctr">
            <a:spAutoFit/>
          </a:bodyPr>
          <a:lstStyle/>
          <a:p>
            <a:pPr algn="l">
              <a:spcAft>
                <a:spcPts val="400"/>
              </a:spcAft>
            </a:pPr>
            <a:r>
              <a:rPr sz="1400" b="0">
                <a:solidFill>
                  <a:srgbClr val="E6EDF3"/>
                </a:solidFill>
                <a:latin typeface="Calibri"/>
              </a:rPr>
              <a:t>The RED-TEAM gate challenged the merge: 'shared hosting ≠ shared ownership — show an independent corroborator.'</a:t>
            </a:r>
          </a:p>
        </p:txBody>
      </p:sp>
      <p:sp>
        <p:nvSpPr>
          <p:cNvPr id="10" name="Oval 9"/>
          <p:cNvSpPr/>
          <p:nvPr/>
        </p:nvSpPr>
        <p:spPr>
          <a:xfrm>
            <a:off x="548640" y="3465576"/>
            <a:ext cx="457200" cy="457200"/>
          </a:xfrm>
          <a:prstGeom prst="ellipse">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58A6FF"/>
                </a:solidFill>
              </a:rPr>
              <a:t>3</a:t>
            </a:r>
          </a:p>
        </p:txBody>
      </p:sp>
      <p:sp>
        <p:nvSpPr>
          <p:cNvPr id="11" name="TextBox 10"/>
          <p:cNvSpPr txBox="1"/>
          <p:nvPr/>
        </p:nvSpPr>
        <p:spPr>
          <a:xfrm>
            <a:off x="1188720" y="3447288"/>
            <a:ext cx="10424160" cy="822960"/>
          </a:xfrm>
          <a:prstGeom prst="rect">
            <a:avLst/>
          </a:prstGeom>
          <a:noFill/>
        </p:spPr>
        <p:txBody>
          <a:bodyPr wrap="square" anchor="ctr">
            <a:spAutoFit/>
          </a:bodyPr>
          <a:lstStyle/>
          <a:p>
            <a:pPr algn="l">
              <a:spcAft>
                <a:spcPts val="400"/>
              </a:spcAft>
            </a:pPr>
            <a:r>
              <a:rPr sz="1400" b="0">
                <a:solidFill>
                  <a:srgbClr val="3FB950"/>
                </a:solidFill>
                <a:latin typeface="Calibri"/>
              </a:rPr>
              <a:t>A deeper pivot found the GOLD STANDARD: the seed itself ran a strong UA-131208121-1 analytics property in its 2024 Wayback snapshot — the same property as sevillafreetour.com.</a:t>
            </a:r>
          </a:p>
        </p:txBody>
      </p:sp>
      <p:sp>
        <p:nvSpPr>
          <p:cNvPr id="12" name="Oval 11"/>
          <p:cNvSpPr/>
          <p:nvPr/>
        </p:nvSpPr>
        <p:spPr>
          <a:xfrm>
            <a:off x="548640" y="4306824"/>
            <a:ext cx="457200" cy="457200"/>
          </a:xfrm>
          <a:prstGeom prst="ellipse">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58A6FF"/>
                </a:solidFill>
              </a:rPr>
              <a:t>4</a:t>
            </a:r>
          </a:p>
        </p:txBody>
      </p:sp>
      <p:sp>
        <p:nvSpPr>
          <p:cNvPr id="13" name="TextBox 12"/>
          <p:cNvSpPr txBox="1"/>
          <p:nvPr/>
        </p:nvSpPr>
        <p:spPr>
          <a:xfrm>
            <a:off x="1188720" y="4288536"/>
            <a:ext cx="10424160" cy="822960"/>
          </a:xfrm>
          <a:prstGeom prst="rect">
            <a:avLst/>
          </a:prstGeom>
          <a:noFill/>
        </p:spPr>
        <p:txBody>
          <a:bodyPr wrap="square" anchor="ctr">
            <a:spAutoFit/>
          </a:bodyPr>
          <a:lstStyle/>
          <a:p>
            <a:pPr algn="l">
              <a:spcAft>
                <a:spcPts val="400"/>
              </a:spcAft>
            </a:pPr>
            <a:r>
              <a:rPr sz="1400" b="0">
                <a:solidFill>
                  <a:srgbClr val="E6EDF3"/>
                </a:solidFill>
                <a:latin typeface="Calibri"/>
              </a:rPr>
              <a:t>On SIX independent corroborators, red-team round 3 REVISED the conclusion to ONE operator group: Grupo Feel The City S.L. (Seville), fronted by two US shells sharing federal EIN 37-2091569.</a:t>
            </a:r>
          </a:p>
        </p:txBody>
      </p:sp>
      <p:sp>
        <p:nvSpPr>
          <p:cNvPr id="14" name="Oval 13"/>
          <p:cNvSpPr/>
          <p:nvPr/>
        </p:nvSpPr>
        <p:spPr>
          <a:xfrm>
            <a:off x="548640" y="5148072"/>
            <a:ext cx="457200" cy="457200"/>
          </a:xfrm>
          <a:prstGeom prst="ellipse">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58A6FF"/>
                </a:solidFill>
              </a:rPr>
              <a:t>5</a:t>
            </a:r>
          </a:p>
        </p:txBody>
      </p:sp>
      <p:sp>
        <p:nvSpPr>
          <p:cNvPr id="15" name="TextBox 14"/>
          <p:cNvSpPr txBox="1"/>
          <p:nvPr/>
        </p:nvSpPr>
        <p:spPr>
          <a:xfrm>
            <a:off x="1188720" y="5129784"/>
            <a:ext cx="10424160" cy="822960"/>
          </a:xfrm>
          <a:prstGeom prst="rect">
            <a:avLst/>
          </a:prstGeom>
          <a:noFill/>
        </p:spPr>
        <p:txBody>
          <a:bodyPr wrap="square" anchor="ctr">
            <a:spAutoFit/>
          </a:bodyPr>
          <a:lstStyle/>
          <a:p>
            <a:pPr algn="l">
              <a:spcAft>
                <a:spcPts val="400"/>
              </a:spcAft>
            </a:pPr>
            <a:r>
              <a:rPr sz="1400" b="0">
                <a:solidFill>
                  <a:srgbClr val="D29922"/>
                </a:solidFill>
                <a:latin typeface="Calibri"/>
              </a:rPr>
              <a:t>It distinguished the LEGITIMATE 2010 origin tour business from the 2024–26 scam build-out — and flagged the legit brand must NOT be labelled a scam.</a:t>
            </a:r>
          </a:p>
        </p:txBody>
      </p:sp>
      <p:sp>
        <p:nvSpPr>
          <p:cNvPr id="16" name="Rounded Rectangle 15"/>
          <p:cNvSpPr/>
          <p:nvPr/>
        </p:nvSpPr>
        <p:spPr>
          <a:xfrm>
            <a:off x="548640" y="5989320"/>
            <a:ext cx="11109960" cy="457200"/>
          </a:xfrm>
          <a:prstGeom prst="roundRect">
            <a:avLst/>
          </a:prstGeom>
          <a:solidFill>
            <a:srgbClr val="16324F"/>
          </a:solidFill>
          <a:ln w="19050">
            <a:solidFill>
              <a:srgbClr val="3FB9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6053328"/>
            <a:ext cx="10972800" cy="365760"/>
          </a:xfrm>
          <a:prstGeom prst="rect">
            <a:avLst/>
          </a:prstGeom>
          <a:noFill/>
        </p:spPr>
        <p:txBody>
          <a:bodyPr wrap="square" anchor="t">
            <a:spAutoFit/>
          </a:bodyPr>
          <a:lstStyle/>
          <a:p>
            <a:pPr algn="l">
              <a:spcAft>
                <a:spcPts val="400"/>
              </a:spcAft>
            </a:pPr>
            <a:r>
              <a:rPr sz="1350" b="1">
                <a:solidFill>
                  <a:srgbClr val="FFFFFF"/>
                </a:solidFill>
                <a:latin typeface="Calibri"/>
              </a:rPr>
              <a:t>Why it matters: it argued with itself on the record, changed its mind on evidence, and drew a clean line around the innocent business. Every step is in the audit log.</a:t>
            </a:r>
          </a:p>
        </p:txBody>
      </p:sp>
      <p:sp>
        <p:nvSpPr>
          <p:cNvPr id="18" name="TextBox 17"/>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19" name="TextBox 18"/>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Use case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WHY IT SHOULD APPROVE · 1</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Where the data goes</a:t>
            </a:r>
          </a:p>
        </p:txBody>
      </p:sp>
      <p:sp>
        <p:nvSpPr>
          <p:cNvPr id="6" name="TextBox 5"/>
          <p:cNvSpPr txBox="1"/>
          <p:nvPr/>
        </p:nvSpPr>
        <p:spPr>
          <a:xfrm>
            <a:off x="548640" y="1737360"/>
            <a:ext cx="10972800" cy="457200"/>
          </a:xfrm>
          <a:prstGeom prst="rect">
            <a:avLst/>
          </a:prstGeom>
          <a:noFill/>
        </p:spPr>
        <p:txBody>
          <a:bodyPr wrap="square" anchor="t">
            <a:spAutoFit/>
          </a:bodyPr>
          <a:lstStyle/>
          <a:p>
            <a:pPr algn="l">
              <a:spcAft>
                <a:spcPts val="400"/>
              </a:spcAft>
            </a:pPr>
            <a:r>
              <a:rPr sz="1500" b="1">
                <a:solidFill>
                  <a:srgbClr val="D29922"/>
                </a:solidFill>
                <a:latin typeface="Calibri"/>
              </a:rPr>
              <a:t>CONCERN:  data egress / data handling</a:t>
            </a:r>
          </a:p>
        </p:txBody>
      </p:sp>
      <p:sp>
        <p:nvSpPr>
          <p:cNvPr id="7" name="TextBox 6"/>
          <p:cNvSpPr txBox="1"/>
          <p:nvPr/>
        </p:nvSpPr>
        <p:spPr>
          <a:xfrm>
            <a:off x="548640" y="2286000"/>
            <a:ext cx="11064240" cy="3840480"/>
          </a:xfrm>
          <a:prstGeom prst="rect">
            <a:avLst/>
          </a:prstGeom>
          <a:noFill/>
        </p:spPr>
        <p:txBody>
          <a:bodyPr wrap="square">
            <a:spAutoFit/>
          </a:bodyPr>
          <a:lstStyle/>
          <a:p>
            <a:pPr>
              <a:spcAft>
                <a:spcPts val="1100"/>
              </a:spcAft>
            </a:pPr>
            <a:r>
              <a:rPr sz="1600" b="1">
                <a:solidFill>
                  <a:srgbClr val="FFFFFF"/>
                </a:solidFill>
                <a:latin typeface="Calibri"/>
              </a:rPr>
              <a:t>Runs entirely on the local machine.</a:t>
            </a:r>
            <a:r>
              <a:rPr sz="1500" b="0">
                <a:solidFill>
                  <a:srgbClr val="E6EDF3"/>
                </a:solidFill>
                <a:latin typeface="Calibri"/>
              </a:rPr>
              <a:t>  No server, no cloud service, no account required to operate.</a:t>
            </a:r>
          </a:p>
          <a:p>
            <a:pPr>
              <a:spcAft>
                <a:spcPts val="1100"/>
              </a:spcAft>
            </a:pPr>
            <a:r>
              <a:rPr sz="1600" b="1">
                <a:solidFill>
                  <a:srgbClr val="FFFFFF"/>
                </a:solidFill>
                <a:latin typeface="Calibri"/>
              </a:rPr>
              <a:t>External OSINT only — by design and by scope.</a:t>
            </a:r>
            <a:r>
              <a:rPr sz="1500" b="0">
                <a:solidFill>
                  <a:srgbClr val="E6EDF3"/>
                </a:solidFill>
                <a:latin typeface="Calibri"/>
              </a:rPr>
              <a:t>  Never ingests internal/corporate data; internal-data analysis is explicitly out of scope.</a:t>
            </a:r>
          </a:p>
          <a:p>
            <a:pPr>
              <a:spcAft>
                <a:spcPts val="1100"/>
              </a:spcAft>
            </a:pPr>
            <a:r>
              <a:rPr sz="1600" b="1">
                <a:solidFill>
                  <a:srgbClr val="FFFFFF"/>
                </a:solidFill>
                <a:latin typeface="Calibri"/>
              </a:rPr>
              <a:t>What leaves the machine is only the selector,</a:t>
            </a:r>
            <a:r>
              <a:rPr sz="1500" b="0">
                <a:solidFill>
                  <a:srgbClr val="E6EDF3"/>
                </a:solidFill>
                <a:latin typeface="Calibri"/>
              </a:rPr>
              <a:t>  sent to PUBLIC sources (WHOIS/DNS/CT logs, search engines, public APIs) — the same requests an analyst makes in a browser.</a:t>
            </a:r>
          </a:p>
          <a:p>
            <a:pPr>
              <a:spcAft>
                <a:spcPts val="1100"/>
              </a:spcAft>
            </a:pPr>
            <a:r>
              <a:rPr sz="1600" b="1">
                <a:solidFill>
                  <a:srgbClr val="FFFFFF"/>
                </a:solidFill>
                <a:latin typeface="Calibri"/>
              </a:rPr>
              <a:t>Results stay on disk.</a:t>
            </a:r>
            <a:r>
              <a:rPr sz="1500" b="0">
                <a:solidFill>
                  <a:srgbClr val="E6EDF3"/>
                </a:solidFill>
                <a:latin typeface="Calibri"/>
              </a:rPr>
              <a:t>  investigations/ and the .env key file are git-ignored — case data and keys are never committed or pushed.</a:t>
            </a:r>
          </a:p>
          <a:p>
            <a:pPr>
              <a:spcAft>
                <a:spcPts val="1100"/>
              </a:spcAft>
            </a:pPr>
            <a:r>
              <a:rPr sz="1600" b="1">
                <a:solidFill>
                  <a:srgbClr val="FFFFFF"/>
                </a:solidFill>
                <a:latin typeface="Calibri"/>
              </a:rPr>
              <a:t>Passive-first OPSEC.</a:t>
            </a:r>
            <a:r>
              <a:rPr sz="1500" b="0">
                <a:solidFill>
                  <a:srgbClr val="E6EDF3"/>
                </a:solidFill>
                <a:latin typeface="Calibri"/>
              </a:rPr>
              <a:t>  The active line prefers archived (Wayback) copies before any live request; generic user-agent; no crawling; proxy seam for attribution control.</a:t>
            </a:r>
          </a:p>
        </p:txBody>
      </p:sp>
      <p:sp>
        <p:nvSpPr>
          <p:cNvPr id="8" name="Rounded Rectangle 7"/>
          <p:cNvSpPr/>
          <p:nvPr/>
        </p:nvSpPr>
        <p:spPr>
          <a:xfrm>
            <a:off x="548640" y="5989320"/>
            <a:ext cx="11109960" cy="457200"/>
          </a:xfrm>
          <a:prstGeom prst="roundRect">
            <a:avLst/>
          </a:prstGeom>
          <a:solidFill>
            <a:srgbClr val="16324F"/>
          </a:solidFill>
          <a:ln w="19050">
            <a:solidFill>
              <a:srgbClr val="3FB9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53328"/>
            <a:ext cx="10972800" cy="365760"/>
          </a:xfrm>
          <a:prstGeom prst="rect">
            <a:avLst/>
          </a:prstGeom>
          <a:noFill/>
        </p:spPr>
        <p:txBody>
          <a:bodyPr wrap="square" anchor="t">
            <a:spAutoFit/>
          </a:bodyPr>
          <a:lstStyle/>
          <a:p>
            <a:pPr algn="l">
              <a:spcAft>
                <a:spcPts val="400"/>
              </a:spcAft>
            </a:pPr>
            <a:r>
              <a:rPr sz="1350" b="1">
                <a:solidFill>
                  <a:srgbClr val="FFFFFF"/>
                </a:solidFill>
                <a:latin typeface="Calibri"/>
              </a:rPr>
              <a:t>Net: the tool's network behavior is a subset of normal analyst browsing, from the local machine, against public sources only.</a:t>
            </a:r>
          </a:p>
        </p:txBody>
      </p:sp>
      <p:sp>
        <p:nvSpPr>
          <p:cNvPr id="10" name="TextBox 9"/>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11" name="TextBox 10"/>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IT approval · data egress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WHY IT SHOULD APPROVE · 2</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Dependency &amp; tool provenance (supply chain)</a:t>
            </a:r>
          </a:p>
        </p:txBody>
      </p:sp>
      <p:sp>
        <p:nvSpPr>
          <p:cNvPr id="6" name="TextBox 5"/>
          <p:cNvSpPr txBox="1"/>
          <p:nvPr/>
        </p:nvSpPr>
        <p:spPr>
          <a:xfrm>
            <a:off x="548640" y="1783080"/>
            <a:ext cx="11064240" cy="3017520"/>
          </a:xfrm>
          <a:prstGeom prst="rect">
            <a:avLst/>
          </a:prstGeom>
          <a:noFill/>
        </p:spPr>
        <p:txBody>
          <a:bodyPr wrap="square">
            <a:spAutoFit/>
          </a:bodyPr>
          <a:lstStyle/>
          <a:p>
            <a:pPr>
              <a:spcAft>
                <a:spcPts val="900"/>
              </a:spcAft>
            </a:pPr>
            <a:r>
              <a:rPr sz="1550" b="1">
                <a:solidFill>
                  <a:srgbClr val="FFFFFF"/>
                </a:solidFill>
                <a:latin typeface="Calibri"/>
              </a:rPr>
              <a:t>Seven pinned, mainstream open-source packages.</a:t>
            </a:r>
            <a:r>
              <a:rPr sz="1450" b="0">
                <a:solidFill>
                  <a:srgbClr val="E6EDF3"/>
                </a:solidFill>
                <a:latin typeface="Calibri"/>
              </a:rPr>
              <a:t>  The entire core dependency list fits on one slide (requirements.txt). No obscure runtime.</a:t>
            </a:r>
          </a:p>
          <a:p>
            <a:pPr>
              <a:spcAft>
                <a:spcPts val="900"/>
              </a:spcAft>
            </a:pPr>
            <a:r>
              <a:rPr sz="1550" b="1">
                <a:solidFill>
                  <a:srgbClr val="FFFFFF"/>
                </a:solidFill>
                <a:latin typeface="Calibri"/>
              </a:rPr>
              <a:t>Declarative tool registry.</a:t>
            </a:r>
            <a:r>
              <a:rPr sz="1450" b="0">
                <a:solidFill>
                  <a:srgbClr val="E6EDF3"/>
                </a:solidFill>
                <a:latin typeface="Calibri"/>
              </a:rPr>
              <a:t>  Every one of the 58 tools is a small, readable spec (endpoint + parser) — auditable at a glance; no hidden collection.</a:t>
            </a:r>
          </a:p>
          <a:p>
            <a:pPr>
              <a:spcAft>
                <a:spcPts val="900"/>
              </a:spcAft>
            </a:pPr>
            <a:r>
              <a:rPr sz="1550" b="1">
                <a:solidFill>
                  <a:srgbClr val="FFFFFF"/>
                </a:solidFill>
                <a:latin typeface="Calibri"/>
              </a:rPr>
              <a:t>No bespoke scraping allowed.</a:t>
            </a:r>
            <a:r>
              <a:rPr sz="1450" b="0">
                <a:solidFill>
                  <a:srgbClr val="E6EDF3"/>
                </a:solidFill>
                <a:latin typeface="Calibri"/>
              </a:rPr>
              <a:t>  Collection goes only through registered, reviewed tools; the doctrine forbids ad-hoc scripts.</a:t>
            </a:r>
          </a:p>
          <a:p>
            <a:pPr>
              <a:spcAft>
                <a:spcPts val="900"/>
              </a:spcAft>
            </a:pPr>
            <a:r>
              <a:rPr sz="1550" b="1">
                <a:solidFill>
                  <a:srgbClr val="FFFFFF"/>
                </a:solidFill>
                <a:latin typeface="Calibri"/>
              </a:rPr>
              <a:t>Optional extras are opt-in and degrade gracefully.</a:t>
            </a:r>
            <a:r>
              <a:rPr sz="1450" b="0">
                <a:solidFill>
                  <a:srgbClr val="E6EDF3"/>
                </a:solidFill>
                <a:latin typeface="Calibri"/>
              </a:rPr>
              <a:t>  Fully functional with zero keys and zero extra installs.</a:t>
            </a:r>
          </a:p>
          <a:p>
            <a:pPr>
              <a:spcAft>
                <a:spcPts val="900"/>
              </a:spcAft>
            </a:pPr>
            <a:r>
              <a:rPr sz="1550" b="1">
                <a:solidFill>
                  <a:srgbClr val="FFFFFF"/>
                </a:solidFill>
                <a:latin typeface="Calibri"/>
              </a:rPr>
              <a:t>MIT-licensed</a:t>
            </a:r>
            <a:r>
              <a:rPr sz="1450" b="0">
                <a:solidFill>
                  <a:srgbClr val="E6EDF3"/>
                </a:solidFill>
                <a:latin typeface="Calibri"/>
              </a:rPr>
              <a:t> — open for review and download.</a:t>
            </a:r>
          </a:p>
        </p:txBody>
      </p:sp>
      <p:sp>
        <p:nvSpPr>
          <p:cNvPr id="7" name="Rounded Rectangle 6"/>
          <p:cNvSpPr/>
          <p:nvPr/>
        </p:nvSpPr>
        <p:spPr>
          <a:xfrm>
            <a:off x="548640" y="4892040"/>
            <a:ext cx="11109960" cy="1234440"/>
          </a:xfrm>
          <a:prstGeom prst="roundRect">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029200"/>
            <a:ext cx="10789920" cy="365760"/>
          </a:xfrm>
          <a:prstGeom prst="rect">
            <a:avLst/>
          </a:prstGeom>
          <a:noFill/>
        </p:spPr>
        <p:txBody>
          <a:bodyPr wrap="square" anchor="t">
            <a:spAutoFit/>
          </a:bodyPr>
          <a:lstStyle/>
          <a:p>
            <a:pPr algn="l">
              <a:spcAft>
                <a:spcPts val="400"/>
              </a:spcAft>
            </a:pPr>
            <a:r>
              <a:rPr sz="1300" b="1">
                <a:solidFill>
                  <a:srgbClr val="58A6FF"/>
                </a:solidFill>
                <a:latin typeface="Calibri"/>
              </a:rPr>
              <a:t>BUILT-IN SAFETY GOVERNANCE (bonus)</a:t>
            </a:r>
          </a:p>
        </p:txBody>
      </p:sp>
      <p:sp>
        <p:nvSpPr>
          <p:cNvPr id="9" name="TextBox 8"/>
          <p:cNvSpPr txBox="1"/>
          <p:nvPr/>
        </p:nvSpPr>
        <p:spPr>
          <a:xfrm>
            <a:off x="777240" y="5394960"/>
            <a:ext cx="10789920" cy="731520"/>
          </a:xfrm>
          <a:prstGeom prst="rect">
            <a:avLst/>
          </a:prstGeom>
          <a:noFill/>
        </p:spPr>
        <p:txBody>
          <a:bodyPr wrap="square" anchor="t">
            <a:spAutoFit/>
          </a:bodyPr>
          <a:lstStyle/>
          <a:p>
            <a:pPr algn="l">
              <a:spcAft>
                <a:spcPts val="400"/>
              </a:spcAft>
            </a:pPr>
            <a:r>
              <a:rPr sz="1400" b="0">
                <a:solidFill>
                  <a:srgbClr val="E6EDF3"/>
                </a:solidFill>
                <a:latin typeface="Calibri"/>
              </a:rPr>
              <a:t>A health gate (health_check.py) + 3 regression suites gate every change · a capability-lock defines what must never regress · a separate System Manager role maintains it conservatively.</a:t>
            </a:r>
          </a:p>
        </p:txBody>
      </p:sp>
      <p:sp>
        <p:nvSpPr>
          <p:cNvPr id="10" name="TextBox 9"/>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11" name="TextBox 10"/>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IT approval · provenance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9728"/>
          </a:xfrm>
          <a:prstGeom prst="round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972800" cy="365760"/>
          </a:xfrm>
          <a:prstGeom prst="rect">
            <a:avLst/>
          </a:prstGeom>
          <a:noFill/>
        </p:spPr>
        <p:txBody>
          <a:bodyPr wrap="square" anchor="t">
            <a:spAutoFit/>
          </a:bodyPr>
          <a:lstStyle/>
          <a:p>
            <a:pPr algn="l">
              <a:spcAft>
                <a:spcPts val="400"/>
              </a:spcAft>
            </a:pPr>
            <a:r>
              <a:rPr sz="1300" b="1">
                <a:solidFill>
                  <a:srgbClr val="58A6FF"/>
                </a:solidFill>
                <a:latin typeface="Calibri"/>
              </a:rPr>
              <a:t>CLOSE</a:t>
            </a:r>
          </a:p>
        </p:txBody>
      </p:sp>
      <p:sp>
        <p:nvSpPr>
          <p:cNvPr id="5" name="TextBox 4"/>
          <p:cNvSpPr txBox="1"/>
          <p:nvPr/>
        </p:nvSpPr>
        <p:spPr>
          <a:xfrm>
            <a:off x="548640" y="658368"/>
            <a:ext cx="11064240" cy="914400"/>
          </a:xfrm>
          <a:prstGeom prst="rect">
            <a:avLst/>
          </a:prstGeom>
          <a:noFill/>
        </p:spPr>
        <p:txBody>
          <a:bodyPr wrap="square" anchor="t">
            <a:spAutoFit/>
          </a:bodyPr>
          <a:lstStyle/>
          <a:p>
            <a:pPr algn="l">
              <a:spcAft>
                <a:spcPts val="400"/>
              </a:spcAft>
            </a:pPr>
            <a:r>
              <a:rPr sz="3000" b="1">
                <a:solidFill>
                  <a:srgbClr val="FFFFFF"/>
                </a:solidFill>
                <a:latin typeface="Calibri"/>
              </a:rPr>
              <a:t>Ready, open, and built to be trusted</a:t>
            </a:r>
          </a:p>
        </p:txBody>
      </p:sp>
      <p:sp>
        <p:nvSpPr>
          <p:cNvPr id="6" name="TextBox 5"/>
          <p:cNvSpPr txBox="1"/>
          <p:nvPr/>
        </p:nvSpPr>
        <p:spPr>
          <a:xfrm>
            <a:off x="548640" y="1783080"/>
            <a:ext cx="10972800" cy="365760"/>
          </a:xfrm>
          <a:prstGeom prst="rect">
            <a:avLst/>
          </a:prstGeom>
          <a:noFill/>
        </p:spPr>
        <p:txBody>
          <a:bodyPr wrap="square" anchor="t">
            <a:spAutoFit/>
          </a:bodyPr>
          <a:lstStyle/>
          <a:p>
            <a:pPr algn="l">
              <a:spcAft>
                <a:spcPts val="400"/>
              </a:spcAft>
            </a:pPr>
            <a:r>
              <a:rPr sz="1300" b="1">
                <a:solidFill>
                  <a:srgbClr val="3FB950"/>
                </a:solidFill>
                <a:latin typeface="Calibri"/>
              </a:rPr>
              <a:t>WHAT THIS GIVES THE TEAM</a:t>
            </a:r>
          </a:p>
        </p:txBody>
      </p:sp>
      <p:sp>
        <p:nvSpPr>
          <p:cNvPr id="7" name="TextBox 6"/>
          <p:cNvSpPr txBox="1"/>
          <p:nvPr/>
        </p:nvSpPr>
        <p:spPr>
          <a:xfrm>
            <a:off x="548640" y="2148840"/>
            <a:ext cx="11064240" cy="1645920"/>
          </a:xfrm>
          <a:prstGeom prst="rect">
            <a:avLst/>
          </a:prstGeom>
          <a:noFill/>
        </p:spPr>
        <p:txBody>
          <a:bodyPr wrap="square">
            <a:spAutoFit/>
          </a:bodyPr>
          <a:lstStyle/>
          <a:p>
            <a:pPr>
              <a:spcAft>
                <a:spcPts val="800"/>
              </a:spcAft>
            </a:pPr>
            <a:r>
              <a:rPr sz="1550" b="0">
                <a:solidFill>
                  <a:srgbClr val="E6EDF3"/>
                </a:solidFill>
                <a:latin typeface="Calibri"/>
              </a:rPr>
              <a:t>•  An analyst force-multiplier: seed → cited, confidence-tiered graph + report, automatically, with a full audit trail</a:t>
            </a:r>
          </a:p>
          <a:p>
            <a:pPr>
              <a:spcAft>
                <a:spcPts val="800"/>
              </a:spcAft>
            </a:pPr>
            <a:r>
              <a:rPr sz="1550" b="0">
                <a:solidFill>
                  <a:srgbClr val="E6EDF3"/>
                </a:solidFill>
                <a:latin typeface="Calibri"/>
              </a:rPr>
              <a:t>•  Proven on a real ticket-fraud network — mapped, attributed, and self-corrected without over-claiming</a:t>
            </a:r>
          </a:p>
          <a:p>
            <a:pPr>
              <a:spcAft>
                <a:spcPts val="800"/>
              </a:spcAft>
            </a:pPr>
            <a:r>
              <a:rPr sz="1550" b="0">
                <a:solidFill>
                  <a:srgbClr val="E6EDF3"/>
                </a:solidFill>
                <a:latin typeface="Calibri"/>
              </a:rPr>
              <a:t>•  Safe by construction: local · external-only · auditable · honest about limits</a:t>
            </a:r>
          </a:p>
        </p:txBody>
      </p:sp>
      <p:sp>
        <p:nvSpPr>
          <p:cNvPr id="8" name="Rounded Rectangle 7"/>
          <p:cNvSpPr/>
          <p:nvPr/>
        </p:nvSpPr>
        <p:spPr>
          <a:xfrm>
            <a:off x="548640" y="3977639"/>
            <a:ext cx="11109960" cy="1371600"/>
          </a:xfrm>
          <a:prstGeom prst="roundRect">
            <a:avLst/>
          </a:prstGeom>
          <a:solidFill>
            <a:srgbClr val="16324F"/>
          </a:solidFill>
          <a:ln w="19050">
            <a:solidFill>
              <a:srgbClr val="58A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114800"/>
            <a:ext cx="10789920" cy="1188720"/>
          </a:xfrm>
          <a:prstGeom prst="rect">
            <a:avLst/>
          </a:prstGeom>
          <a:noFill/>
        </p:spPr>
        <p:txBody>
          <a:bodyPr wrap="square" anchor="t">
            <a:spAutoFit/>
          </a:bodyPr>
          <a:lstStyle/>
          <a:p>
            <a:pPr algn="l">
              <a:spcAft>
                <a:spcPts val="500"/>
              </a:spcAft>
            </a:pPr>
            <a:r>
              <a:rPr sz="1300" b="1">
                <a:solidFill>
                  <a:srgbClr val="58A6FF"/>
                </a:solidFill>
                <a:latin typeface="Calibri"/>
              </a:rPr>
              <a:t>AVAILABLE NOW</a:t>
            </a:r>
          </a:p>
          <a:p>
            <a:pPr algn="l">
              <a:spcAft>
                <a:spcPts val="500"/>
              </a:spcAft>
            </a:pPr>
            <a:r>
              <a:rPr sz="1500" b="0">
                <a:solidFill>
                  <a:srgbClr val="E6EDF3"/>
                </a:solidFill>
                <a:latin typeface="Calibri"/>
              </a:rPr>
              <a:t>Open-source (MIT):  github.com/cis379/osint-investigator-v3  (public)</a:t>
            </a:r>
          </a:p>
          <a:p>
            <a:pPr algn="l">
              <a:spcAft>
                <a:spcPts val="500"/>
              </a:spcAft>
            </a:pPr>
            <a:r>
              <a:rPr sz="1450" b="0">
                <a:solidFill>
                  <a:srgbClr val="E6EDF3"/>
                </a:solidFill>
                <a:latin typeface="Calibri"/>
              </a:rPr>
              <a:t>One command to stand up (./bootstrap.sh), health-gated, Mac / Linux / Windows · drive it with Claude Code or Codex</a:t>
            </a:r>
          </a:p>
        </p:txBody>
      </p:sp>
      <p:sp>
        <p:nvSpPr>
          <p:cNvPr id="10" name="TextBox 9"/>
          <p:cNvSpPr txBox="1"/>
          <p:nvPr/>
        </p:nvSpPr>
        <p:spPr>
          <a:xfrm>
            <a:off x="548640" y="5577840"/>
            <a:ext cx="10972800" cy="640080"/>
          </a:xfrm>
          <a:prstGeom prst="rect">
            <a:avLst/>
          </a:prstGeom>
          <a:noFill/>
        </p:spPr>
        <p:txBody>
          <a:bodyPr wrap="square" anchor="t">
            <a:spAutoFit/>
          </a:bodyPr>
          <a:lstStyle/>
          <a:p>
            <a:pPr algn="l">
              <a:spcAft>
                <a:spcPts val="400"/>
              </a:spcAft>
            </a:pPr>
            <a:r>
              <a:rPr sz="1800" b="1">
                <a:solidFill>
                  <a:srgbClr val="D29922"/>
                </a:solidFill>
                <a:latin typeface="Calibri"/>
              </a:rPr>
              <a:t>THE ASK:  </a:t>
            </a:r>
            <a:r>
              <a:rPr sz="1800" b="1">
                <a:solidFill>
                  <a:srgbClr val="FFFFFF"/>
                </a:solidFill>
                <a:latin typeface="Calibri"/>
              </a:rPr>
              <a:t>approval to run it locally, external-OSINT only, as an analyst tool.</a:t>
            </a:r>
          </a:p>
        </p:txBody>
      </p:sp>
      <p:sp>
        <p:nvSpPr>
          <p:cNvPr id="11" name="TextBox 10"/>
          <p:cNvSpPr txBox="1"/>
          <p:nvPr/>
        </p:nvSpPr>
        <p:spPr>
          <a:xfrm>
            <a:off x="548640" y="6428232"/>
            <a:ext cx="7315200" cy="320040"/>
          </a:xfrm>
          <a:prstGeom prst="rect">
            <a:avLst/>
          </a:prstGeom>
          <a:noFill/>
        </p:spPr>
        <p:txBody>
          <a:bodyPr wrap="square" anchor="t">
            <a:spAutoFit/>
          </a:bodyPr>
          <a:lstStyle/>
          <a:p>
            <a:pPr algn="l">
              <a:spcAft>
                <a:spcPts val="400"/>
              </a:spcAft>
            </a:pPr>
            <a:r>
              <a:rPr sz="1000" b="0">
                <a:solidFill>
                  <a:srgbClr val="9FB0C3"/>
                </a:solidFill>
                <a:latin typeface="Calibri"/>
              </a:rPr>
              <a:t>OSINT Investigator  ·  external-OSINT only  ·  runs locally</a:t>
            </a:r>
          </a:p>
        </p:txBody>
      </p:sp>
      <p:sp>
        <p:nvSpPr>
          <p:cNvPr id="12" name="TextBox 11"/>
          <p:cNvSpPr txBox="1"/>
          <p:nvPr/>
        </p:nvSpPr>
        <p:spPr>
          <a:xfrm>
            <a:off x="8229600" y="6428232"/>
            <a:ext cx="3383280" cy="320040"/>
          </a:xfrm>
          <a:prstGeom prst="rect">
            <a:avLst/>
          </a:prstGeom>
          <a:noFill/>
        </p:spPr>
        <p:txBody>
          <a:bodyPr wrap="square" anchor="t">
            <a:spAutoFit/>
          </a:bodyPr>
          <a:lstStyle/>
          <a:p>
            <a:pPr algn="r">
              <a:spcAft>
                <a:spcPts val="400"/>
              </a:spcAft>
            </a:pPr>
            <a:r>
              <a:rPr sz="1000" b="0">
                <a:solidFill>
                  <a:srgbClr val="9FB0C3"/>
                </a:solidFill>
                <a:latin typeface="Calibri"/>
              </a:rPr>
              <a:t>Close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